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5"/>
  </p:notesMasterIdLst>
  <p:sldIdLst>
    <p:sldId id="2146850459" r:id="rId2"/>
    <p:sldId id="2146850465" r:id="rId3"/>
    <p:sldId id="2146850466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18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4" orient="horz" pos="346" userDrawn="1">
          <p15:clr>
            <a:srgbClr val="A4A3A4"/>
          </p15:clr>
        </p15:guide>
        <p15:guide id="5" orient="horz" pos="686" userDrawn="1">
          <p15:clr>
            <a:srgbClr val="A4A3A4"/>
          </p15:clr>
        </p15:guide>
        <p15:guide id="6" orient="horz" pos="3045" userDrawn="1">
          <p15:clr>
            <a:srgbClr val="A4A3A4"/>
          </p15:clr>
        </p15:guide>
        <p15:guide id="7" orient="horz" pos="2296" userDrawn="1">
          <p15:clr>
            <a:srgbClr val="A4A3A4"/>
          </p15:clr>
        </p15:guide>
        <p15:guide id="8" pos="5556" userDrawn="1">
          <p15:clr>
            <a:srgbClr val="A4A3A4"/>
          </p15:clr>
        </p15:guide>
        <p15:guide id="10" pos="1610" userDrawn="1">
          <p15:clr>
            <a:srgbClr val="A4A3A4"/>
          </p15:clr>
        </p15:guide>
        <p15:guide id="11" pos="2835" userDrawn="1">
          <p15:clr>
            <a:srgbClr val="A4A3A4"/>
          </p15:clr>
        </p15:guide>
        <p15:guide id="12" orient="horz" pos="3974" userDrawn="1">
          <p15:clr>
            <a:srgbClr val="A4A3A4"/>
          </p15:clr>
        </p15:guide>
        <p15:guide id="13" orient="horz" pos="913" userDrawn="1">
          <p15:clr>
            <a:srgbClr val="A4A3A4"/>
          </p15:clr>
        </p15:guide>
        <p15:guide id="14" pos="2971" userDrawn="1">
          <p15:clr>
            <a:srgbClr val="A4A3A4"/>
          </p15:clr>
        </p15:guide>
        <p15:guide id="15" pos="4195" userDrawn="1">
          <p15:clr>
            <a:srgbClr val="A4A3A4"/>
          </p15:clr>
        </p15:guide>
        <p15:guide id="16" pos="4309" userDrawn="1">
          <p15:clr>
            <a:srgbClr val="A4A3A4"/>
          </p15:clr>
        </p15:guide>
        <p15:guide id="17" pos="1474" userDrawn="1">
          <p15:clr>
            <a:srgbClr val="A4A3A4"/>
          </p15:clr>
        </p15:guide>
        <p15:guide id="18" pos="2018" userDrawn="1">
          <p15:clr>
            <a:srgbClr val="A4A3A4"/>
          </p15:clr>
        </p15:guide>
        <p15:guide id="19" pos="3765" userDrawn="1">
          <p15:clr>
            <a:srgbClr val="A4A3A4"/>
          </p15:clr>
        </p15:guide>
        <p15:guide id="20" pos="4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onzalo Echevarria" initials="GE" lastIdx="6" clrIdx="0">
    <p:extLst>
      <p:ext uri="{19B8F6BF-5375-455C-9EA6-DF929625EA0E}">
        <p15:presenceInfo xmlns:p15="http://schemas.microsoft.com/office/powerpoint/2012/main" userId="Gonzalo Echevarr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B42"/>
    <a:srgbClr val="FFF2C9"/>
    <a:srgbClr val="F2B800"/>
    <a:srgbClr val="00C535"/>
    <a:srgbClr val="007882"/>
    <a:srgbClr val="CBDD00"/>
    <a:srgbClr val="03CB35"/>
    <a:srgbClr val="3B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77"/>
      </p:cViewPr>
      <p:guideLst>
        <p:guide orient="horz" pos="2818"/>
        <p:guide pos="249"/>
        <p:guide orient="horz" pos="346"/>
        <p:guide orient="horz" pos="686"/>
        <p:guide orient="horz" pos="3045"/>
        <p:guide orient="horz" pos="2296"/>
        <p:guide pos="5556"/>
        <p:guide pos="1610"/>
        <p:guide pos="2835"/>
        <p:guide orient="horz" pos="3974"/>
        <p:guide orient="horz" pos="913"/>
        <p:guide pos="2971"/>
        <p:guide pos="4195"/>
        <p:guide pos="4309"/>
        <p:guide pos="1474"/>
        <p:guide pos="2018"/>
        <p:guide pos="3765"/>
        <p:guide pos="4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Saenz santamaria" userId="85ea1d10-4962-420f-b427-49382bf58180" providerId="ADAL" clId="{CDDDE9EE-4A04-4A55-8E3D-F87117B2AFEC}"/>
    <pc:docChg chg="custSel modSld">
      <pc:chgData name="William Saenz santamaria" userId="85ea1d10-4962-420f-b427-49382bf58180" providerId="ADAL" clId="{CDDDE9EE-4A04-4A55-8E3D-F87117B2AFEC}" dt="2026-10-09T01:30:37.891" v="3" actId="478"/>
      <pc:docMkLst>
        <pc:docMk/>
      </pc:docMkLst>
      <pc:sldChg chg="delSp mod">
        <pc:chgData name="William Saenz santamaria" userId="85ea1d10-4962-420f-b427-49382bf58180" providerId="ADAL" clId="{CDDDE9EE-4A04-4A55-8E3D-F87117B2AFEC}" dt="2026-10-09T01:30:37.891" v="3" actId="478"/>
        <pc:sldMkLst>
          <pc:docMk/>
          <pc:sldMk cId="2631015578" sldId="2146850459"/>
        </pc:sldMkLst>
        <pc:spChg chg="del">
          <ac:chgData name="William Saenz santamaria" userId="85ea1d10-4962-420f-b427-49382bf58180" providerId="ADAL" clId="{CDDDE9EE-4A04-4A55-8E3D-F87117B2AFEC}" dt="2026-10-09T01:30:27.196" v="0" actId="478"/>
          <ac:spMkLst>
            <pc:docMk/>
            <pc:sldMk cId="2631015578" sldId="2146850459"/>
            <ac:spMk id="45" creationId="{00000000-0000-0000-0000-000000000000}"/>
          </ac:spMkLst>
        </pc:spChg>
        <pc:spChg chg="del">
          <ac:chgData name="William Saenz santamaria" userId="85ea1d10-4962-420f-b427-49382bf58180" providerId="ADAL" clId="{CDDDE9EE-4A04-4A55-8E3D-F87117B2AFEC}" dt="2026-10-09T01:30:32.082" v="1" actId="478"/>
          <ac:spMkLst>
            <pc:docMk/>
            <pc:sldMk cId="2631015578" sldId="2146850459"/>
            <ac:spMk id="49" creationId="{00000000-0000-0000-0000-000000000000}"/>
          </ac:spMkLst>
        </pc:spChg>
        <pc:spChg chg="del">
          <ac:chgData name="William Saenz santamaria" userId="85ea1d10-4962-420f-b427-49382bf58180" providerId="ADAL" clId="{CDDDE9EE-4A04-4A55-8E3D-F87117B2AFEC}" dt="2026-10-09T01:30:35.884" v="2" actId="478"/>
          <ac:spMkLst>
            <pc:docMk/>
            <pc:sldMk cId="2631015578" sldId="2146850459"/>
            <ac:spMk id="57" creationId="{00000000-0000-0000-0000-000000000000}"/>
          </ac:spMkLst>
        </pc:spChg>
        <pc:spChg chg="del">
          <ac:chgData name="William Saenz santamaria" userId="85ea1d10-4962-420f-b427-49382bf58180" providerId="ADAL" clId="{CDDDE9EE-4A04-4A55-8E3D-F87117B2AFEC}" dt="2026-10-09T01:30:37.891" v="3" actId="478"/>
          <ac:spMkLst>
            <pc:docMk/>
            <pc:sldMk cId="2631015578" sldId="2146850459"/>
            <ac:spMk id="6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 (left axis)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August · 0 cases</c:v>
                </c:pt>
                <c:pt idx="1">
                  <c:v>September · 0 cases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881-4235-B3D3-34ED69E07A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Frequency (right axis)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0.00" sourceLinked="0"/>
            <c:spPr>
              <a:noFill/>
            </c:spPr>
            <c:txPr>
              <a:bodyPr/>
              <a:lstStyle/>
              <a:p>
                <a:pPr>
                  <a:defRPr sz="8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August · 0 cases</c:v>
                </c:pt>
                <c:pt idx="1">
                  <c:v>September · 0 cases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81-4235-B3D3-34ED69E07A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(right axis)</c:v>
                </c:pt>
              </c:strCache>
            </c:strRef>
          </c:tx>
          <c:spPr>
            <a:ln w="19050">
              <a:solidFill>
                <a:srgbClr val="C62828"/>
              </a:solidFill>
              <a:prstDash val="dash"/>
            </a:ln>
          </c:spPr>
          <c:marker>
            <c:symbol val="none"/>
          </c:marker>
          <c:dLbls>
            <c:dLbl>
              <c:idx val="1"/>
              <c:numFmt formatCode="0.00" sourceLinked="0"/>
              <c:spPr>
                <a:noFill/>
              </c:spPr>
              <c:txPr>
                <a:bodyPr/>
                <a:lstStyle/>
                <a:p>
                  <a:pPr>
                    <a:defRPr sz="900" b="1">
                      <a:solidFill>
                        <a:srgbClr val="C62828"/>
                      </a:solidFill>
                    </a:defRPr>
                  </a:pPr>
                  <a:endParaRPr lang="es-A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881-4235-B3D3-34ED69E07A3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August · 0 cases</c:v>
                </c:pt>
                <c:pt idx="1">
                  <c:v>September · 0 cases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2.35</c:v>
                </c:pt>
                <c:pt idx="1">
                  <c:v>2.35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881-4235-B3D3-34ED69E07A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010"/>
        <c:axId val="5002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s-AR" sz="700" b="0">
                    <a:latin typeface="Aptos"/>
                  </a:rPr>
                  <a:t>Cases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  <a:endParaRPr lang="es-AR"/>
          </a:p>
        </c:txPr>
        <c:crossAx val="-2068027336"/>
        <c:crosses val="autoZero"/>
        <c:crossBetween val="between"/>
        <c:majorUnit val="1"/>
      </c:valAx>
      <c:catAx>
        <c:axId val="5001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3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700" b="0"/>
                </a:pPr>
                <a:r>
                  <a:rPr lang="en-US" sz="700" b="0"/>
                  <a:t>Frequency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  <a:endParaRPr lang="es-AR"/>
          </a:p>
        </c:txPr>
        <c:crossAx val="50010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Aptos"/>
            </a:defRPr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 (left axis)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August · 0 cases</c:v>
                </c:pt>
                <c:pt idx="1">
                  <c:v>September · 0 cases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22A-444A-B758-3C4FC642B0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Frequency (right axis)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0.00" sourceLinked="0"/>
            <c:spPr>
              <a:noFill/>
            </c:spPr>
            <c:txPr>
              <a:bodyPr/>
              <a:lstStyle/>
              <a:p>
                <a:pPr>
                  <a:defRPr sz="8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August · 0 cases</c:v>
                </c:pt>
                <c:pt idx="1">
                  <c:v>September · 0 cases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2A-444A-B758-3C4FC642B0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(right axis)</c:v>
                </c:pt>
              </c:strCache>
            </c:strRef>
          </c:tx>
          <c:spPr>
            <a:ln w="19050">
              <a:solidFill>
                <a:srgbClr val="C62828"/>
              </a:solidFill>
              <a:prstDash val="dash"/>
            </a:ln>
          </c:spPr>
          <c:marker>
            <c:symbol val="none"/>
          </c:marker>
          <c:dLbls>
            <c:dLbl>
              <c:idx val="1"/>
              <c:numFmt formatCode="0.00" sourceLinked="0"/>
              <c:spPr>
                <a:noFill/>
              </c:spPr>
              <c:txPr>
                <a:bodyPr/>
                <a:lstStyle/>
                <a:p>
                  <a:pPr>
                    <a:defRPr sz="900" b="1">
                      <a:solidFill>
                        <a:srgbClr val="C62828"/>
                      </a:solidFill>
                    </a:defRPr>
                  </a:pPr>
                  <a:endParaRPr lang="es-A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22A-444A-B758-3C4FC642B0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August · 0 cases</c:v>
                </c:pt>
                <c:pt idx="1">
                  <c:v>September · 0 cases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0.79</c:v>
                </c:pt>
                <c:pt idx="1">
                  <c:v>0.79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22A-444A-B758-3C4FC642B0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010"/>
        <c:axId val="5002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s-AR" sz="700" b="0">
                    <a:latin typeface="Aptos"/>
                  </a:rPr>
                  <a:t>Cases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  <a:endParaRPr lang="es-AR"/>
          </a:p>
        </c:txPr>
        <c:crossAx val="-2068027336"/>
        <c:crosses val="autoZero"/>
        <c:crossBetween val="between"/>
        <c:majorUnit val="1"/>
      </c:valAx>
      <c:catAx>
        <c:axId val="5001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700" b="0"/>
                </a:pPr>
                <a:r>
                  <a:rPr lang="en-US" sz="700" b="0"/>
                  <a:t>Frequency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  <a:endParaRPr lang="es-AR"/>
          </a:p>
        </c:txPr>
        <c:crossAx val="50010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Aptos"/>
            </a:defRPr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 · total 2</c:v>
                </c:pt>
                <c:pt idx="1">
                  <c:v>Sep · total 7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37C-49EA-ADAD-DB0F78396F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 · total 2</c:v>
                </c:pt>
                <c:pt idx="1">
                  <c:v>Sep · total 7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37C-49EA-ADAD-DB0F78396F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 · total 2</c:v>
                </c:pt>
                <c:pt idx="1">
                  <c:v>Sep · total 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47C-482B-A689-0E0DDB7896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 · total 2</c:v>
                </c:pt>
                <c:pt idx="1">
                  <c:v>Sep · total 4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47C-482B-A689-0E0DDB7896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 · total 2</c:v>
                </c:pt>
                <c:pt idx="1">
                  <c:v>Sep · total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A4A-4BB4-BBDC-0DE67022C7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 · total 2</c:v>
                </c:pt>
                <c:pt idx="1">
                  <c:v>Sep · total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A4A-4BB4-BBDC-0DE67022C7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 · total 167</c:v>
                </c:pt>
                <c:pt idx="1">
                  <c:v>Sep · total 295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167</c:v>
                </c:pt>
                <c:pt idx="1">
                  <c:v>295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7BB-4B5B-B157-69F14CFF9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 · total 167</c:v>
                </c:pt>
                <c:pt idx="1">
                  <c:v>Sep · total 295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167</c:v>
                </c:pt>
                <c:pt idx="1">
                  <c:v>462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7BB-4B5B-B157-69F14CFF9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</c:v>
                </c:pt>
              </c:strCache>
            </c:strRef>
          </c:tx>
          <c:spPr>
            <a:solidFill>
              <a:srgbClr val="013EF5"/>
            </a:solidFill>
          </c:spPr>
          <c:invertIfNegative val="1"/>
          <c:dLbls>
            <c:numFmt formatCode="#,##0;\-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 · total 1,853</c:v>
                </c:pt>
                <c:pt idx="1">
                  <c:v>Sep · total 1,796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1853</c:v>
                </c:pt>
                <c:pt idx="1">
                  <c:v>1796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9D-42B5-8731-927E6B5A76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 w="28575"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E7D32"/>
                    </a:solidFill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 · total 1,853</c:v>
                </c:pt>
                <c:pt idx="1">
                  <c:v>Sep · total 1,796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1853</c:v>
                </c:pt>
                <c:pt idx="1">
                  <c:v>3649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79D-42B5-8731-927E6B5A76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s-AR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50"/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27EAB-02EC-DF49-A3ED-D6B7405E2758}" type="datetimeFigureOut">
              <a:rPr lang="es-AR" smtClean="0"/>
              <a:t>8/10/2026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5ED3D-3D81-8B44-9A44-D30D8C104DB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7186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8/10/2026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311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8/10/2026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0355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8/10/2026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498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8/10/2026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540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8/10/2026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547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8/10/2026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82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8/10/2026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92789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8/10/2026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3814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8/10/2026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647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8/10/2026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977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DCE62-483B-394E-B72D-EEF7967B97F0}" type="datetimeFigureOut">
              <a:rPr lang="es-AR" smtClean="0"/>
              <a:t>8/10/2026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753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812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DCE62-483B-394E-B72D-EEF7967B97F0}" type="datetimeFigureOut">
              <a:rPr lang="es-AR" smtClean="0"/>
              <a:t>8/10/2026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75163-B7E5-054B-94F5-D3F78F046D59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7FA7EFE-ABE8-8071-58D5-C1EB97FE412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7700963" y="63500"/>
            <a:ext cx="14049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Documento: YPF-Público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D78FC25-834C-D70C-66B2-ED7EE9FAED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700963" y="6642100"/>
            <a:ext cx="14049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Documento: YPF-Público</a:t>
            </a:r>
          </a:p>
        </p:txBody>
      </p:sp>
    </p:spTree>
    <p:extLst>
      <p:ext uri="{BB962C8B-B14F-4D97-AF65-F5344CB8AC3E}">
        <p14:creationId xmlns:p14="http://schemas.microsoft.com/office/powerpoint/2010/main" val="33181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chart" Target="../charts/chart7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A2A94-4AF8-E069-01EC-0927AAA20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23 Marcador de número de diapositiva">
            <a:extLst>
              <a:ext uri="{FF2B5EF4-FFF2-40B4-BE49-F238E27FC236}">
                <a16:creationId xmlns:a16="http://schemas.microsoft.com/office/drawing/2014/main" id="{7D419937-A825-A35F-4EEC-C643E37A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69076"/>
            <a:ext cx="2133600" cy="300320"/>
          </a:xfrm>
        </p:spPr>
        <p:txBody>
          <a:bodyPr/>
          <a:lstStyle/>
          <a:p>
            <a:pPr algn="r"/>
            <a:fld id="{9ABEEF21-8102-43F1-A27A-83D33B4E2AA1}" type="slidenum">
              <a:rPr lang="en-US" noProof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/>
              <a:t>1</a:t>
            </a:fld>
            <a:endParaRPr lang="en-US" noProof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9A3006D-D685-C9F5-5C71-AE6A0C0C771B}"/>
              </a:ext>
            </a:extLst>
          </p:cNvPr>
          <p:cNvSpPr/>
          <p:nvPr/>
        </p:nvSpPr>
        <p:spPr>
          <a:xfrm>
            <a:off x="0" y="0"/>
            <a:ext cx="9144000" cy="706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Imagen 10" descr="San Matías Pipeline logo">
            <a:extLst>
              <a:ext uri="{FF2B5EF4-FFF2-40B4-BE49-F238E27FC236}">
                <a16:creationId xmlns:a16="http://schemas.microsoft.com/office/drawing/2014/main" id="{9E34F6F5-8EC7-17F3-C2B6-5AD91433E3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E68AC9D-E0DA-D575-84A8-0CC4BBD721BE}"/>
              </a:ext>
            </a:extLst>
          </p:cNvPr>
          <p:cNvSpPr txBox="1"/>
          <p:nvPr/>
        </p:nvSpPr>
        <p:spPr>
          <a:xfrm>
            <a:off x="7981453" y="321314"/>
            <a:ext cx="11514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C9DFF4D-4F5A-87BE-6140-A258B216D1B0}"/>
              </a:ext>
            </a:extLst>
          </p:cNvPr>
          <p:cNvSpPr txBox="1">
            <a:spLocks/>
          </p:cNvSpPr>
          <p:nvPr/>
        </p:nvSpPr>
        <p:spPr>
          <a:xfrm>
            <a:off x="179509" y="110000"/>
            <a:ext cx="7364291" cy="5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noProof="0" dirty="0">
                <a:solidFill>
                  <a:srgbClr val="013EF5"/>
                </a:solidFill>
                <a:latin typeface="Aptos" panose="020B0004020202020204" pitchFamily="34" charset="0"/>
              </a:rPr>
              <a:t>1.3</a:t>
            </a:r>
            <a:r>
              <a:rPr lang="en-US" sz="1500" b="1" spc="100" noProof="0" dirty="0">
                <a:solidFill>
                  <a:srgbClr val="013EF5"/>
                </a:solidFill>
                <a:latin typeface="Aptos" panose="020B0004020202020204" pitchFamily="34" charset="0"/>
              </a:rPr>
              <a:t> &gt; DEDICATED GAS PIPELINE UPDATE </a:t>
            </a:r>
            <a:r>
              <a:rPr lang="en-US" sz="1500" spc="1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&gt; Safety Indicators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749808"/>
            <a:ext cx="859536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900" b="0" i="0">
                <a:solidFill>
                  <a:srgbClr val="6B7280"/>
                </a:solidFill>
                <a:latin typeface="Aptos"/>
              </a:rPr>
              <a:t>September 2026 · consolidated Compressor Plant (CP) +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987552"/>
            <a:ext cx="164592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987552"/>
            <a:ext cx="54864" cy="868680"/>
          </a:xfrm>
          <a:prstGeom prst="rect">
            <a:avLst/>
          </a:prstGeom>
          <a:solidFill>
            <a:srgbClr val="01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005840"/>
            <a:ext cx="153619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800" b="1" i="0">
                <a:solidFill>
                  <a:srgbClr val="6B7280"/>
                </a:solidFill>
                <a:latin typeface="Aptos"/>
              </a:rPr>
              <a:t>TRICF Frequency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188720"/>
            <a:ext cx="153619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2000" b="1" i="0">
                <a:solidFill>
                  <a:srgbClr val="013EF5"/>
                </a:solidFill>
                <a:latin typeface="Aptos"/>
              </a:rPr>
              <a:t>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536192"/>
            <a:ext cx="153619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750" b="0" i="0">
                <a:solidFill>
                  <a:srgbClr val="6B7280"/>
                </a:solidFill>
                <a:latin typeface="Aptos"/>
              </a:rPr>
              <a:t>Cum. Aug–Sep · target 2.35</a:t>
            </a:r>
            <a:br>
              <a:rPr lang="en-US" sz="750" b="0" i="0">
                <a:solidFill>
                  <a:srgbClr val="6B7280"/>
                </a:solidFill>
                <a:latin typeface="Aptos"/>
              </a:rPr>
            </a:br>
            <a:r>
              <a:rPr lang="en-US" sz="750" b="0" i="0">
                <a:solidFill>
                  <a:srgbClr val="6B7280"/>
                </a:solidFill>
                <a:latin typeface="Aptos"/>
              </a:rPr>
              <a:t>Within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987552"/>
            <a:ext cx="164592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011680" y="987552"/>
            <a:ext cx="54864" cy="868680"/>
          </a:xfrm>
          <a:prstGeom prst="rect">
            <a:avLst/>
          </a:prstGeom>
          <a:solidFill>
            <a:srgbClr val="01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03120" y="1005840"/>
            <a:ext cx="153619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800" b="1" i="0">
                <a:solidFill>
                  <a:srgbClr val="6B7280"/>
                </a:solidFill>
                <a:latin typeface="Aptos"/>
              </a:rPr>
              <a:t>TVCR 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1188720"/>
            <a:ext cx="153619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2000" b="1" i="0">
                <a:solidFill>
                  <a:srgbClr val="013EF5"/>
                </a:solidFill>
                <a:latin typeface="Aptos"/>
              </a:rPr>
              <a:t>0.00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1536192"/>
            <a:ext cx="153619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750" b="0" i="0">
                <a:solidFill>
                  <a:srgbClr val="6B7280"/>
                </a:solidFill>
                <a:latin typeface="Aptos"/>
              </a:rPr>
              <a:t>Cum. Aug–Sep · target 0.79</a:t>
            </a:r>
            <a:br>
              <a:rPr lang="en-US" sz="750" b="0" i="0">
                <a:solidFill>
                  <a:srgbClr val="6B7280"/>
                </a:solidFill>
                <a:latin typeface="Aptos"/>
              </a:rPr>
            </a:br>
            <a:r>
              <a:rPr lang="en-US" sz="750" b="0" i="0">
                <a:solidFill>
                  <a:srgbClr val="6B7280"/>
                </a:solidFill>
                <a:latin typeface="Aptos"/>
              </a:rPr>
              <a:t>Within target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987552"/>
            <a:ext cx="164592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749040" y="987552"/>
            <a:ext cx="54864" cy="868680"/>
          </a:xfrm>
          <a:prstGeom prst="rect">
            <a:avLst/>
          </a:prstGeom>
          <a:solidFill>
            <a:srgbClr val="01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0" y="1005840"/>
            <a:ext cx="153619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800" b="1" i="0">
                <a:solidFill>
                  <a:srgbClr val="6B7280"/>
                </a:solidFill>
                <a:latin typeface="Aptos"/>
              </a:rPr>
              <a:t>Man-hours worked (HHT)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1188720"/>
            <a:ext cx="153619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2000" b="1" i="0">
                <a:solidFill>
                  <a:srgbClr val="013EF5"/>
                </a:solidFill>
                <a:latin typeface="Aptos"/>
              </a:rPr>
              <a:t>62,676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1536192"/>
            <a:ext cx="153619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0" y="987552"/>
            <a:ext cx="164592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0" y="987552"/>
            <a:ext cx="54864" cy="868680"/>
          </a:xfrm>
          <a:prstGeom prst="rect">
            <a:avLst/>
          </a:prstGeom>
          <a:solidFill>
            <a:srgbClr val="01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1005840"/>
            <a:ext cx="153619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800" b="1" i="0">
                <a:solidFill>
                  <a:srgbClr val="6B7280"/>
                </a:solidFill>
                <a:latin typeface="Aptos"/>
              </a:rPr>
              <a:t>Kilometers driven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1188720"/>
            <a:ext cx="153619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2000" b="1" i="0">
                <a:solidFill>
                  <a:srgbClr val="013EF5"/>
                </a:solidFill>
                <a:latin typeface="Aptos"/>
              </a:rPr>
              <a:t>346,907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1536192"/>
            <a:ext cx="153619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223760" y="987552"/>
            <a:ext cx="164592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23760" y="987552"/>
            <a:ext cx="54864" cy="868680"/>
          </a:xfrm>
          <a:prstGeom prst="rect">
            <a:avLst/>
          </a:prstGeom>
          <a:solidFill>
            <a:srgbClr val="01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0" y="1005840"/>
            <a:ext cx="153619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800" b="1" i="0">
                <a:solidFill>
                  <a:srgbClr val="6B7280"/>
                </a:solidFill>
                <a:latin typeface="Aptos"/>
              </a:rPr>
              <a:t>Total personnel (month)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188720"/>
            <a:ext cx="153619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2000" b="1" i="0">
                <a:solidFill>
                  <a:srgbClr val="013EF5"/>
                </a:solidFill>
                <a:latin typeface="Aptos"/>
              </a:rPr>
              <a:t>409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1536192"/>
            <a:ext cx="153619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endParaRPr/>
          </a:p>
        </p:txBody>
      </p:sp>
      <p:sp>
        <p:nvSpPr>
          <p:cNvPr id="2" name="Piramide nivel 1 izq" descr="Safety pyramid (decorative graphic; values are in the text labels)"/>
          <p:cNvSpPr/>
          <p:nvPr/>
        </p:nvSpPr>
        <p:spPr>
          <a:xfrm>
            <a:off x="1308414" y="2029968"/>
            <a:ext cx="188733" cy="404987"/>
          </a:xfrm>
          <a:custGeom>
            <a:avLst/>
            <a:gdLst/>
            <a:ahLst/>
            <a:cxnLst/>
            <a:rect l="l" t="t" r="r" b="b"/>
            <a:pathLst>
              <a:path w="188733" h="404987">
                <a:moveTo>
                  <a:pt x="188733" y="0"/>
                </a:moveTo>
                <a:lnTo>
                  <a:pt x="0" y="271302"/>
                </a:lnTo>
                <a:lnTo>
                  <a:pt x="188733" y="404987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iramide nivel 1 der" descr="Safety pyramid (decorative graphic; values are in the text labels)"/>
          <p:cNvSpPr/>
          <p:nvPr/>
        </p:nvSpPr>
        <p:spPr>
          <a:xfrm>
            <a:off x="1497147" y="2029968"/>
            <a:ext cx="228051" cy="404987"/>
          </a:xfrm>
          <a:custGeom>
            <a:avLst/>
            <a:gdLst/>
            <a:ahLst/>
            <a:cxnLst/>
            <a:rect l="l" t="t" r="r" b="b"/>
            <a:pathLst>
              <a:path w="228051" h="404987">
                <a:moveTo>
                  <a:pt x="0" y="0"/>
                </a:moveTo>
                <a:lnTo>
                  <a:pt x="228051" y="271302"/>
                </a:lnTo>
                <a:lnTo>
                  <a:pt x="0" y="404987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iramide nivel 2 izq" descr="Safety pyramid (decorative graphic; values are in the text labels)"/>
          <p:cNvSpPr/>
          <p:nvPr/>
        </p:nvSpPr>
        <p:spPr>
          <a:xfrm>
            <a:off x="1111818" y="2301270"/>
            <a:ext cx="385329" cy="526877"/>
          </a:xfrm>
          <a:custGeom>
            <a:avLst/>
            <a:gdLst/>
            <a:ahLst/>
            <a:cxnLst/>
            <a:rect l="l" t="t" r="r" b="b"/>
            <a:pathLst>
              <a:path w="385329" h="526877">
                <a:moveTo>
                  <a:pt x="196596" y="0"/>
                </a:moveTo>
                <a:lnTo>
                  <a:pt x="0" y="271302"/>
                </a:lnTo>
                <a:lnTo>
                  <a:pt x="385329" y="526877"/>
                </a:lnTo>
                <a:lnTo>
                  <a:pt x="385329" y="1336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iramide nivel 2 der" descr="Safety pyramid (decorative graphic; values are in the text labels)"/>
          <p:cNvSpPr/>
          <p:nvPr/>
        </p:nvSpPr>
        <p:spPr>
          <a:xfrm>
            <a:off x="1497147" y="2301270"/>
            <a:ext cx="460034" cy="526877"/>
          </a:xfrm>
          <a:custGeom>
            <a:avLst/>
            <a:gdLst/>
            <a:ahLst/>
            <a:cxnLst/>
            <a:rect l="l" t="t" r="r" b="b"/>
            <a:pathLst>
              <a:path w="460034" h="526877">
                <a:moveTo>
                  <a:pt x="228051" y="0"/>
                </a:moveTo>
                <a:lnTo>
                  <a:pt x="460034" y="271302"/>
                </a:lnTo>
                <a:lnTo>
                  <a:pt x="0" y="526877"/>
                </a:lnTo>
                <a:lnTo>
                  <a:pt x="0" y="1336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iramide nivel 3 izq" descr="Safety pyramid (decorative graphic; values are in the text labels)"/>
          <p:cNvSpPr/>
          <p:nvPr/>
        </p:nvSpPr>
        <p:spPr>
          <a:xfrm>
            <a:off x="923086" y="2572572"/>
            <a:ext cx="574061" cy="633040"/>
          </a:xfrm>
          <a:custGeom>
            <a:avLst/>
            <a:gdLst/>
            <a:ahLst/>
            <a:cxnLst/>
            <a:rect l="l" t="t" r="r" b="b"/>
            <a:pathLst>
              <a:path w="574061" h="633040">
                <a:moveTo>
                  <a:pt x="188732" y="0"/>
                </a:moveTo>
                <a:lnTo>
                  <a:pt x="0" y="267371"/>
                </a:lnTo>
                <a:lnTo>
                  <a:pt x="574061" y="633040"/>
                </a:lnTo>
                <a:lnTo>
                  <a:pt x="574061" y="25557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iramide nivel 3 der" descr="Safety pyramid (decorative graphic; values are in the text labels)"/>
          <p:cNvSpPr/>
          <p:nvPr/>
        </p:nvSpPr>
        <p:spPr>
          <a:xfrm>
            <a:off x="1497147" y="2572572"/>
            <a:ext cx="688086" cy="633040"/>
          </a:xfrm>
          <a:custGeom>
            <a:avLst/>
            <a:gdLst/>
            <a:ahLst/>
            <a:cxnLst/>
            <a:rect l="l" t="t" r="r" b="b"/>
            <a:pathLst>
              <a:path w="688086" h="633040">
                <a:moveTo>
                  <a:pt x="460034" y="0"/>
                </a:moveTo>
                <a:lnTo>
                  <a:pt x="688086" y="267371"/>
                </a:lnTo>
                <a:lnTo>
                  <a:pt x="0" y="633040"/>
                </a:lnTo>
                <a:lnTo>
                  <a:pt x="0" y="25557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Piramide nivel 4 izq" descr="Safety pyramid (decorative graphic; values are in the text labels)"/>
          <p:cNvSpPr/>
          <p:nvPr/>
        </p:nvSpPr>
        <p:spPr>
          <a:xfrm>
            <a:off x="533826" y="2839943"/>
            <a:ext cx="963321" cy="1175644"/>
          </a:xfrm>
          <a:custGeom>
            <a:avLst/>
            <a:gdLst/>
            <a:ahLst/>
            <a:cxnLst/>
            <a:rect l="l" t="t" r="r" b="b"/>
            <a:pathLst>
              <a:path w="963321" h="1175644">
                <a:moveTo>
                  <a:pt x="389260" y="0"/>
                </a:moveTo>
                <a:lnTo>
                  <a:pt x="196596" y="267371"/>
                </a:lnTo>
                <a:lnTo>
                  <a:pt x="0" y="538673"/>
                </a:lnTo>
                <a:lnTo>
                  <a:pt x="963321" y="1175644"/>
                </a:lnTo>
                <a:lnTo>
                  <a:pt x="963321" y="365669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Piramide nivel 4 der" descr="Safety pyramid (decorative graphic; values are in the text labels)"/>
          <p:cNvSpPr/>
          <p:nvPr/>
        </p:nvSpPr>
        <p:spPr>
          <a:xfrm>
            <a:off x="1497147" y="2839943"/>
            <a:ext cx="1136325" cy="1175644"/>
          </a:xfrm>
          <a:custGeom>
            <a:avLst/>
            <a:gdLst/>
            <a:ahLst/>
            <a:cxnLst/>
            <a:rect l="l" t="t" r="r" b="b"/>
            <a:pathLst>
              <a:path w="1136325" h="1175644">
                <a:moveTo>
                  <a:pt x="688086" y="0"/>
                </a:moveTo>
                <a:lnTo>
                  <a:pt x="908273" y="247711"/>
                </a:lnTo>
                <a:lnTo>
                  <a:pt x="1136325" y="511150"/>
                </a:lnTo>
                <a:lnTo>
                  <a:pt x="0" y="1175644"/>
                </a:lnTo>
                <a:lnTo>
                  <a:pt x="0" y="365669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Piramide nivel 5 izq" descr="Safety pyramid (decorative graphic; values are in the text labels)"/>
          <p:cNvSpPr/>
          <p:nvPr/>
        </p:nvSpPr>
        <p:spPr>
          <a:xfrm>
            <a:off x="274320" y="3378616"/>
            <a:ext cx="1222827" cy="1163848"/>
          </a:xfrm>
          <a:custGeom>
            <a:avLst/>
            <a:gdLst/>
            <a:ahLst/>
            <a:cxnLst/>
            <a:rect l="l" t="t" r="r" b="b"/>
            <a:pathLst>
              <a:path w="1222827" h="1163848">
                <a:moveTo>
                  <a:pt x="259506" y="0"/>
                </a:moveTo>
                <a:lnTo>
                  <a:pt x="0" y="342077"/>
                </a:lnTo>
                <a:lnTo>
                  <a:pt x="1222827" y="1163848"/>
                </a:lnTo>
                <a:lnTo>
                  <a:pt x="1222827" y="636971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Piramide nivel 5 der" descr="Safety pyramid (decorative graphic; values are in the text labels)"/>
          <p:cNvSpPr/>
          <p:nvPr/>
        </p:nvSpPr>
        <p:spPr>
          <a:xfrm>
            <a:off x="1497147" y="3351093"/>
            <a:ext cx="1454810" cy="1191371"/>
          </a:xfrm>
          <a:custGeom>
            <a:avLst/>
            <a:gdLst/>
            <a:ahLst/>
            <a:cxnLst/>
            <a:rect l="l" t="t" r="r" b="b"/>
            <a:pathLst>
              <a:path w="1454810" h="1191371">
                <a:moveTo>
                  <a:pt x="1136325" y="0"/>
                </a:moveTo>
                <a:lnTo>
                  <a:pt x="1454810" y="357804"/>
                </a:lnTo>
                <a:lnTo>
                  <a:pt x="0" y="1191371"/>
                </a:lnTo>
                <a:lnTo>
                  <a:pt x="0" y="664494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4187" y="1828800"/>
            <a:ext cx="164592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800" b="1" i="0">
                <a:solidFill>
                  <a:srgbClr val="013EF5"/>
                </a:solidFill>
                <a:latin typeface="Aptos"/>
              </a:rPr>
              <a:t>Cum. Aug–Sep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23842" y="2068705"/>
            <a:ext cx="2103120" cy="186205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l"/>
            <a:r>
              <a:rPr lang="en-US" sz="850" b="1" i="0" dirty="0">
                <a:solidFill>
                  <a:srgbClr val="013EF5"/>
                </a:solidFill>
                <a:latin typeface="Aptos"/>
              </a:rPr>
              <a:t>DAFWC</a:t>
            </a:r>
          </a:p>
        </p:txBody>
      </p:sp>
      <p:sp>
        <p:nvSpPr>
          <p:cNvPr id="47" name="Valor piramide 1"/>
          <p:cNvSpPr/>
          <p:nvPr/>
        </p:nvSpPr>
        <p:spPr>
          <a:xfrm>
            <a:off x="1265667" y="2102068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13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50" b="1" dirty="0">
                <a:solidFill>
                  <a:srgbClr val="013EF5"/>
                </a:solidFill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86910" y="2370879"/>
            <a:ext cx="2103120" cy="186205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l"/>
            <a:r>
              <a:rPr lang="en-US" sz="850" b="1" i="0" dirty="0">
                <a:solidFill>
                  <a:srgbClr val="013EF5"/>
                </a:solidFill>
                <a:latin typeface="Aptos"/>
              </a:rPr>
              <a:t>TRICF</a:t>
            </a:r>
          </a:p>
        </p:txBody>
      </p:sp>
      <p:sp>
        <p:nvSpPr>
          <p:cNvPr id="51" name="Valor piramide 2"/>
          <p:cNvSpPr/>
          <p:nvPr/>
        </p:nvSpPr>
        <p:spPr>
          <a:xfrm>
            <a:off x="1285446" y="2479852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13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13EF5"/>
                </a:solidFill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85380" y="2628267"/>
            <a:ext cx="2103120" cy="186205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r>
              <a:rPr lang="en-US" sz="850" b="1" dirty="0">
                <a:solidFill>
                  <a:srgbClr val="013EF5"/>
                </a:solidFill>
                <a:latin typeface="Aptos"/>
              </a:rPr>
              <a:t>FAC</a:t>
            </a:r>
          </a:p>
        </p:txBody>
      </p:sp>
      <p:sp>
        <p:nvSpPr>
          <p:cNvPr id="55" name="Valor piramide 3"/>
          <p:cNvSpPr/>
          <p:nvPr/>
        </p:nvSpPr>
        <p:spPr>
          <a:xfrm>
            <a:off x="1300642" y="2871886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13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13EF5"/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31671" y="2978405"/>
            <a:ext cx="2103120" cy="186205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l"/>
            <a:r>
              <a:rPr lang="en-US" sz="850" b="1" dirty="0">
                <a:solidFill>
                  <a:srgbClr val="013EF5"/>
                </a:solidFill>
                <a:latin typeface="Aptos"/>
              </a:rPr>
              <a:t>Road safety · TVCR</a:t>
            </a:r>
          </a:p>
        </p:txBody>
      </p:sp>
      <p:sp>
        <p:nvSpPr>
          <p:cNvPr id="59" name="Valor piramide 4"/>
          <p:cNvSpPr/>
          <p:nvPr/>
        </p:nvSpPr>
        <p:spPr>
          <a:xfrm>
            <a:off x="1311569" y="3415192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13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13EF5"/>
                </a:solidFill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10094" y="3419806"/>
            <a:ext cx="2103120" cy="186205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l"/>
            <a:r>
              <a:rPr lang="en-US" sz="850" b="1" i="0" dirty="0">
                <a:solidFill>
                  <a:srgbClr val="013EF5"/>
                </a:solidFill>
                <a:latin typeface="Aptos"/>
              </a:rPr>
              <a:t>Observations (OCS)</a:t>
            </a:r>
          </a:p>
        </p:txBody>
      </p:sp>
      <p:sp>
        <p:nvSpPr>
          <p:cNvPr id="63" name="Valor piramide 5"/>
          <p:cNvSpPr/>
          <p:nvPr/>
        </p:nvSpPr>
        <p:spPr>
          <a:xfrm>
            <a:off x="1227490" y="4107027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13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b="1">
                <a:solidFill>
                  <a:srgbClr val="013EF5"/>
                </a:solidFill>
              </a:rPr>
              <a:t>462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1828800"/>
            <a:ext cx="26060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900" b="1" i="0">
                <a:solidFill>
                  <a:srgbClr val="013EF5"/>
                </a:solidFill>
                <a:latin typeface="Aptos"/>
              </a:rPr>
              <a:t>Other KPIs · September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147292"/>
              </p:ext>
            </p:extLst>
          </p:nvPr>
        </p:nvGraphicFramePr>
        <p:xfrm>
          <a:off x="6309360" y="2048256"/>
          <a:ext cx="2606040" cy="19751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800" b="1" i="0">
                          <a:solidFill>
                            <a:srgbClr val="FFFFFF"/>
                          </a:solidFill>
                          <a:latin typeface="Aptos"/>
                        </a:rPr>
                        <a:t>KPI</a:t>
                      </a:r>
                    </a:p>
                  </a:txBody>
                  <a:tcPr marL="45720" marR="45720" marT="18288" marB="18288" anchor="ctr">
                    <a:solidFill>
                      <a:srgbClr val="013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>
                          <a:solidFill>
                            <a:srgbClr val="FFFFFF"/>
                          </a:solidFill>
                          <a:latin typeface="Aptos"/>
                        </a:rPr>
                        <a:t>CP + Pipeline</a:t>
                      </a:r>
                    </a:p>
                  </a:txBody>
                  <a:tcPr marL="45720" marR="45720" marT="18288" marB="18288" anchor="ctr">
                    <a:solidFill>
                      <a:srgbClr val="013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800" b="1" i="0">
                          <a:solidFill>
                            <a:srgbClr val="1F2533"/>
                          </a:solidFill>
                          <a:latin typeface="Aptos"/>
                        </a:rPr>
                        <a:t>DAFWCF (target 0)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rgbClr val="1F253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800" b="1" i="0" dirty="0">
                          <a:solidFill>
                            <a:srgbClr val="1F2533"/>
                          </a:solidFill>
                          <a:latin typeface="Aptos"/>
                        </a:rPr>
                        <a:t>TRICF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rgbClr val="1F253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0263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800" b="1" i="0" dirty="0">
                          <a:solidFill>
                            <a:srgbClr val="1F2533"/>
                          </a:solidFill>
                          <a:latin typeface="Aptos"/>
                        </a:rPr>
                        <a:t>SVCR (reporting)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solidFill>
                            <a:srgbClr val="1F2533"/>
                          </a:solidFill>
                          <a:latin typeface="Aptos"/>
                        </a:rPr>
                        <a:t>0</a:t>
                      </a:r>
                      <a:endParaRPr lang="en-US" sz="800" b="0" i="0" dirty="0">
                        <a:solidFill>
                          <a:srgbClr val="1F2533"/>
                        </a:solidFill>
                        <a:latin typeface="Aptos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60275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800" b="1" i="0" dirty="0">
                          <a:solidFill>
                            <a:srgbClr val="1F2533"/>
                          </a:solidFill>
                          <a:latin typeface="Aptos"/>
                        </a:rPr>
                        <a:t>FAC (reporting)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rgbClr val="1F253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31534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800" b="1" i="0" dirty="0">
                          <a:solidFill>
                            <a:srgbClr val="1F2533"/>
                          </a:solidFill>
                          <a:latin typeface="Aptos"/>
                        </a:rPr>
                        <a:t>INV · days (≤ 20)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rgbClr val="1F253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004158"/>
                  </a:ext>
                </a:extLst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274320" y="4617720"/>
            <a:ext cx="42062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000" b="1" i="0">
                <a:solidFill>
                  <a:srgbClr val="013EF5"/>
                </a:solidFill>
                <a:latin typeface="Aptos"/>
              </a:rPr>
              <a:t>TRICF · cases and frequency × 10^6 /HHT</a:t>
            </a:r>
          </a:p>
        </p:txBody>
      </p:sp>
      <p:graphicFrame>
        <p:nvGraphicFramePr>
          <p:cNvPr id="67" name="Chart 66" descr="Native chart with editable data"/>
          <p:cNvGraphicFramePr>
            <a:graphicFrameLocks noGrp="1"/>
          </p:cNvGraphicFramePr>
          <p:nvPr/>
        </p:nvGraphicFramePr>
        <p:xfrm>
          <a:off x="274320" y="4846320"/>
          <a:ext cx="420624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4663440" y="4617720"/>
            <a:ext cx="42062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000" b="1" i="0">
                <a:solidFill>
                  <a:srgbClr val="013EF5"/>
                </a:solidFill>
                <a:latin typeface="Aptos"/>
              </a:rPr>
              <a:t>TVCR · cases and frequency × 10^6 /km</a:t>
            </a:r>
          </a:p>
        </p:txBody>
      </p:sp>
      <p:graphicFrame>
        <p:nvGraphicFramePr>
          <p:cNvPr id="69" name="Chart 68" descr="Native chart with editable data"/>
          <p:cNvGraphicFramePr>
            <a:graphicFrameLocks noGrp="1"/>
          </p:cNvGraphicFramePr>
          <p:nvPr/>
        </p:nvGraphicFramePr>
        <p:xfrm>
          <a:off x="4663440" y="4846320"/>
          <a:ext cx="420624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3101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23 Marcador de número de diapositiva">
            <a:extLst>
              <a:ext uri="{FF2B5EF4-FFF2-40B4-BE49-F238E27FC236}">
                <a16:creationId xmlns:a16="http://schemas.microsoft.com/office/drawing/2014/main" id="{98F37300-104F-D2DE-6F97-1BD4408C8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69076"/>
            <a:ext cx="2133600" cy="300320"/>
          </a:xfrm>
        </p:spPr>
        <p:txBody>
          <a:bodyPr/>
          <a:lstStyle/>
          <a:p>
            <a:pPr algn="r"/>
            <a:fld id="{9ABEEF21-8102-43F1-A27A-83D33B4E2AA1}" type="slidenum">
              <a:rPr lang="en-US" noProof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/>
              <a:t>2</a:t>
            </a:fld>
            <a:endParaRPr lang="en-US" noProof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7047CC3-2D6A-F4A6-496D-F204196D2776}"/>
              </a:ext>
            </a:extLst>
          </p:cNvPr>
          <p:cNvSpPr/>
          <p:nvPr/>
        </p:nvSpPr>
        <p:spPr>
          <a:xfrm>
            <a:off x="0" y="0"/>
            <a:ext cx="9144000" cy="706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Imagen 10" descr="San Matías Pipeline logo">
            <a:extLst>
              <a:ext uri="{FF2B5EF4-FFF2-40B4-BE49-F238E27FC236}">
                <a16:creationId xmlns:a16="http://schemas.microsoft.com/office/drawing/2014/main" id="{33830497-B16D-94DE-B020-56C6205EBE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6EC13B7-B882-CBBD-3800-A63A3EB5CCE9}"/>
              </a:ext>
            </a:extLst>
          </p:cNvPr>
          <p:cNvSpPr txBox="1"/>
          <p:nvPr/>
        </p:nvSpPr>
        <p:spPr>
          <a:xfrm>
            <a:off x="7731453" y="321314"/>
            <a:ext cx="11514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9F75893-C7CE-A6C4-09F1-201BEEAF2CDE}"/>
              </a:ext>
            </a:extLst>
          </p:cNvPr>
          <p:cNvSpPr txBox="1">
            <a:spLocks/>
          </p:cNvSpPr>
          <p:nvPr/>
        </p:nvSpPr>
        <p:spPr>
          <a:xfrm>
            <a:off x="179509" y="110000"/>
            <a:ext cx="7364291" cy="5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noProof="0" dirty="0">
                <a:solidFill>
                  <a:srgbClr val="013EF5"/>
                </a:solidFill>
                <a:latin typeface="Aptos" panose="020B0004020202020204" pitchFamily="34" charset="0"/>
              </a:rPr>
              <a:t>1.3</a:t>
            </a:r>
            <a:r>
              <a:rPr lang="en-US" sz="1500" b="1" spc="100" noProof="0" dirty="0">
                <a:solidFill>
                  <a:srgbClr val="013EF5"/>
                </a:solidFill>
                <a:latin typeface="Aptos" panose="020B0004020202020204" pitchFamily="34" charset="0"/>
              </a:rPr>
              <a:t> &gt; DEDICATED GAS PIPELINE UPDATE </a:t>
            </a:r>
            <a:r>
              <a:rPr lang="en-US" sz="1500" spc="1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&gt; Proactive Safety Actions</a:t>
            </a:r>
            <a:endParaRPr lang="en-US" sz="1800" spc="100" noProof="0" dirty="0">
              <a:solidFill>
                <a:srgbClr val="013EF5"/>
              </a:solidFill>
              <a:latin typeface="Aptos Light" panose="020B00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4320" y="914400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100" b="1" i="0">
                <a:solidFill>
                  <a:srgbClr val="013EF5"/>
                </a:solidFill>
                <a:latin typeface="Aptos"/>
              </a:rPr>
              <a:t>MANAGEMENT SAFETY WALKS</a:t>
            </a:r>
          </a:p>
        </p:txBody>
      </p:sp>
      <p:graphicFrame>
        <p:nvGraphicFramePr>
          <p:cNvPr id="14" name="Chart 13" descr="Native chart with editable data"/>
          <p:cNvGraphicFramePr>
            <a:graphicFrameLocks noGrp="1"/>
          </p:cNvGraphicFramePr>
          <p:nvPr/>
        </p:nvGraphicFramePr>
        <p:xfrm>
          <a:off x="274320" y="1188720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399" y="914400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100" b="1" i="0">
                <a:solidFill>
                  <a:srgbClr val="013EF5"/>
                </a:solidFill>
                <a:latin typeface="Aptos"/>
              </a:rPr>
              <a:t>SAFETY CAMPAIGNS</a:t>
            </a:r>
          </a:p>
        </p:txBody>
      </p:sp>
      <p:graphicFrame>
        <p:nvGraphicFramePr>
          <p:cNvPr id="16" name="Chart 15" descr="Native chart with editable data"/>
          <p:cNvGraphicFramePr>
            <a:graphicFrameLocks noGrp="1"/>
          </p:cNvGraphicFramePr>
          <p:nvPr/>
        </p:nvGraphicFramePr>
        <p:xfrm>
          <a:off x="3200399" y="1188720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126479" y="914400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100" b="1" i="0">
                <a:solidFill>
                  <a:srgbClr val="013EF5"/>
                </a:solidFill>
                <a:latin typeface="Aptos"/>
              </a:rPr>
              <a:t>DRILLS · target 100%</a:t>
            </a:r>
          </a:p>
        </p:txBody>
      </p:sp>
      <p:graphicFrame>
        <p:nvGraphicFramePr>
          <p:cNvPr id="18" name="Chart 17" descr="Native chart with editable data"/>
          <p:cNvGraphicFramePr>
            <a:graphicFrameLocks noGrp="1"/>
          </p:cNvGraphicFramePr>
          <p:nvPr/>
        </p:nvGraphicFramePr>
        <p:xfrm>
          <a:off x="6126479" y="1188720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74320" y="3657600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100" b="1" i="0">
                <a:solidFill>
                  <a:srgbClr val="013EF5"/>
                </a:solidFill>
                <a:latin typeface="Aptos"/>
              </a:rPr>
              <a:t>OBSERVATIONS (OCS)</a:t>
            </a:r>
          </a:p>
        </p:txBody>
      </p:sp>
      <p:graphicFrame>
        <p:nvGraphicFramePr>
          <p:cNvPr id="20" name="Chart 19" descr="Native chart with editable data"/>
          <p:cNvGraphicFramePr>
            <a:graphicFrameLocks noGrp="1"/>
          </p:cNvGraphicFramePr>
          <p:nvPr/>
        </p:nvGraphicFramePr>
        <p:xfrm>
          <a:off x="274320" y="3931920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200399" y="3657600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100" b="1" i="0">
                <a:solidFill>
                  <a:srgbClr val="013EF5"/>
                </a:solidFill>
                <a:latin typeface="Aptos"/>
              </a:rPr>
              <a:t>TRAINING HOURS (HHS)</a:t>
            </a:r>
          </a:p>
        </p:txBody>
      </p:sp>
      <p:graphicFrame>
        <p:nvGraphicFramePr>
          <p:cNvPr id="22" name="Chart 21" descr="Native chart with editable data"/>
          <p:cNvGraphicFramePr>
            <a:graphicFrameLocks noGrp="1"/>
          </p:cNvGraphicFramePr>
          <p:nvPr/>
        </p:nvGraphicFramePr>
        <p:xfrm>
          <a:off x="3200399" y="3931920"/>
          <a:ext cx="2788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126479" y="3657600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100" b="1" i="0">
                <a:solidFill>
                  <a:srgbClr val="013EF5"/>
                </a:solidFill>
                <a:latin typeface="Aptos"/>
              </a:rPr>
              <a:t>TRAINING · SEPTEMBER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79" y="4069080"/>
            <a:ext cx="2788920" cy="1051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79" y="4069080"/>
            <a:ext cx="54864" cy="1051560"/>
          </a:xfrm>
          <a:prstGeom prst="rect">
            <a:avLst/>
          </a:prstGeom>
          <a:solidFill>
            <a:srgbClr val="013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19" y="4096512"/>
            <a:ext cx="265176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900" b="1" i="0">
                <a:solidFill>
                  <a:srgbClr val="6B7280"/>
                </a:solidFill>
                <a:latin typeface="Aptos"/>
              </a:rPr>
              <a:t>Training % vs HHT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19" y="4315968"/>
            <a:ext cx="2651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2800" b="1" i="0">
                <a:solidFill>
                  <a:srgbClr val="013EF5"/>
                </a:solidFill>
                <a:latin typeface="Aptos"/>
              </a:rPr>
              <a:t>2.87%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19" y="4754879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800" b="0" i="0" dirty="0">
                <a:solidFill>
                  <a:srgbClr val="6B7280"/>
                </a:solidFill>
                <a:latin typeface="Aptos"/>
              </a:rPr>
              <a:t>HHS / HHT · CP + Pipeline · target ≥ 1.00%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23 Marcador de número de diapositiva">
            <a:extLst>
              <a:ext uri="{FF2B5EF4-FFF2-40B4-BE49-F238E27FC236}">
                <a16:creationId xmlns:a16="http://schemas.microsoft.com/office/drawing/2014/main" id="{98F37300-104F-D2DE-6F97-1BD4408C8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69076"/>
            <a:ext cx="2133600" cy="300320"/>
          </a:xfrm>
        </p:spPr>
        <p:txBody>
          <a:bodyPr/>
          <a:lstStyle/>
          <a:p>
            <a:pPr algn="r"/>
            <a:fld id="{9ABEEF21-8102-43F1-A27A-83D33B4E2AA1}" type="slidenum">
              <a:rPr lang="en-US" noProof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pPr algn="r"/>
              <a:t>3</a:t>
            </a:fld>
            <a:endParaRPr lang="en-US" noProof="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7047CC3-2D6A-F4A6-496D-F204196D2776}"/>
              </a:ext>
            </a:extLst>
          </p:cNvPr>
          <p:cNvSpPr/>
          <p:nvPr/>
        </p:nvSpPr>
        <p:spPr>
          <a:xfrm>
            <a:off x="0" y="0"/>
            <a:ext cx="9144000" cy="706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Imagen 10" descr="San Matías Pipeline logo">
            <a:extLst>
              <a:ext uri="{FF2B5EF4-FFF2-40B4-BE49-F238E27FC236}">
                <a16:creationId xmlns:a16="http://schemas.microsoft.com/office/drawing/2014/main" id="{33830497-B16D-94DE-B020-56C6205EBE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54800" b="49955"/>
          <a:stretch/>
        </p:blipFill>
        <p:spPr>
          <a:xfrm>
            <a:off x="8549908" y="117682"/>
            <a:ext cx="274715" cy="2325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6EC13B7-B882-CBBD-3800-A63A3EB5CCE9}"/>
              </a:ext>
            </a:extLst>
          </p:cNvPr>
          <p:cNvSpPr txBox="1"/>
          <p:nvPr/>
        </p:nvSpPr>
        <p:spPr>
          <a:xfrm>
            <a:off x="7731453" y="321314"/>
            <a:ext cx="11514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spc="100" noProof="0" dirty="0">
                <a:solidFill>
                  <a:srgbClr val="FF0000"/>
                </a:solidFill>
                <a:latin typeface="Aptos Display" panose="020B0004020202020204" pitchFamily="34" charset="0"/>
              </a:rPr>
              <a:t>CONFIDENTIAL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9F75893-C7CE-A6C4-09F1-201BEEAF2CDE}"/>
              </a:ext>
            </a:extLst>
          </p:cNvPr>
          <p:cNvSpPr txBox="1">
            <a:spLocks/>
          </p:cNvSpPr>
          <p:nvPr/>
        </p:nvSpPr>
        <p:spPr>
          <a:xfrm>
            <a:off x="179509" y="110000"/>
            <a:ext cx="7364291" cy="5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noProof="0" dirty="0">
                <a:solidFill>
                  <a:srgbClr val="013EF5"/>
                </a:solidFill>
                <a:latin typeface="Aptos" panose="020B0004020202020204" pitchFamily="34" charset="0"/>
              </a:rPr>
              <a:t>1.3</a:t>
            </a:r>
            <a:r>
              <a:rPr lang="en-US" sz="1500" b="1" spc="100" noProof="0" dirty="0">
                <a:solidFill>
                  <a:srgbClr val="013EF5"/>
                </a:solidFill>
                <a:latin typeface="Aptos" panose="020B0004020202020204" pitchFamily="34" charset="0"/>
              </a:rPr>
              <a:t> &gt; DEDICATED GAS PIPELINE UPDATE </a:t>
            </a:r>
            <a:r>
              <a:rPr lang="en-US" sz="1500" spc="100" noProof="0" dirty="0">
                <a:solidFill>
                  <a:srgbClr val="013EF5"/>
                </a:solidFill>
                <a:latin typeface="Aptos Light" panose="020B0004020202020204" pitchFamily="34" charset="0"/>
              </a:rPr>
              <a:t>&gt; Updates &amp; Photo Log</a:t>
            </a:r>
            <a:endParaRPr lang="en-US" sz="1800" spc="100" noProof="0" dirty="0">
              <a:solidFill>
                <a:srgbClr val="013EF5"/>
              </a:solidFill>
              <a:latin typeface="Aptos Light" panose="020B00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4320" y="777240"/>
            <a:ext cx="859536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900" b="0" i="0">
                <a:solidFill>
                  <a:srgbClr val="6B7280"/>
                </a:solidFill>
                <a:latin typeface="Aptos"/>
              </a:rPr>
              <a:t>September 2026 · 2 photos per area: Compressor Plant, Pipeline (right-of-way) and Pipeline · SAE 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097280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100" b="1" i="0">
                <a:solidFill>
                  <a:srgbClr val="013EF5"/>
                </a:solidFill>
                <a:latin typeface="Aptos"/>
              </a:rPr>
              <a:t>COMPRESSOR PLANT</a:t>
            </a:r>
          </a:p>
        </p:txBody>
      </p:sp>
      <p:pic>
        <p:nvPicPr>
          <p:cNvPr id="15" name="Foto Planta Compresora: Locación de la Planta Compresora (1)" descr="Photo, Compressor Plant: Compressor Plant site (1)"/>
          <p:cNvPicPr>
            <a:picLocks noChangeAspect="1"/>
          </p:cNvPicPr>
          <p:nvPr/>
        </p:nvPicPr>
        <p:blipFill>
          <a:blip r:embed="rId3"/>
          <a:srcRect l="6010" r="6010"/>
          <a:stretch>
            <a:fillRect/>
          </a:stretch>
        </p:blipFill>
        <p:spPr>
          <a:xfrm>
            <a:off x="274320" y="1417320"/>
            <a:ext cx="2788920" cy="1783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4320" y="3227832"/>
            <a:ext cx="27889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900" b="1" i="0">
                <a:solidFill>
                  <a:srgbClr val="1F2533"/>
                </a:solidFill>
                <a:latin typeface="Aptos"/>
              </a:rPr>
              <a:t>Compressor Plant site (1)</a:t>
            </a:r>
          </a:p>
        </p:txBody>
      </p:sp>
      <p:pic>
        <p:nvPicPr>
          <p:cNvPr id="17" name="Foto Planta Compresora: Locación de la Planta Compresora (2)" descr="Photo, Compressor Plant: Compressor Plant site (2)"/>
          <p:cNvPicPr>
            <a:picLocks noChangeAspect="1"/>
          </p:cNvPicPr>
          <p:nvPr/>
        </p:nvPicPr>
        <p:blipFill>
          <a:blip r:embed="rId4"/>
          <a:srcRect l="6010" r="6010"/>
          <a:stretch>
            <a:fillRect/>
          </a:stretch>
        </p:blipFill>
        <p:spPr>
          <a:xfrm>
            <a:off x="274320" y="3931920"/>
            <a:ext cx="2788920" cy="1783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" y="5742432"/>
            <a:ext cx="27889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900" b="1" i="0">
                <a:solidFill>
                  <a:srgbClr val="1F2533"/>
                </a:solidFill>
                <a:latin typeface="Aptos"/>
              </a:rPr>
              <a:t>Compressor Plant site (2)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399" y="1097280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100" b="1" i="0">
                <a:solidFill>
                  <a:srgbClr val="013EF5"/>
                </a:solidFill>
                <a:latin typeface="Aptos"/>
              </a:rPr>
              <a:t>PIPELINE</a:t>
            </a:r>
          </a:p>
        </p:txBody>
      </p:sp>
      <p:pic>
        <p:nvPicPr>
          <p:cNvPr id="20" name="Foto Ducto: Pre-zanjeo" descr="Photo, Pipeline: Pre-trenching works"/>
          <p:cNvPicPr>
            <a:picLocks noChangeAspect="1"/>
          </p:cNvPicPr>
          <p:nvPr/>
        </p:nvPicPr>
        <p:blipFill>
          <a:blip r:embed="rId5"/>
          <a:srcRect l="6010" r="6010"/>
          <a:stretch>
            <a:fillRect/>
          </a:stretch>
        </p:blipFill>
        <p:spPr>
          <a:xfrm>
            <a:off x="3200399" y="1417320"/>
            <a:ext cx="2788920" cy="1783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200399" y="3227832"/>
            <a:ext cx="27889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900" b="1" i="0">
                <a:solidFill>
                  <a:srgbClr val="1F2533"/>
                </a:solidFill>
                <a:latin typeface="Aptos"/>
              </a:rPr>
              <a:t>Pre-trenching works</a:t>
            </a:r>
          </a:p>
        </p:txBody>
      </p:sp>
      <p:pic>
        <p:nvPicPr>
          <p:cNvPr id="22" name="Foto Ducto: Charla previa al inicio de descarga y desfile de cañerías" descr="Photo, Pipeline: Pre-start safety talk before pipe unloading and stringing"/>
          <p:cNvPicPr>
            <a:picLocks noChangeAspect="1"/>
          </p:cNvPicPr>
          <p:nvPr/>
        </p:nvPicPr>
        <p:blipFill>
          <a:blip r:embed="rId6"/>
          <a:srcRect l="6010" r="6010"/>
          <a:stretch>
            <a:fillRect/>
          </a:stretch>
        </p:blipFill>
        <p:spPr>
          <a:xfrm>
            <a:off x="3200399" y="3931920"/>
            <a:ext cx="2788920" cy="1783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00399" y="5742432"/>
            <a:ext cx="27889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900" b="1" i="0">
                <a:solidFill>
                  <a:srgbClr val="1F2533"/>
                </a:solidFill>
                <a:latin typeface="Aptos"/>
              </a:rPr>
              <a:t>Pre-start safety talk before pipe unloading and stringing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1097280"/>
            <a:ext cx="2788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100" b="1" i="0">
                <a:solidFill>
                  <a:srgbClr val="013EF5"/>
                </a:solidFill>
                <a:latin typeface="Aptos"/>
              </a:rPr>
              <a:t>PIPELINE · SAE PORT</a:t>
            </a:r>
          </a:p>
        </p:txBody>
      </p:sp>
      <p:pic>
        <p:nvPicPr>
          <p:cNvPr id="25" name="Foto Ducto · Puerto Sae: Recepción de cañerías del barco · Puerto SAE" descr="Photo, Pipeline · SAE Port: Receiving pipe from the vessel · SAE Port"/>
          <p:cNvPicPr>
            <a:picLocks noChangeAspect="1"/>
          </p:cNvPicPr>
          <p:nvPr/>
        </p:nvPicPr>
        <p:blipFill>
          <a:blip r:embed="rId7"/>
          <a:srcRect l="6010" r="6010"/>
          <a:stretch>
            <a:fillRect/>
          </a:stretch>
        </p:blipFill>
        <p:spPr>
          <a:xfrm>
            <a:off x="6126479" y="1417320"/>
            <a:ext cx="2788920" cy="1783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26479" y="3227832"/>
            <a:ext cx="27889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900" b="1" i="0">
                <a:solidFill>
                  <a:srgbClr val="1F2533"/>
                </a:solidFill>
                <a:latin typeface="Aptos"/>
              </a:rPr>
              <a:t>Receiving pipe from the vessel · SAE Port</a:t>
            </a:r>
          </a:p>
        </p:txBody>
      </p:sp>
      <p:pic>
        <p:nvPicPr>
          <p:cNvPr id="27" name="Foto Ducto · Puerto Sae: Carga en transporte en acopio · Puerto SAE" descr="Photo, Pipeline · SAE Port: Loading onto transport at the laydown yard · SAE Port"/>
          <p:cNvPicPr>
            <a:picLocks noChangeAspect="1"/>
          </p:cNvPicPr>
          <p:nvPr/>
        </p:nvPicPr>
        <p:blipFill>
          <a:blip r:embed="rId8"/>
          <a:srcRect l="6010" r="6010"/>
          <a:stretch>
            <a:fillRect/>
          </a:stretch>
        </p:blipFill>
        <p:spPr>
          <a:xfrm>
            <a:off x="6126479" y="3931920"/>
            <a:ext cx="2788920" cy="17830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26479" y="5742432"/>
            <a:ext cx="27889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900" b="1" i="0">
                <a:solidFill>
                  <a:srgbClr val="1F2533"/>
                </a:solidFill>
                <a:latin typeface="Aptos"/>
              </a:rPr>
              <a:t>Loading onto transport at the laydown yard · SAE 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2934</TotalTime>
  <Words>277</Words>
  <Application>Microsoft Office PowerPoint</Application>
  <PresentationFormat>Presentación en pantalla (4:3)</PresentationFormat>
  <Paragraphs>73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Aptos Light</vt:lpstr>
      <vt:lpstr>Arial</vt:lpstr>
      <vt:lpstr>Calibri</vt:lpstr>
      <vt:lpstr>Calibri Light</vt:lpstr>
      <vt:lpstr>Office 2013 - Tema de 2022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HSE Report – Partners – September 2026</dc:title>
  <dc:creator>Agustina Briceño</dc:creator>
  <cp:lastModifiedBy>William Saenz santamaria</cp:lastModifiedBy>
  <cp:revision>7</cp:revision>
  <dcterms:created xsi:type="dcterms:W3CDTF">2026-03-04T19:10:22Z</dcterms:created>
  <dcterms:modified xsi:type="dcterms:W3CDTF">2026-10-09T01:30:44Z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622c24-5861-4880-bcaa-37216e265fb3_Enabled">
    <vt:lpwstr>true</vt:lpwstr>
  </property>
  <property fmtid="{D5CDD505-2E9C-101B-9397-08002B2CF9AE}" pid="3" name="MSIP_Label_fb622c24-5861-4880-bcaa-37216e265fb3_SetDate">
    <vt:lpwstr>2026-10-08T18:54:21Z</vt:lpwstr>
  </property>
  <property fmtid="{D5CDD505-2E9C-101B-9397-08002B2CF9AE}" pid="4" name="MSIP_Label_fb622c24-5861-4880-bcaa-37216e265fb3_Method">
    <vt:lpwstr>Privileged</vt:lpwstr>
  </property>
  <property fmtid="{D5CDD505-2E9C-101B-9397-08002B2CF9AE}" pid="5" name="MSIP_Label_fb622c24-5861-4880-bcaa-37216e265fb3_Name">
    <vt:lpwstr>YPF - Publica</vt:lpwstr>
  </property>
  <property fmtid="{D5CDD505-2E9C-101B-9397-08002B2CF9AE}" pid="6" name="MSIP_Label_fb622c24-5861-4880-bcaa-37216e265fb3_SiteId">
    <vt:lpwstr>038018c3-616c-4b46-ad9b-aa9007f701b5</vt:lpwstr>
  </property>
  <property fmtid="{D5CDD505-2E9C-101B-9397-08002B2CF9AE}" pid="7" name="MSIP_Label_fb622c24-5861-4880-bcaa-37216e265fb3_ActionId">
    <vt:lpwstr>76d76803-2b8a-492c-983c-5775aa16aad1</vt:lpwstr>
  </property>
  <property fmtid="{D5CDD505-2E9C-101B-9397-08002B2CF9AE}" pid="8" name="MSIP_Label_fb622c24-5861-4880-bcaa-37216e265fb3_ContentBits">
    <vt:lpwstr>3</vt:lpwstr>
  </property>
  <property fmtid="{D5CDD505-2E9C-101B-9397-08002B2CF9AE}" pid="9" name="MSIP_Label_fb622c24-5861-4880-bcaa-37216e265fb3_Tag">
    <vt:lpwstr>10, 0, 1, 1</vt:lpwstr>
  </property>
  <property fmtid="{D5CDD505-2E9C-101B-9397-08002B2CF9AE}" pid="10" name="ClassificationContentMarkingFooterLocations">
    <vt:lpwstr>Office 2013 - Tema de 2022:10</vt:lpwstr>
  </property>
  <property fmtid="{D5CDD505-2E9C-101B-9397-08002B2CF9AE}" pid="11" name="ClassificationContentMarkingFooterText">
    <vt:lpwstr>Documento: YPF-Público</vt:lpwstr>
  </property>
  <property fmtid="{D5CDD505-2E9C-101B-9397-08002B2CF9AE}" pid="12" name="ClassificationContentMarkingHeaderLocations">
    <vt:lpwstr>Office 2013 - Tema de 2022:9</vt:lpwstr>
  </property>
  <property fmtid="{D5CDD505-2E9C-101B-9397-08002B2CF9AE}" pid="13" name="ClassificationContentMarkingHeaderText">
    <vt:lpwstr>Documento: YPF-Público</vt:lpwstr>
  </property>
</Properties>
</file>