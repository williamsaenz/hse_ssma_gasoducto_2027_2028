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1"/>
  </p:notesMasterIdLst>
  <p:sldIdLst>
    <p:sldId id="2146850440" r:id="rId2"/>
    <p:sldId id="2146850441" r:id="rId3"/>
    <p:sldId id="2146850420" r:id="rId4"/>
    <p:sldId id="2146850547" r:id="rId5"/>
    <p:sldId id="2146850549" r:id="rId7"/>
    <p:sldId id="2146850482" r:id="rId9"/>
    <p:sldId id="214685054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orient="horz" pos="2296" userDrawn="1">
          <p15:clr>
            <a:srgbClr val="A4A3A4"/>
          </p15:clr>
        </p15:guide>
        <p15:guide id="8" pos="5556" userDrawn="1">
          <p15:clr>
            <a:srgbClr val="A4A3A4"/>
          </p15:clr>
        </p15:guide>
        <p15:guide id="10" pos="1610" userDrawn="1">
          <p15:clr>
            <a:srgbClr val="A4A3A4"/>
          </p15:clr>
        </p15:guide>
        <p15:guide id="11" pos="2835" userDrawn="1">
          <p15:clr>
            <a:srgbClr val="A4A3A4"/>
          </p15:clr>
        </p15:guide>
        <p15:guide id="12" orient="horz" pos="3974" userDrawn="1">
          <p15:clr>
            <a:srgbClr val="A4A3A4"/>
          </p15:clr>
        </p15:guide>
        <p15:guide id="13" orient="horz" pos="913" userDrawn="1">
          <p15:clr>
            <a:srgbClr val="A4A3A4"/>
          </p15:clr>
        </p15:guide>
        <p15:guide id="14" pos="2971" userDrawn="1">
          <p15:clr>
            <a:srgbClr val="A4A3A4"/>
          </p15:clr>
        </p15:guide>
        <p15:guide id="15" pos="4195" userDrawn="1">
          <p15:clr>
            <a:srgbClr val="A4A3A4"/>
          </p15:clr>
        </p15:guide>
        <p15:guide id="16" pos="4309" userDrawn="1">
          <p15:clr>
            <a:srgbClr val="A4A3A4"/>
          </p15:clr>
        </p15:guide>
        <p15:guide id="17" pos="1474" userDrawn="1">
          <p15:clr>
            <a:srgbClr val="A4A3A4"/>
          </p15:clr>
        </p15:guide>
        <p15:guide id="18" pos="2018" userDrawn="1">
          <p15:clr>
            <a:srgbClr val="A4A3A4"/>
          </p15:clr>
        </p15:guide>
        <p15:guide id="19" pos="3765" userDrawn="1">
          <p15:clr>
            <a:srgbClr val="A4A3A4"/>
          </p15:clr>
        </p15:guide>
        <p15:guide id="20" pos="43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52273E-B549-4598-CCB8-47D6EE151A5F}" name="Evangelista, Marcelo" initials="ME" userId="S::Marcelo.Evangelista@southern-nrg.com::ea0ef0f1-05f0-4822-8944-e14182da227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nzalo Echevarria" initials="GE" lastIdx="6" clrIdx="0">
    <p:extLst>
      <p:ext uri="{19B8F6BF-5375-455C-9EA6-DF929625EA0E}">
        <p15:presenceInfo xmlns:p15="http://schemas.microsoft.com/office/powerpoint/2012/main" userId="Gonzalo Echevarr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EC"/>
    <a:srgbClr val="03CB35"/>
    <a:srgbClr val="0000FF"/>
    <a:srgbClr val="007882"/>
    <a:srgbClr val="EFFE5E"/>
    <a:srgbClr val="CBDD00"/>
    <a:srgbClr val="00C535"/>
    <a:srgbClr val="00BB42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0436" autoAdjust="0"/>
  </p:normalViewPr>
  <p:slideViewPr>
    <p:cSldViewPr snapToGrid="0" showGuides="1">
      <p:cViewPr varScale="1">
        <p:scale>
          <a:sx n="102" d="100"/>
          <a:sy n="102" d="100"/>
        </p:scale>
        <p:origin x="1644" y="102"/>
      </p:cViewPr>
      <p:guideLst>
        <p:guide orient="horz" pos="2840"/>
        <p:guide pos="249"/>
        <p:guide orient="horz" pos="346"/>
        <p:guide orient="horz" pos="686"/>
        <p:guide orient="horz" pos="3045"/>
        <p:guide orient="horz" pos="2296"/>
        <p:guide pos="5556"/>
        <p:guide pos="1610"/>
        <p:guide pos="2835"/>
        <p:guide orient="horz" pos="3974"/>
        <p:guide orient="horz" pos="913"/>
        <p:guide pos="2971"/>
        <p:guide pos="4195"/>
        <p:guide pos="4309"/>
        <p:guide pos="1474"/>
        <p:guide pos="2018"/>
        <p:guide pos="3765"/>
        <p:guide pos="43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 (left axis)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34F-4ACD-BA87-51A8DBE43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Frequency (right axis)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0.##" sourceLinked="0"/>
            <c:spPr>
              <a:noFill/>
            </c:spPr>
            <c:txPr>
              <a:bodyPr/>
              <a:lstStyle/>
              <a:p>
                <a:pPr>
                  <a:defRPr sz="8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4F-4ACD-BA87-51A8DBE43D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(right axis)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dash"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C62828"/>
                        </a:solidFill>
                      </a:defRPr>
                    </a:pPr>
                    <a:r>
                      <a:rPr lang="en-US" dirty="0"/>
                      <a:t>2.35 (3</a:t>
                    </a:r>
                    <a:r>
                      <a:rPr lang="en-US" baseline="0" dirty="0"/>
                      <a:t> events)</a:t>
                    </a:r>
                  </a:p>
                </c:rich>
              </c:tx>
              <c:numFmt formatCode="0.##" sourceLinked="0"/>
              <c:spPr>
                <a:noFill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353864734299517"/>
                      <c:h val="0.1177191866168243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F34F-4ACD-BA87-51A8DBE43D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2.35</c:v>
                </c:pt>
                <c:pt idx="1">
                  <c:v>2.35</c:v>
                </c:pt>
                <c:pt idx="2">
                  <c:v>2.35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4F-4ACD-BA87-51A8DBE43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 sz="700" b="0" noProof="0" dirty="0">
                    <a:latin typeface="Aptos"/>
                  </a:rPr>
                  <a:t>Cases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-2068027336"/>
        <c:crosses val="autoZero"/>
        <c:crossBetween val="between"/>
        <c:majorUnit val="1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3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700" b="0"/>
                </a:pPr>
                <a:r>
                  <a:rPr lang="en-GB" sz="700" b="0" noProof="0" dirty="0"/>
                  <a:t>Frequency</a:t>
                </a:r>
              </a:p>
            </c:rich>
          </c:tx>
          <c:overlay val="0"/>
        </c:title>
        <c:numFmt formatCode="0.##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 (left axis)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A61-4E28-A2BE-F9C63FFCA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Frequency (right axis)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0.##" sourceLinked="0"/>
            <c:spPr>
              <a:noFill/>
            </c:spPr>
            <c:txPr>
              <a:bodyPr/>
              <a:lstStyle/>
              <a:p>
                <a:pPr>
                  <a:defRPr sz="8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61-4E28-A2BE-F9C63FFCAA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(right axis)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dash"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C62828"/>
                        </a:solidFill>
                      </a:defRPr>
                    </a:pPr>
                    <a:r>
                      <a:rPr lang="en-US" dirty="0"/>
                      <a:t>0.79 (2</a:t>
                    </a:r>
                    <a:r>
                      <a:rPr lang="en-US" baseline="0" dirty="0"/>
                      <a:t> events)</a:t>
                    </a:r>
                    <a:endParaRPr lang="en-US" dirty="0"/>
                  </a:p>
                </c:rich>
              </c:tx>
              <c:numFmt formatCode="0.##" sourceLinked="0"/>
              <c:spPr>
                <a:noFill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675120772946858"/>
                      <c:h val="7.5631644529282324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8A61-4E28-A2BE-F9C63FFCA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August · 0 cases</c:v>
                </c:pt>
                <c:pt idx="1">
                  <c:v>September · 0 cases</c:v>
                </c:pt>
                <c:pt idx="2">
                  <c:v>October · pending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0.79</c:v>
                </c:pt>
                <c:pt idx="1">
                  <c:v>0.79</c:v>
                </c:pt>
                <c:pt idx="2">
                  <c:v>0.79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A61-4E28-A2BE-F9C63FFCA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GB" sz="700" b="0" noProof="0" dirty="0">
                    <a:latin typeface="Aptos"/>
                  </a:rPr>
                  <a:t>Cases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-2068027336"/>
        <c:crosses val="autoZero"/>
        <c:crossBetween val="between"/>
        <c:majorUnit val="1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700" b="0"/>
                </a:pPr>
                <a:r>
                  <a:rPr lang="en-GB" sz="700" b="0" noProof="0" dirty="0"/>
                  <a:t>Frequency</a:t>
                </a:r>
              </a:p>
            </c:rich>
          </c:tx>
          <c:overlay val="0"/>
        </c:title>
        <c:numFmt formatCode="0.##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7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02-4594-AC15-0581E82D7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7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102-4594-AC15-0581E82D7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4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F4-4233-BA4E-FB86BD994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4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4F4-4233-BA4E-FB86BD994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2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83-4333-8C7B-1929538D0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2</c:v>
                </c:pt>
                <c:pt idx="1">
                  <c:v>Sep · total 2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983-4333-8C7B-1929538D0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167</c:v>
                </c:pt>
                <c:pt idx="1">
                  <c:v>Sep · total 295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167</c:v>
                </c:pt>
                <c:pt idx="1">
                  <c:v>295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69E-4574-8138-D3BA43F1E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167</c:v>
                </c:pt>
                <c:pt idx="1">
                  <c:v>Sep · total 295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167</c:v>
                </c:pt>
                <c:pt idx="1">
                  <c:v>462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69E-4574-8138-D3BA43F1E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1,853</c:v>
                </c:pt>
                <c:pt idx="1">
                  <c:v>Sep · total 1,796</c:v>
                </c:pt>
                <c:pt idx="2">
                  <c:v>Oct · 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1853</c:v>
                </c:pt>
                <c:pt idx="1">
                  <c:v>1796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47-4A6C-84B6-55D9C8C76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Aug · total 1,853</c:v>
                </c:pt>
                <c:pt idx="1">
                  <c:v>Sep · total 1,796</c:v>
                </c:pt>
                <c:pt idx="2">
                  <c:v>Oct · pending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1853</c:v>
                </c:pt>
                <c:pt idx="1">
                  <c:v>3649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447-4A6C-84B6-55D9C8C76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27EAB-02EC-DF49-A3ED-D6B7405E2758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5ED3D-3D81-8B44-9A44-D30D8C104DB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718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REVISIÓN v02 — 27/10/2026. Se vuelve a la PPT original conservando sus gráficos y series. La v02 sustituye al borrador temático v01 como base vigente. El usuario confirma datos iguales y nuevas láminas de fotos/temas relevantes. Novedades pendientes de Leandro Doglio; no se recibieron fotografías reales. Fecha del comité conservada del original: 28/10/2026. No se ha emitido el informe.</a:t>
            </a:r>
          </a:p>
          <a:p/>
          <a:p>
            <a:r>
              <a:t>ENTREGA VIGENTE v05: basada en el archivo que el usuario volvió a adjuntar. Orden: seguridad gráficos, seguridad novedades, ambiente gráficos, ambiente novedades. Se conserva el 2.87% y todos los datos de gráficos. La lámina ambiental se completa sin recuadros de fotos. Esta entrega sigue siendo borrador: faltan novedades de seguridad, fotos de esa sección y actualización del helicóptero.</a:t>
            </a:r>
          </a:p>
          <a:p/>
          <a:p>
            <a:r>
              <a:t>CAMBIO VIGENTE v07: a pedido del usuario se retiran de esta PPT general los dos temas de permisos ambientales citados en su último mensaje. Se elimina la lámina narrativa que los contenía; se conservan los gráficos ambientales y todos sus valores. La presentación general queda en 8 láminas. Este cambio no modifica el estado real de los trámites ni implica aprobación o cierre de los temas omitidos.</a:t>
            </a:r>
          </a:p>
          <a:p/>
          <a:p>
            <a:r>
              <a:t>CAMBIO VIGENTE v08: el usuario también solicita omitir la lámina de indicadores ambientales de residuos y agua. Se elimina la antigua posición 6, además de la lámina narrativa ambiental retirada en v07. La entrega general actual tiene 7 láminas; conserva seguridad, capacitación 2.87%, novedades de seguridad pendientes y helicóptero.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HSE INDICATORS - TALKING POINTS (cut-off Oct 27, 2026; Oct figures pending data load)</a:t>
            </a:r>
          </a:p>
          <a:p/>
          <a:p>
            <a:r>
              <a:t>DAFWCF - Lost-time case frequency. Lost-time cases (DAFWC) x 10^6 / man-hours worked (HHT). Target 0. Aug-Sep: 0.</a:t>
            </a:r>
          </a:p>
          <a:p>
            <a:r>
              <a:t>TRICF - Total recordable case frequency. (FAT + DAFWC + MTC + RWC) x 10^6 / HHT. Target 2.35 (range 2.35-3.00). Aug-Sep: 0.00, within target.</a:t>
            </a:r>
          </a:p>
          <a:p>
            <a:r>
              <a:t>TVCR - Total vehicle accident rate. Work-related vehicle accidents x 10^6 / km travelled. Target 0.79 (range 0.79-2.00). Aug-Sep: 0.00, within target.</a:t>
            </a:r>
          </a:p>
          <a:p>
            <a:r>
              <a:t>FAC - First aid cases. Reported for visibility, no target. Aug-Sep: 0.</a:t>
            </a:r>
          </a:p>
          <a:p>
            <a:r>
              <a:t>HHT - Man-hours worked (denominator of TRICF/DAFWCF). Km driven - denominator of TVCR. Total workers - headcount in the month.</a:t>
            </a:r>
          </a:p>
          <a:p/>
          <a:p>
            <a:r>
              <a:t>How to read the charts: bars = number of cases (left axis); green line = frequency (right axis); red dashed line = target (right axis). Frequency below the dashed line means the indicator is within target.</a:t>
            </a:r>
          </a:p>
          <a:p>
            <a:r>
              <a:t>Pyramid (cumulative since Aug-26): FAT / DAFWC (top), MTC / RWC, FAC, incidents, and safety observations at the base. A wide base with an empty top is the expected profile: many proactive observations, no injuries.</a:t>
            </a:r>
          </a:p>
          <a:p>
            <a:r>
              <a:t>Pending for Oct-26: all values marked in red must be loaded in the Compressor Plant and Pipeline monthly workbooks before issuing.</a:t>
            </a:r>
          </a:p>
          <a:p/>
          <a:p>
            <a:r>
              <a:t>ANTECEDENTES SIN FECHA (texto original trasladado por legibilidad):</a:t>
            </a:r>
          </a:p>
          <a:p>
            <a:r>
              <a:t>Road Traffic Accident Drill conducted on National Route N3.</a:t>
            </a:r>
          </a:p>
          <a:p>
            <a:r>
              <a:t>Work Programs implemented for the transportation of pipelines from the port to the construction site.</a:t>
            </a:r>
          </a:p>
          <a:p>
            <a:r>
              <a:t>No atribuir estos hechos a octubre sin confirmación de fecha y alcance.</a:t>
            </a:r>
          </a:p>
          <a:p/>
          <a:p>
            <a:r>
              <a:t>FORMATO: 3.00 se muestra como 3; 2.00 como 2; 0.00 como 0. 2.35 y 0.79 se conservan porque son valores fraccionarios, no ceros de formato. No cambian las metas ni los datos. Se mantiene pendiente aclarar los rangos 2.35–3 y 0.79–2 frente a las metas de línea 2.35 y 0.79. Los históricos agosto–septiembre no pasan a ser resultados de octubre. Guion: DAFWCF = casos con días perdidos × 10^6/HHT; TRICF = casos registrables × 10^6/HHT; TVCR = accidentes vehiculares laborales × 10^6/km. FAC es conteo de primeros auxilios. Consolidar sumando numeradores y exposición; no promediar tasas.</a:t>
            </a:r>
          </a:p>
          <a:p/>
          <a:p>
            <a:r>
              <a:t>ACLARACIÓN VIGENTE: estadísticas al 30/09; novedades de octubre en láminas separadas. No se exige cargar nuevas cifras de octubre para esta etapa. Se conserva 2.87% de capacitación. Los campos de octubre vacíos de la estructura no son cero ni permiten inferir ausencia de incidentes.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PROACTIVE ACTIONS - TALKING POINTS</a:t>
            </a:r>
          </a:p>
          <a:p>
            <a:r>
              <a:t>Management safety walks, safety campaigns and drills: bars = monthly total, line = cumulative since Aug-26. Drills target: 100% of those programmed.</a:t>
            </a:r>
          </a:p>
          <a:p>
            <a:r>
              <a:t>Observations (OCS): safe-behaviour observations recorded in the month. Training hours (HHS): safety training man-hours; the Training % vs HHT card shows HHS / HHT, target &gt;= 1.00%.</a:t>
            </a:r>
          </a:p>
          <a:p>
            <a:r>
              <a:t>October bars remain pending. The training card displays 2.87%, as explicitly supplied by the user in the reference screenshot.</a:t>
            </a:r>
          </a:p>
          <a:p/>
          <a:p>
            <a:r>
              <a:t>La nueva lámina de seguridad con espacios para fotos y novedades de octubre va inmediatamente después de esta lámina de barras. Los gráficos y sus valores no se actualizan. Simulacros: meta 100% de los programados exigibles al corte; el conteo por sí solo no demuestra cumplimiento. Capacitación: (HHS/HHT) ×100, meta de la fuente ≥1%. No se requiere carga de datos en esta fase temática.</a:t>
            </a:r>
          </a:p>
          <a:p/>
          <a:p>
            <a:r>
              <a:t>ACTUALIZACIÓN DEL USUARIO: conservar 2.87% en Training % vs HHT, según el segundo pantallazo. Valor transcrito de la referencia recibida; no recalculado con HHS/HHT. Meta visible conservada: ≥1%. Los demás gráficos y pendientes se mantienen.</a:t>
            </a:r>
          </a:p>
          <a:p/>
          <a:p>
            <a:r>
              <a:t>ACLARACIÓN VIGENTE: estadísticas al 30/09; novedades de octubre en láminas separadas. No se exige cargar nuevas cifras de octubre para esta etapa. Se conserva 2.87% de capacitación. Los campos de octubre vacíos de la estructura no son cero ni permiten inferir ausencia de incidentes.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NUEVA LÁMINA solicitada por el usuario a partir del comentario del jefe. Es una plantilla: no hay fotos reales ni novedades nuevas recibidas. Sustituir los recuadros por fotografías auténticas de octubre y completar fecha, lugar y actividad. No generar imágenes que aparenten evidencia de obra. Las novedades están pendientes de Leandro Doglio. La aclaración vigente es temas relevantes y datos iguales, sin exigir actualización de cifras. Describir hecho confirmado, relevancia y próximo paso. En seguridad, RN3 y programas de transporte pueden servir como antecedentes solo si se confirma su fecha; en ambiente no se informaron actividades específicas. No convertir sugerencias en hechos ejecutados.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afirmaciones sobre contratos regionales y contexto laboral son antecedentes de la fuente, no verificaciones nuevas. MODENA está citada como prestador, no como auditora. La utilización histórica no acredita por sí sola capacidad o disponibilidad de respuesta. Validar la información aplicable antes de emitir, sin inventar avances.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311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035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498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54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547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82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278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381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647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977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75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0793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DCE62-483B-394E-B72D-EEF7967B97F0}" type="datetimeFigureOut">
              <a:rPr lang="es-AR" smtClean="0"/>
              <a:t>27/10/2026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9042BED-D80E-F505-2533-9CF540CC603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7700963" y="63500"/>
            <a:ext cx="1404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YPF-Público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26E82E-B60C-0364-A377-5588458FF4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00963" y="6642100"/>
            <a:ext cx="1404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YPF-Público</a:t>
            </a:r>
          </a:p>
        </p:txBody>
      </p:sp>
    </p:spTree>
    <p:extLst>
      <p:ext uri="{BB962C8B-B14F-4D97-AF65-F5344CB8AC3E}">
        <p14:creationId xmlns:p14="http://schemas.microsoft.com/office/powerpoint/2010/main" val="33181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emf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emf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Relationship Id="rId8" Type="http://schemas.openxmlformats.org/officeDocument/2006/relationships/chart" Target="../charts/char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emf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77D12DC-A94E-1D48-830B-77CD72222BF6}"/>
              </a:ext>
            </a:extLst>
          </p:cNvPr>
          <p:cNvSpPr/>
          <p:nvPr/>
        </p:nvSpPr>
        <p:spPr>
          <a:xfrm rot="5400000">
            <a:off x="839581" y="-839587"/>
            <a:ext cx="7481455" cy="9160629"/>
          </a:xfrm>
          <a:prstGeom prst="rect">
            <a:avLst/>
          </a:prstGeom>
          <a:solidFill>
            <a:srgbClr val="3709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13EF5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15D585-FE8E-EA4E-B4EC-ED87EC19A5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6" y="5548744"/>
            <a:ext cx="5685912" cy="2015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E2FAC0C-4F42-9344-92EE-79D85E878C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5685904" y="5548744"/>
            <a:ext cx="3474717" cy="2015838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9566807F-83FD-1A4D-9424-886300E93201}"/>
              </a:ext>
            </a:extLst>
          </p:cNvPr>
          <p:cNvSpPr txBox="1"/>
          <p:nvPr/>
        </p:nvSpPr>
        <p:spPr>
          <a:xfrm>
            <a:off x="297100" y="472000"/>
            <a:ext cx="29056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100" noProof="0" dirty="0">
                <a:solidFill>
                  <a:schemeClr val="bg1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OCTOBER 28</a:t>
            </a:r>
            <a:r>
              <a:rPr lang="en-GB" sz="900" spc="100" baseline="30000" noProof="0" dirty="0">
                <a:solidFill>
                  <a:schemeClr val="bg1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GB" sz="900" spc="100" noProof="0" dirty="0">
                <a:solidFill>
                  <a:schemeClr val="bg1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, 2026</a:t>
            </a:r>
            <a:endParaRPr lang="en-GB" sz="900" spc="100" baseline="30000" noProof="0" dirty="0">
              <a:solidFill>
                <a:schemeClr val="bg1"/>
              </a:solidFill>
              <a:latin typeface="Aptos Light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F24F8F8-D8EA-2C4A-868E-5B58C994A5EB}"/>
              </a:ext>
            </a:extLst>
          </p:cNvPr>
          <p:cNvSpPr txBox="1"/>
          <p:nvPr/>
        </p:nvSpPr>
        <p:spPr>
          <a:xfrm>
            <a:off x="297099" y="3053186"/>
            <a:ext cx="8566451" cy="186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6600" b="1" noProof="0" dirty="0">
                <a:solidFill>
                  <a:schemeClr val="bg1"/>
                </a:solidFill>
                <a:latin typeface="Aptos ExtraBold" panose="020B0004020202020204" pitchFamily="34" charset="0"/>
              </a:rPr>
              <a:t>San Matías Pipeline</a:t>
            </a:r>
          </a:p>
          <a:p>
            <a:pPr>
              <a:lnSpc>
                <a:spcPts val="7220"/>
              </a:lnSpc>
            </a:pPr>
            <a:r>
              <a:rPr lang="en-GB" sz="4400" noProof="0" dirty="0">
                <a:solidFill>
                  <a:schemeClr val="bg1"/>
                </a:solidFill>
                <a:latin typeface="Aptos Light" panose="020B0004020202020204" pitchFamily="34" charset="0"/>
              </a:rPr>
              <a:t>Technical Committee Meeting N°5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43506B7-9DDE-D244-806F-FC02701AA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903" y="244233"/>
            <a:ext cx="738436" cy="520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A8ADFC4-2BD6-A44C-AE82-EB0B4ECD404D}"/>
              </a:ext>
            </a:extLst>
          </p:cNvPr>
          <p:cNvSpPr/>
          <p:nvPr/>
        </p:nvSpPr>
        <p:spPr>
          <a:xfrm rot="5400000">
            <a:off x="3901637" y="1687949"/>
            <a:ext cx="1419099" cy="9222377"/>
          </a:xfrm>
          <a:prstGeom prst="rect">
            <a:avLst/>
          </a:prstGeom>
          <a:solidFill>
            <a:srgbClr val="3709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13EF5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AB0C042-B1E3-7643-903A-112B2E707573}"/>
              </a:ext>
            </a:extLst>
          </p:cNvPr>
          <p:cNvSpPr txBox="1"/>
          <p:nvPr/>
        </p:nvSpPr>
        <p:spPr>
          <a:xfrm rot="16200000">
            <a:off x="266486" y="5597901"/>
            <a:ext cx="8482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6000" noProof="0" dirty="0">
                <a:solidFill>
                  <a:schemeClr val="bg1"/>
                </a:solidFill>
                <a:latin typeface="Aptos Light" panose="020B0004020202020204" pitchFamily="34" charset="0"/>
              </a:rPr>
              <a:t>AGENDA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3E4F80C-4187-3944-BE79-A449AD251467}"/>
              </a:ext>
            </a:extLst>
          </p:cNvPr>
          <p:cNvSpPr txBox="1"/>
          <p:nvPr/>
        </p:nvSpPr>
        <p:spPr>
          <a:xfrm>
            <a:off x="1210199" y="714256"/>
            <a:ext cx="8305276" cy="89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7220"/>
              </a:lnSpc>
              <a:defRPr sz="3200">
                <a:solidFill>
                  <a:srgbClr val="013EF5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GB" noProof="0" dirty="0"/>
              <a:t>1 &gt; DEDICATED GAS PIPELINE UPDATE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1CB6108-5EE0-F548-B2F0-8272F7375575}"/>
              </a:ext>
            </a:extLst>
          </p:cNvPr>
          <p:cNvSpPr txBox="1"/>
          <p:nvPr/>
        </p:nvSpPr>
        <p:spPr>
          <a:xfrm>
            <a:off x="1210200" y="2889672"/>
            <a:ext cx="9044868" cy="92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2 &gt; PERMITS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E1B56DB-D606-1C4D-8705-3878D31CCD3C}"/>
              </a:ext>
            </a:extLst>
          </p:cNvPr>
          <p:cNvSpPr txBox="1"/>
          <p:nvPr/>
        </p:nvSpPr>
        <p:spPr>
          <a:xfrm>
            <a:off x="2294470" y="1612772"/>
            <a:ext cx="430551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rgbClr val="0D49F1"/>
              </a:buClr>
            </a:pPr>
            <a:r>
              <a:rPr lang="en-GB" sz="2000" noProof="0" dirty="0">
                <a:solidFill>
                  <a:srgbClr val="013EF5"/>
                </a:solidFill>
                <a:latin typeface="Aptos" panose="020B0004020202020204" pitchFamily="34" charset="0"/>
              </a:rPr>
              <a:t>1.1 &gt; </a:t>
            </a:r>
            <a:r>
              <a:rPr lang="en-GB" sz="2000" noProof="0" dirty="0">
                <a:latin typeface="Aptos" panose="020B0004020202020204" pitchFamily="34" charset="0"/>
              </a:rPr>
              <a:t>HSE Indicators</a:t>
            </a:r>
          </a:p>
          <a:p>
            <a:pPr marL="0" lvl="1">
              <a:buClr>
                <a:srgbClr val="0D49F1"/>
              </a:buClr>
            </a:pP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1.2 &gt; </a:t>
            </a:r>
            <a:r>
              <a:rPr lang="en-GB" sz="2000" noProof="0" dirty="0">
                <a:latin typeface="Aptos" panose="020B0004020202020204" pitchFamily="34" charset="0"/>
              </a:rPr>
              <a:t>Schedule</a:t>
            </a:r>
          </a:p>
          <a:p>
            <a:pPr marL="0" lvl="1">
              <a:buClr>
                <a:srgbClr val="0D49F1"/>
              </a:buClr>
            </a:pP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1.3 &gt; </a:t>
            </a:r>
            <a:r>
              <a:rPr lang="en-GB" sz="2000" dirty="0">
                <a:latin typeface="Aptos" panose="020B0004020202020204" pitchFamily="34" charset="0"/>
              </a:rPr>
              <a:t>Project’s Key Milestones</a:t>
            </a:r>
          </a:p>
          <a:p>
            <a:pPr marL="0" lvl="1">
              <a:buClr>
                <a:srgbClr val="0D49F1"/>
              </a:buClr>
            </a:pP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1.4 &gt; </a:t>
            </a:r>
            <a:r>
              <a:rPr lang="en-GB" sz="2000" dirty="0">
                <a:latin typeface="Aptos" panose="020B0004020202020204" pitchFamily="34" charset="0"/>
              </a:rPr>
              <a:t>Project Progress</a:t>
            </a:r>
            <a:r>
              <a:rPr lang="en-GB" sz="2000" dirty="0">
                <a:solidFill>
                  <a:srgbClr val="013EF5"/>
                </a:solidFill>
                <a:latin typeface="Aptos" panose="020B0004020202020204" pitchFamily="34" charset="0"/>
              </a:rPr>
              <a:t>	</a:t>
            </a: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BE374E7-DFC7-F04D-9802-7DFCBBB3972E}"/>
              </a:ext>
            </a:extLst>
          </p:cNvPr>
          <p:cNvSpPr txBox="1"/>
          <p:nvPr/>
        </p:nvSpPr>
        <p:spPr>
          <a:xfrm>
            <a:off x="266485" y="5605269"/>
            <a:ext cx="4806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 b="1" noProof="0" dirty="0">
                <a:solidFill>
                  <a:schemeClr val="bg1"/>
                </a:solidFill>
                <a:latin typeface="Aptos ExtraBold" panose="020B0004020202020204" pitchFamily="34" charset="0"/>
              </a:rPr>
              <a:t>Agenda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94889B-C90B-879D-BF18-244A03872A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D2B2C82-6356-8D62-DF13-C7AEF8CCC456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D308EA5-F80F-B97B-08A6-F3C0C498FBA6}"/>
              </a:ext>
            </a:extLst>
          </p:cNvPr>
          <p:cNvSpPr txBox="1"/>
          <p:nvPr/>
        </p:nvSpPr>
        <p:spPr>
          <a:xfrm>
            <a:off x="1210200" y="3414431"/>
            <a:ext cx="9044868" cy="92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20"/>
              </a:lnSpc>
            </a:pP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3 &gt; HELICOPTER SERVICE (</a:t>
            </a:r>
            <a:r>
              <a:rPr lang="en-GB" sz="3200" dirty="0">
                <a:solidFill>
                  <a:srgbClr val="013EF5"/>
                </a:solidFill>
                <a:latin typeface="Aptos Light" panose="020B0004020202020204" pitchFamily="34" charset="0"/>
              </a:rPr>
              <a:t>Update</a:t>
            </a:r>
            <a:r>
              <a:rPr lang="en-GB" sz="32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6601968"/>
            <a:ext cx="438912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650" b="0">
                <a:solidFill>
                  <a:srgbClr val="68717D"/>
                </a:solidFill>
                <a:latin typeface="DejaVu Sans"/>
              </a:defRPr>
            </a:pPr>
            <a:r>
              <a:t>WORKING DRAFT · 27 OCT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6556248"/>
            <a:ext cx="27432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8717D"/>
                </a:solidFill>
                <a:latin typeface="DejaVu San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943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1B41-9D7A-3C2A-C9D8-0DBFB120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012ED27-D616-13ED-A16A-D47D2DDFDE0B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5BA9931-EC90-D556-037A-524AD3CCAF2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</a:t>
            </a:r>
            <a:r>
              <a:rPr lang="en-GB" sz="1800" b="1" dirty="0">
                <a:solidFill>
                  <a:srgbClr val="013EF5"/>
                </a:solidFill>
                <a:latin typeface="Aptos" panose="020B0004020202020204" pitchFamily="34" charset="0"/>
              </a:rPr>
              <a:t>1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HSE Indicators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05AE7A-7C8D-80CF-214B-A6C328DC4B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72DCA57-5DD6-4F16-3B2C-1623E21647ED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08" name="TextBox 12">
            <a:extLst>
              <a:ext uri="{FF2B5EF4-FFF2-40B4-BE49-F238E27FC236}">
                <a16:creationId xmlns:a16="http://schemas.microsoft.com/office/drawing/2014/main" id="{432B1FAB-4F6A-7812-5181-6D4E2E0BF37A}"/>
              </a:ext>
            </a:extLst>
          </p:cNvPr>
          <p:cNvSpPr txBox="1"/>
          <p:nvPr/>
        </p:nvSpPr>
        <p:spPr>
          <a:xfrm>
            <a:off x="391705" y="851445"/>
            <a:ext cx="85953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900" b="0" i="0" noProof="0" dirty="0">
                <a:solidFill>
                  <a:srgbClr val="68717D"/>
                </a:solidFill>
                <a:latin typeface="Aptos"/>
              </a:rPr>
              <a:t>Statistics through 30 Sep 2026 · CP + Pipeline · October highlights reported separately</a:t>
            </a:r>
            <a:r>
              <a:rPr lang="en-GB" sz="900" b="0" i="0" noProof="0" dirty="0">
                <a:solidFill>
                  <a:srgbClr val="68717D"/>
                </a:solidFill>
                <a:latin typeface="Aptos"/>
              </a:rPr>
              <a:t/>
            </a:r>
          </a:p>
        </p:txBody>
      </p:sp>
      <p:sp>
        <p:nvSpPr>
          <p:cNvPr id="309" name="Rectangle 13">
            <a:extLst>
              <a:ext uri="{FF2B5EF4-FFF2-40B4-BE49-F238E27FC236}">
                <a16:creationId xmlns:a16="http://schemas.microsoft.com/office/drawing/2014/main" id="{982F2D75-DF9C-349E-AB75-76AFBBC31524}"/>
              </a:ext>
            </a:extLst>
          </p:cNvPr>
          <p:cNvSpPr/>
          <p:nvPr/>
        </p:nvSpPr>
        <p:spPr>
          <a:xfrm>
            <a:off x="391705" y="1089189"/>
            <a:ext cx="419768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0" name="Rectangle 14">
            <a:extLst>
              <a:ext uri="{FF2B5EF4-FFF2-40B4-BE49-F238E27FC236}">
                <a16:creationId xmlns:a16="http://schemas.microsoft.com/office/drawing/2014/main" id="{E261C013-D5E4-0D26-A0A5-06B94D034046}"/>
              </a:ext>
            </a:extLst>
          </p:cNvPr>
          <p:cNvSpPr/>
          <p:nvPr/>
        </p:nvSpPr>
        <p:spPr>
          <a:xfrm>
            <a:off x="391705" y="1089189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1" name="TextBox 15">
            <a:extLst>
              <a:ext uri="{FF2B5EF4-FFF2-40B4-BE49-F238E27FC236}">
                <a16:creationId xmlns:a16="http://schemas.microsoft.com/office/drawing/2014/main" id="{2406B7B1-B4A2-9E0D-A2A3-2FA0CF50D520}"/>
              </a:ext>
            </a:extLst>
          </p:cNvPr>
          <p:cNvSpPr txBox="1"/>
          <p:nvPr/>
        </p:nvSpPr>
        <p:spPr>
          <a:xfrm>
            <a:off x="483145" y="1107477"/>
            <a:ext cx="408795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800" b="1" i="0" noProof="0" dirty="0">
                <a:solidFill>
                  <a:srgbClr val="6B7280"/>
                </a:solidFill>
                <a:latin typeface="Aptos"/>
              </a:rPr>
              <a:t>TRICF Frequency</a:t>
            </a:r>
          </a:p>
        </p:txBody>
      </p:sp>
      <p:sp>
        <p:nvSpPr>
          <p:cNvPr id="312" name="TextBox 16">
            <a:extLst>
              <a:ext uri="{FF2B5EF4-FFF2-40B4-BE49-F238E27FC236}">
                <a16:creationId xmlns:a16="http://schemas.microsoft.com/office/drawing/2014/main" id="{A16E4164-D038-E004-A99F-B3F12C72ABC2}"/>
              </a:ext>
            </a:extLst>
          </p:cNvPr>
          <p:cNvSpPr txBox="1"/>
          <p:nvPr/>
        </p:nvSpPr>
        <p:spPr>
          <a:xfrm>
            <a:off x="483145" y="1290357"/>
            <a:ext cx="40879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2000" b="1" i="0" noProof="0" dirty="0">
                <a:solidFill>
                  <a:srgbClr val="013EF5"/>
                </a:solidFill>
                <a:latin typeface="Aptos"/>
              </a:rPr>
              <a:t>0</a:t>
            </a:r>
          </a:p>
        </p:txBody>
      </p:sp>
      <p:sp>
        <p:nvSpPr>
          <p:cNvPr id="313" name="TextBox 17">
            <a:extLst>
              <a:ext uri="{FF2B5EF4-FFF2-40B4-BE49-F238E27FC236}">
                <a16:creationId xmlns:a16="http://schemas.microsoft.com/office/drawing/2014/main" id="{FB330628-B996-AACC-C208-E46F35C068E6}"/>
              </a:ext>
            </a:extLst>
          </p:cNvPr>
          <p:cNvSpPr txBox="1"/>
          <p:nvPr/>
        </p:nvSpPr>
        <p:spPr>
          <a:xfrm>
            <a:off x="483145" y="1637829"/>
            <a:ext cx="4087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8717D"/>
                </a:solidFill>
                <a:latin typeface="Aptos"/>
              </a:rPr>
              <a:t>Cum. Aug–Sep · target 2.35</a:t>
            </a:r>
            <a:br/>
            <a:r>
              <a:rPr sz="750">
                <a:solidFill>
                  <a:srgbClr val="68717D"/>
                </a:solidFill>
                <a:latin typeface="Aptos"/>
              </a:rPr>
              <a:t>Through 30 Sep 2026</a:t>
            </a:r>
          </a:p>
        </p:txBody>
      </p:sp>
      <p:sp>
        <p:nvSpPr>
          <p:cNvPr id="314" name="Rectangle 18">
            <a:extLst>
              <a:ext uri="{FF2B5EF4-FFF2-40B4-BE49-F238E27FC236}">
                <a16:creationId xmlns:a16="http://schemas.microsoft.com/office/drawing/2014/main" id="{AEA93BC8-49B1-34FA-F73E-EED27B06E1DD}"/>
              </a:ext>
            </a:extLst>
          </p:cNvPr>
          <p:cNvSpPr/>
          <p:nvPr/>
        </p:nvSpPr>
        <p:spPr>
          <a:xfrm>
            <a:off x="4789385" y="1089189"/>
            <a:ext cx="419768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5" name="Rectangle 19">
            <a:extLst>
              <a:ext uri="{FF2B5EF4-FFF2-40B4-BE49-F238E27FC236}">
                <a16:creationId xmlns:a16="http://schemas.microsoft.com/office/drawing/2014/main" id="{6B4841DD-EE04-D73E-2E33-D1179A9416A1}"/>
              </a:ext>
            </a:extLst>
          </p:cNvPr>
          <p:cNvSpPr/>
          <p:nvPr/>
        </p:nvSpPr>
        <p:spPr>
          <a:xfrm>
            <a:off x="4789385" y="1089189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6" name="TextBox 20">
            <a:extLst>
              <a:ext uri="{FF2B5EF4-FFF2-40B4-BE49-F238E27FC236}">
                <a16:creationId xmlns:a16="http://schemas.microsoft.com/office/drawing/2014/main" id="{3AB03E7B-EF38-90A4-FA99-F82427D1C6E7}"/>
              </a:ext>
            </a:extLst>
          </p:cNvPr>
          <p:cNvSpPr txBox="1"/>
          <p:nvPr/>
        </p:nvSpPr>
        <p:spPr>
          <a:xfrm>
            <a:off x="4880825" y="1107477"/>
            <a:ext cx="408795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800" b="1" i="0" noProof="0" dirty="0">
                <a:solidFill>
                  <a:srgbClr val="6B7280"/>
                </a:solidFill>
                <a:latin typeface="Aptos"/>
              </a:rPr>
              <a:t>TVCR Frequency</a:t>
            </a:r>
          </a:p>
        </p:txBody>
      </p:sp>
      <p:sp>
        <p:nvSpPr>
          <p:cNvPr id="317" name="TextBox 21">
            <a:extLst>
              <a:ext uri="{FF2B5EF4-FFF2-40B4-BE49-F238E27FC236}">
                <a16:creationId xmlns:a16="http://schemas.microsoft.com/office/drawing/2014/main" id="{50A78C86-7488-F971-49F4-E1884B229777}"/>
              </a:ext>
            </a:extLst>
          </p:cNvPr>
          <p:cNvSpPr txBox="1"/>
          <p:nvPr/>
        </p:nvSpPr>
        <p:spPr>
          <a:xfrm>
            <a:off x="4880825" y="1290357"/>
            <a:ext cx="40879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2000" b="1" i="0" noProof="0" dirty="0">
                <a:solidFill>
                  <a:srgbClr val="013EF5"/>
                </a:solidFill>
                <a:latin typeface="Aptos"/>
              </a:rPr>
              <a:t>0</a:t>
            </a:r>
          </a:p>
        </p:txBody>
      </p:sp>
      <p:sp>
        <p:nvSpPr>
          <p:cNvPr id="318" name="TextBox 22">
            <a:extLst>
              <a:ext uri="{FF2B5EF4-FFF2-40B4-BE49-F238E27FC236}">
                <a16:creationId xmlns:a16="http://schemas.microsoft.com/office/drawing/2014/main" id="{66400441-BD98-14B4-DF79-5611E8E0A851}"/>
              </a:ext>
            </a:extLst>
          </p:cNvPr>
          <p:cNvSpPr txBox="1"/>
          <p:nvPr/>
        </p:nvSpPr>
        <p:spPr>
          <a:xfrm>
            <a:off x="4880825" y="1637829"/>
            <a:ext cx="4087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8717D"/>
                </a:solidFill>
                <a:latin typeface="Aptos"/>
              </a:rPr>
              <a:t>Cum. Aug–Sep · target 0.79</a:t>
            </a:r>
            <a:br/>
            <a:r>
              <a:rPr sz="750">
                <a:solidFill>
                  <a:srgbClr val="68717D"/>
                </a:solidFill>
                <a:latin typeface="Aptos"/>
              </a:rPr>
              <a:t>Through 30 Sep 2026</a:t>
            </a:r>
          </a:p>
        </p:txBody>
      </p:sp>
      <p:sp>
        <p:nvSpPr>
          <p:cNvPr id="334" name="TextBox 42">
            <a:extLst>
              <a:ext uri="{FF2B5EF4-FFF2-40B4-BE49-F238E27FC236}">
                <a16:creationId xmlns:a16="http://schemas.microsoft.com/office/drawing/2014/main" id="{6ED1FBF3-0714-96CD-28B6-42ABA007D56E}"/>
              </a:ext>
            </a:extLst>
          </p:cNvPr>
          <p:cNvSpPr txBox="1"/>
          <p:nvPr/>
        </p:nvSpPr>
        <p:spPr>
          <a:xfrm>
            <a:off x="1468118" y="2046226"/>
            <a:ext cx="21459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800" b="1" i="0" noProof="0" dirty="0">
                <a:solidFill>
                  <a:srgbClr val="013EF5"/>
                </a:solidFill>
                <a:latin typeface="Aptos"/>
              </a:rPr>
              <a:t>Cumulative to 30 Sep 2026</a:t>
            </a:r>
            <a:r>
              <a:rPr lang="en-GB" sz="800" b="1" i="0" noProof="0" dirty="0">
                <a:solidFill>
                  <a:srgbClr val="FF0000"/>
                </a:solidFill>
                <a:latin typeface="Aptos"/>
              </a:rPr>
              <a:t/>
            </a:r>
          </a:p>
        </p:txBody>
      </p:sp>
      <p:sp>
        <p:nvSpPr>
          <p:cNvPr id="335" name="TextBox 63">
            <a:extLst>
              <a:ext uri="{FF2B5EF4-FFF2-40B4-BE49-F238E27FC236}">
                <a16:creationId xmlns:a16="http://schemas.microsoft.com/office/drawing/2014/main" id="{A118BB3E-616F-ACE6-6BDA-5D3FC3962CA8}"/>
              </a:ext>
            </a:extLst>
          </p:cNvPr>
          <p:cNvSpPr txBox="1"/>
          <p:nvPr/>
        </p:nvSpPr>
        <p:spPr>
          <a:xfrm>
            <a:off x="5603785" y="2220478"/>
            <a:ext cx="26060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013EF5"/>
                </a:solidFill>
                <a:latin typeface="Aptos"/>
              </a:rPr>
              <a:t>October KPIs · figures not provided</a:t>
            </a:r>
          </a:p>
        </p:txBody>
      </p:sp>
      <p:graphicFrame>
        <p:nvGraphicFramePr>
          <p:cNvPr id="336" name="Table 64">
            <a:extLst>
              <a:ext uri="{FF2B5EF4-FFF2-40B4-BE49-F238E27FC236}">
                <a16:creationId xmlns:a16="http://schemas.microsoft.com/office/drawing/2014/main" id="{BB9C8609-A565-9F3D-EF97-3EADB3BD7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19814"/>
              </p:ext>
            </p:extLst>
          </p:nvPr>
        </p:nvGraphicFramePr>
        <p:xfrm>
          <a:off x="5603785" y="2439934"/>
          <a:ext cx="2606040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FFFFFF"/>
                          </a:solidFill>
                          <a:latin typeface="Aptos"/>
                        </a:rPr>
                        <a:t>KPI</a:t>
                      </a:r>
                    </a:p>
                  </a:txBody>
                  <a:tcPr marL="45720" marR="45720" marT="18288" marB="18288" anchor="ctr">
                    <a:solidFill>
                      <a:srgbClr val="013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i="0" noProof="0" dirty="0">
                          <a:solidFill>
                            <a:srgbClr val="FFFFFF"/>
                          </a:solidFill>
                          <a:latin typeface="Aptos"/>
                        </a:rPr>
                        <a:t>CP + Pipeline</a:t>
                      </a:r>
                    </a:p>
                  </a:txBody>
                  <a:tcPr marL="45720" marR="45720" marT="18288" marB="18288" anchor="ctr">
                    <a:solidFill>
                      <a:srgbClr val="013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DAFWCF (target 0)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TRICF (target 2.35 – 3)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63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TVCR (Target 0.79 – 2)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60275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800" b="1" i="0" noProof="0" dirty="0">
                          <a:solidFill>
                            <a:srgbClr val="1F2533"/>
                          </a:solidFill>
                          <a:latin typeface="Aptos"/>
                        </a:rPr>
                        <a:t>FAC (reporting)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noProof="0" dirty="0">
                          <a:solidFill>
                            <a:srgbClr val="FF000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15343"/>
                  </a:ext>
                </a:extLst>
              </a:tr>
            </a:tbl>
          </a:graphicData>
        </a:graphic>
      </p:graphicFrame>
      <p:sp>
        <p:nvSpPr>
          <p:cNvPr id="337" name="TextBox 65">
            <a:extLst>
              <a:ext uri="{FF2B5EF4-FFF2-40B4-BE49-F238E27FC236}">
                <a16:creationId xmlns:a16="http://schemas.microsoft.com/office/drawing/2014/main" id="{4B3C5755-964A-AF43-709D-ABD5ED2563F6}"/>
              </a:ext>
            </a:extLst>
          </p:cNvPr>
          <p:cNvSpPr txBox="1"/>
          <p:nvPr/>
        </p:nvSpPr>
        <p:spPr>
          <a:xfrm>
            <a:off x="362072" y="4485606"/>
            <a:ext cx="42062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000" b="1" i="0" noProof="0" dirty="0">
                <a:solidFill>
                  <a:srgbClr val="013EF5"/>
                </a:solidFill>
                <a:latin typeface="Aptos"/>
              </a:rPr>
              <a:t>TRICF · cases and frequency × 10^6 /HHT</a:t>
            </a:r>
          </a:p>
        </p:txBody>
      </p:sp>
      <p:graphicFrame>
        <p:nvGraphicFramePr>
          <p:cNvPr id="338" name="Chart 66" descr="Native chart with editable data">
            <a:extLst>
              <a:ext uri="{FF2B5EF4-FFF2-40B4-BE49-F238E27FC236}">
                <a16:creationId xmlns:a16="http://schemas.microsoft.com/office/drawing/2014/main" id="{B032AC3C-22DB-210E-E533-444098BFC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28998"/>
              </p:ext>
            </p:extLst>
          </p:nvPr>
        </p:nvGraphicFramePr>
        <p:xfrm>
          <a:off x="321366" y="4674884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9" name="TextBox 67">
            <a:extLst>
              <a:ext uri="{FF2B5EF4-FFF2-40B4-BE49-F238E27FC236}">
                <a16:creationId xmlns:a16="http://schemas.microsoft.com/office/drawing/2014/main" id="{82D3B747-DD21-081B-3CA9-B7764D5E64E6}"/>
              </a:ext>
            </a:extLst>
          </p:cNvPr>
          <p:cNvSpPr txBox="1"/>
          <p:nvPr/>
        </p:nvSpPr>
        <p:spPr>
          <a:xfrm>
            <a:off x="4806299" y="4467751"/>
            <a:ext cx="420624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000" b="1" i="0" noProof="0" dirty="0">
                <a:solidFill>
                  <a:srgbClr val="013EF5"/>
                </a:solidFill>
                <a:latin typeface="Aptos"/>
              </a:rPr>
              <a:t>TVCR · cases and frequency × 10^6 /km travelled</a:t>
            </a:r>
          </a:p>
        </p:txBody>
      </p:sp>
      <p:graphicFrame>
        <p:nvGraphicFramePr>
          <p:cNvPr id="340" name="Chart 68" descr="Native chart with editable data">
            <a:extLst>
              <a:ext uri="{FF2B5EF4-FFF2-40B4-BE49-F238E27FC236}">
                <a16:creationId xmlns:a16="http://schemas.microsoft.com/office/drawing/2014/main" id="{B4C86B4E-0BD1-EFDC-BE11-CDDBC677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24849"/>
              </p:ext>
            </p:extLst>
          </p:nvPr>
        </p:nvGraphicFramePr>
        <p:xfrm>
          <a:off x="4806299" y="4606705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41" name="Grupo 340">
            <a:extLst>
              <a:ext uri="{FF2B5EF4-FFF2-40B4-BE49-F238E27FC236}">
                <a16:creationId xmlns:a16="http://schemas.microsoft.com/office/drawing/2014/main" id="{FD9CCFAD-26B8-CE4D-67CD-F35A3F121424}"/>
              </a:ext>
            </a:extLst>
          </p:cNvPr>
          <p:cNvGrpSpPr/>
          <p:nvPr/>
        </p:nvGrpSpPr>
        <p:grpSpPr>
          <a:xfrm>
            <a:off x="1335156" y="2151164"/>
            <a:ext cx="3354229" cy="2105012"/>
            <a:chOff x="549345" y="2101315"/>
            <a:chExt cx="3354229" cy="2105012"/>
          </a:xfrm>
        </p:grpSpPr>
        <p:pic>
          <p:nvPicPr>
            <p:cNvPr id="342" name="Imagen 341">
              <a:extLst>
                <a:ext uri="{FF2B5EF4-FFF2-40B4-BE49-F238E27FC236}">
                  <a16:creationId xmlns:a16="http://schemas.microsoft.com/office/drawing/2014/main" id="{9236B854-5177-8BC2-3878-0872187F2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9345" y="2101315"/>
              <a:ext cx="3354229" cy="2105012"/>
            </a:xfrm>
            <a:prstGeom prst="rect">
              <a:avLst/>
            </a:prstGeom>
          </p:spPr>
        </p:pic>
        <p:sp>
          <p:nvSpPr>
            <p:cNvPr id="343" name="Valor piramide 1">
              <a:extLst>
                <a:ext uri="{FF2B5EF4-FFF2-40B4-BE49-F238E27FC236}">
                  <a16:creationId xmlns:a16="http://schemas.microsoft.com/office/drawing/2014/main" id="{9E57BF01-7196-98FF-FD27-5F8BB24D0A92}"/>
                </a:ext>
              </a:extLst>
            </p:cNvPr>
            <p:cNvSpPr/>
            <p:nvPr/>
          </p:nvSpPr>
          <p:spPr>
            <a:xfrm>
              <a:off x="1550639" y="2235448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0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4" name="Valor piramide 2">
              <a:extLst>
                <a:ext uri="{FF2B5EF4-FFF2-40B4-BE49-F238E27FC236}">
                  <a16:creationId xmlns:a16="http://schemas.microsoft.com/office/drawing/2014/main" id="{0670C830-A77D-B461-3C43-3A5B6A094F0A}"/>
                </a:ext>
              </a:extLst>
            </p:cNvPr>
            <p:cNvSpPr/>
            <p:nvPr/>
          </p:nvSpPr>
          <p:spPr>
            <a:xfrm>
              <a:off x="1550639" y="2537183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0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5" name="Valor piramide 3">
              <a:extLst>
                <a:ext uri="{FF2B5EF4-FFF2-40B4-BE49-F238E27FC236}">
                  <a16:creationId xmlns:a16="http://schemas.microsoft.com/office/drawing/2014/main" id="{0C243396-8977-A389-A79E-BD4F2D396F8C}"/>
                </a:ext>
              </a:extLst>
            </p:cNvPr>
            <p:cNvSpPr/>
            <p:nvPr/>
          </p:nvSpPr>
          <p:spPr>
            <a:xfrm>
              <a:off x="1544289" y="2879477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6" name="Valor piramide 4">
              <a:extLst>
                <a:ext uri="{FF2B5EF4-FFF2-40B4-BE49-F238E27FC236}">
                  <a16:creationId xmlns:a16="http://schemas.microsoft.com/office/drawing/2014/main" id="{4369CC2D-69F9-AC32-7DC0-990A1B9B6DFD}"/>
                </a:ext>
              </a:extLst>
            </p:cNvPr>
            <p:cNvSpPr/>
            <p:nvPr/>
          </p:nvSpPr>
          <p:spPr>
            <a:xfrm>
              <a:off x="1544955" y="3221771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7" name="Valor piramide 4">
              <a:extLst>
                <a:ext uri="{FF2B5EF4-FFF2-40B4-BE49-F238E27FC236}">
                  <a16:creationId xmlns:a16="http://schemas.microsoft.com/office/drawing/2014/main" id="{7101EF34-A45D-F5B8-E7F8-6E8133B934AD}"/>
                </a:ext>
              </a:extLst>
            </p:cNvPr>
            <p:cNvSpPr/>
            <p:nvPr/>
          </p:nvSpPr>
          <p:spPr>
            <a:xfrm>
              <a:off x="1541114" y="3593592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8" name="Valor piramide 4">
              <a:extLst>
                <a:ext uri="{FF2B5EF4-FFF2-40B4-BE49-F238E27FC236}">
                  <a16:creationId xmlns:a16="http://schemas.microsoft.com/office/drawing/2014/main" id="{E3B7BBED-EE76-14DF-9133-20F9C46E8B3F}"/>
                </a:ext>
              </a:extLst>
            </p:cNvPr>
            <p:cNvSpPr/>
            <p:nvPr/>
          </p:nvSpPr>
          <p:spPr>
            <a:xfrm>
              <a:off x="1538605" y="3935886"/>
              <a:ext cx="420624" cy="201168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GB" sz="1050" b="1" noProof="0" dirty="0">
                  <a:solidFill>
                    <a:schemeClr val="bg1"/>
                  </a:solidFill>
                </a:rPr>
                <a:t>462</a:t>
              </a:r>
            </a:p>
          </p:txBody>
        </p:sp>
      </p:grpSp>
      <p:sp>
        <p:nvSpPr>
          <p:cNvPr id="349" name="TextBox 76">
            <a:extLst>
              <a:ext uri="{FF2B5EF4-FFF2-40B4-BE49-F238E27FC236}">
                <a16:creationId xmlns:a16="http://schemas.microsoft.com/office/drawing/2014/main" id="{2CBFD08D-6780-86AD-24F6-A6D8EB85B0BC}"/>
              </a:ext>
            </a:extLst>
          </p:cNvPr>
          <p:cNvSpPr txBox="1"/>
          <p:nvPr/>
        </p:nvSpPr>
        <p:spPr>
          <a:xfrm>
            <a:off x="227529" y="6225887"/>
            <a:ext cx="5467696" cy="4708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noProof="0" dirty="0">
                <a:solidFill>
                  <a:srgbClr val="6B7280"/>
                </a:solidFill>
                <a:latin typeface="Aptos"/>
              </a:rPr>
              <a:t>DAFWCF: lost-time cases × 10^6/ HHT</a:t>
            </a:r>
            <a:endParaRPr lang="en-GB" sz="900" b="0" i="0" noProof="0" dirty="0">
              <a:solidFill>
                <a:srgbClr val="6B7280"/>
              </a:solidFill>
              <a:latin typeface="Aptos"/>
            </a:endParaRPr>
          </a:p>
          <a:p>
            <a:pPr algn="l"/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TRICF: recordable cases (FAT + DAFWC + MTC + RWC) × 10^6 / HHT </a:t>
            </a:r>
            <a:endParaRPr lang="en-GB" sz="900" noProof="0" dirty="0">
              <a:solidFill>
                <a:srgbClr val="6B7280"/>
              </a:solidFill>
              <a:latin typeface="Aptos"/>
            </a:endParaRPr>
          </a:p>
          <a:p>
            <a:pPr algn="l"/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TVCR</a:t>
            </a:r>
            <a:r>
              <a:rPr lang="en-GB" sz="900" noProof="0" dirty="0">
                <a:solidFill>
                  <a:srgbClr val="6B7280"/>
                </a:solidFill>
                <a:latin typeface="Aptos"/>
              </a:rPr>
              <a:t>: </a:t>
            </a:r>
            <a:r>
              <a:rPr lang="en-GB" sz="900" b="0" i="0" noProof="0" dirty="0">
                <a:solidFill>
                  <a:srgbClr val="6B7280"/>
                </a:solidFill>
                <a:latin typeface="Aptos"/>
              </a:rPr>
              <a:t>Total Number of Work-Related Vehicle Accidents per Million Kilometres Travelled (× 10^6 / km travelled)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595360" y="6556248"/>
            <a:ext cx="27432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8717D"/>
                </a:solidFill>
                <a:latin typeface="DejaVu San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5759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8ED5-2A35-C47E-F74B-7BE91112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0F0ACF1-FB3B-891E-E4C9-CEDACE965B70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C399A2C-904E-A0D7-BF10-0536804170B1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</a:t>
            </a:r>
            <a:r>
              <a:rPr lang="en-GB" sz="1800" b="1" dirty="0">
                <a:solidFill>
                  <a:srgbClr val="013EF5"/>
                </a:solidFill>
                <a:latin typeface="Aptos" panose="020B0004020202020204" pitchFamily="34" charset="0"/>
              </a:rPr>
              <a:t>1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HSE Indicators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90EEC0-89A1-F0FA-6F0E-CA480F8EF4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B51CD8C-DB5F-892A-4B92-E56F0244E354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D331F57A-9A15-C454-D3CA-8567336261AB}"/>
              </a:ext>
            </a:extLst>
          </p:cNvPr>
          <p:cNvSpPr txBox="1"/>
          <p:nvPr/>
        </p:nvSpPr>
        <p:spPr>
          <a:xfrm>
            <a:off x="381000" y="7946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MANAGEMENT SAFETY WALKS</a:t>
            </a:r>
          </a:p>
        </p:txBody>
      </p:sp>
      <p:graphicFrame>
        <p:nvGraphicFramePr>
          <p:cNvPr id="5" name="Chart 13" descr="Native chart with editable data">
            <a:extLst>
              <a:ext uri="{FF2B5EF4-FFF2-40B4-BE49-F238E27FC236}">
                <a16:creationId xmlns:a16="http://schemas.microsoft.com/office/drawing/2014/main" id="{58695AB8-7231-6436-3DC9-A4E24AC34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25762"/>
              </p:ext>
            </p:extLst>
          </p:nvPr>
        </p:nvGraphicFramePr>
        <p:xfrm>
          <a:off x="381000" y="10690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14">
            <a:extLst>
              <a:ext uri="{FF2B5EF4-FFF2-40B4-BE49-F238E27FC236}">
                <a16:creationId xmlns:a16="http://schemas.microsoft.com/office/drawing/2014/main" id="{4E51F267-2167-17BA-09B8-2867DB5CA5C9}"/>
              </a:ext>
            </a:extLst>
          </p:cNvPr>
          <p:cNvSpPr txBox="1"/>
          <p:nvPr/>
        </p:nvSpPr>
        <p:spPr>
          <a:xfrm>
            <a:off x="3307079" y="7946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SAFETY CAMPAIGNS</a:t>
            </a:r>
          </a:p>
        </p:txBody>
      </p:sp>
      <p:graphicFrame>
        <p:nvGraphicFramePr>
          <p:cNvPr id="14" name="Chart 15" descr="Native chart with editable data">
            <a:extLst>
              <a:ext uri="{FF2B5EF4-FFF2-40B4-BE49-F238E27FC236}">
                <a16:creationId xmlns:a16="http://schemas.microsoft.com/office/drawing/2014/main" id="{A2C96C3B-8CCB-D124-6DE7-9AAAFF435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168164"/>
              </p:ext>
            </p:extLst>
          </p:nvPr>
        </p:nvGraphicFramePr>
        <p:xfrm>
          <a:off x="3307079" y="10690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6">
            <a:extLst>
              <a:ext uri="{FF2B5EF4-FFF2-40B4-BE49-F238E27FC236}">
                <a16:creationId xmlns:a16="http://schemas.microsoft.com/office/drawing/2014/main" id="{EC91F0D6-1FA5-AF68-0011-D723FD9AA1E0}"/>
              </a:ext>
            </a:extLst>
          </p:cNvPr>
          <p:cNvSpPr txBox="1"/>
          <p:nvPr/>
        </p:nvSpPr>
        <p:spPr>
          <a:xfrm>
            <a:off x="6233159" y="7946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DRILLS · target 100%</a:t>
            </a:r>
          </a:p>
        </p:txBody>
      </p:sp>
      <p:graphicFrame>
        <p:nvGraphicFramePr>
          <p:cNvPr id="18" name="Chart 17" descr="Native chart with editable data">
            <a:extLst>
              <a:ext uri="{FF2B5EF4-FFF2-40B4-BE49-F238E27FC236}">
                <a16:creationId xmlns:a16="http://schemas.microsoft.com/office/drawing/2014/main" id="{7EB08AF2-ABD5-EE61-7AC8-436EB8ACD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043886"/>
              </p:ext>
            </p:extLst>
          </p:nvPr>
        </p:nvGraphicFramePr>
        <p:xfrm>
          <a:off x="6233159" y="10690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TextBox 18">
            <a:extLst>
              <a:ext uri="{FF2B5EF4-FFF2-40B4-BE49-F238E27FC236}">
                <a16:creationId xmlns:a16="http://schemas.microsoft.com/office/drawing/2014/main" id="{61D18694-D4DC-230D-C61D-8C54A37D213A}"/>
              </a:ext>
            </a:extLst>
          </p:cNvPr>
          <p:cNvSpPr txBox="1"/>
          <p:nvPr/>
        </p:nvSpPr>
        <p:spPr>
          <a:xfrm>
            <a:off x="381000" y="35378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OBSERVATIONS (OCS)</a:t>
            </a:r>
          </a:p>
        </p:txBody>
      </p:sp>
      <p:graphicFrame>
        <p:nvGraphicFramePr>
          <p:cNvPr id="22" name="Chart 19" descr="Native chart with editable data">
            <a:extLst>
              <a:ext uri="{FF2B5EF4-FFF2-40B4-BE49-F238E27FC236}">
                <a16:creationId xmlns:a16="http://schemas.microsoft.com/office/drawing/2014/main" id="{2658C3DD-B27F-8480-D031-139285FA1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445622"/>
              </p:ext>
            </p:extLst>
          </p:nvPr>
        </p:nvGraphicFramePr>
        <p:xfrm>
          <a:off x="381000" y="38122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0">
            <a:extLst>
              <a:ext uri="{FF2B5EF4-FFF2-40B4-BE49-F238E27FC236}">
                <a16:creationId xmlns:a16="http://schemas.microsoft.com/office/drawing/2014/main" id="{0152E4B8-96E8-1C68-8836-B7FCFFCF783C}"/>
              </a:ext>
            </a:extLst>
          </p:cNvPr>
          <p:cNvSpPr txBox="1"/>
          <p:nvPr/>
        </p:nvSpPr>
        <p:spPr>
          <a:xfrm>
            <a:off x="3307079" y="35378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TRAINING HOURS (HHS)</a:t>
            </a:r>
          </a:p>
        </p:txBody>
      </p:sp>
      <p:graphicFrame>
        <p:nvGraphicFramePr>
          <p:cNvPr id="26" name="Chart 21" descr="Native chart with editable data">
            <a:extLst>
              <a:ext uri="{FF2B5EF4-FFF2-40B4-BE49-F238E27FC236}">
                <a16:creationId xmlns:a16="http://schemas.microsoft.com/office/drawing/2014/main" id="{BCB62A62-0DB2-A0BC-09BE-6982A6BCC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59523"/>
              </p:ext>
            </p:extLst>
          </p:nvPr>
        </p:nvGraphicFramePr>
        <p:xfrm>
          <a:off x="3307079" y="3812209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8" name="TextBox 22">
            <a:extLst>
              <a:ext uri="{FF2B5EF4-FFF2-40B4-BE49-F238E27FC236}">
                <a16:creationId xmlns:a16="http://schemas.microsoft.com/office/drawing/2014/main" id="{C6961150-A039-40B7-E722-68CC2881593A}"/>
              </a:ext>
            </a:extLst>
          </p:cNvPr>
          <p:cNvSpPr txBox="1"/>
          <p:nvPr/>
        </p:nvSpPr>
        <p:spPr>
          <a:xfrm>
            <a:off x="6233159" y="3537889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GB" sz="1100" b="1" i="0" noProof="0" dirty="0">
                <a:solidFill>
                  <a:srgbClr val="013EF5"/>
                </a:solidFill>
                <a:latin typeface="Aptos"/>
              </a:rPr>
              <a:t>TRAINING · REPORTED VALUE</a:t>
            </a: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C37A13CB-74CB-D27A-FB82-99353280DAC7}"/>
              </a:ext>
            </a:extLst>
          </p:cNvPr>
          <p:cNvSpPr/>
          <p:nvPr/>
        </p:nvSpPr>
        <p:spPr>
          <a:xfrm>
            <a:off x="6233159" y="3949369"/>
            <a:ext cx="278892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F3BB9DD9-0402-2C9F-53F9-2AC98391C00E}"/>
              </a:ext>
            </a:extLst>
          </p:cNvPr>
          <p:cNvSpPr/>
          <p:nvPr/>
        </p:nvSpPr>
        <p:spPr>
          <a:xfrm>
            <a:off x="6233159" y="3949369"/>
            <a:ext cx="54864" cy="105156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1AF1B5D1-3AED-7700-77BB-1A8728F37FC4}"/>
              </a:ext>
            </a:extLst>
          </p:cNvPr>
          <p:cNvSpPr txBox="1"/>
          <p:nvPr/>
        </p:nvSpPr>
        <p:spPr>
          <a:xfrm>
            <a:off x="6324599" y="3976801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6B7280"/>
                </a:solidFill>
                <a:latin typeface="Aptos"/>
              </a:rPr>
              <a:t>Training % vs HHT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9A268931-9A9F-7C40-6181-4C5A865CFCF7}"/>
              </a:ext>
            </a:extLst>
          </p:cNvPr>
          <p:cNvSpPr txBox="1"/>
          <p:nvPr/>
        </p:nvSpPr>
        <p:spPr>
          <a:xfrm>
            <a:off x="6324599" y="4196257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2800" b="1" i="0" noProof="0" dirty="0">
                <a:solidFill>
                  <a:srgbClr val="013EF5"/>
                </a:solidFill>
                <a:latin typeface="Aptos"/>
              </a:rPr>
              <a:t>2.87%</a:t>
            </a: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82622D5F-AA6B-F48D-A8DA-9A5F4218E01E}"/>
              </a:ext>
            </a:extLst>
          </p:cNvPr>
          <p:cNvSpPr txBox="1"/>
          <p:nvPr/>
        </p:nvSpPr>
        <p:spPr>
          <a:xfrm>
            <a:off x="6324599" y="463516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GB" sz="800" b="0" i="0" noProof="0" dirty="0">
                <a:solidFill>
                  <a:srgbClr val="6B7280"/>
                </a:solidFill>
                <a:latin typeface="Aptos"/>
              </a:rPr>
              <a:t>HHS / HHT · CP + Pipeline · target ≥ 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601968"/>
            <a:ext cx="438912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650" b="0">
                <a:solidFill>
                  <a:srgbClr val="68717D"/>
                </a:solidFill>
                <a:latin typeface="DejaVu Sans"/>
              </a:defRPr>
            </a:pPr>
            <a:r>
              <a:t>WORKING DRAFT · 27 OCT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6556248"/>
            <a:ext cx="27432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8717D"/>
                </a:solidFill>
                <a:latin typeface="DejaVu San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158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0F0ACF1-FB3B-891E-E4C9-CEDACE965B70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C399A2C-904E-A0D7-BF10-0536804170B1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863840" cy="475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1400" b="1">
                <a:solidFill>
                  <a:srgbClr val="013EF5"/>
                </a:solidFill>
                <a:latin typeface="DejaVu Sans"/>
              </a:rPr>
              <a:t>1.1 &gt; DEDICATED GAS PIPELINE UPDATE &gt; Safety | October Highlights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90EEC0-89A1-F0FA-6F0E-CA480F8EF4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B51CD8C-DB5F-892A-4B92-E56F0244E354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850392"/>
            <a:ext cx="832104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13EF5"/>
                </a:solidFill>
                <a:latin typeface="DejaVu Sans"/>
              </a:defRPr>
            </a:pPr>
            <a:r>
              <a:t>OCTOBER 2026 · PHOTOS &amp; RELEVANT HIGHLIGHTS · cut-off 27 Oct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17320"/>
            <a:ext cx="4023360" cy="2331720"/>
          </a:xfrm>
          <a:prstGeom prst="rect">
            <a:avLst/>
          </a:prstGeom>
          <a:solidFill>
            <a:srgbClr val="F2F3F5"/>
          </a:solidFill>
          <a:ln>
            <a:solidFill>
              <a:srgbClr val="CD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48840"/>
            <a:ext cx="3749039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68717D"/>
                </a:solidFill>
                <a:latin typeface="DejaVu Sans"/>
              </a:defRPr>
            </a:pPr>
            <a:r>
              <a:t>OCTOBER PHOTO 1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68717D"/>
                </a:solidFill>
                <a:latin typeface="DejaVu Sans"/>
              </a:defRPr>
            </a:pPr>
            <a:r>
              <a:t>Pending actual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67912"/>
            <a:ext cx="402336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950" b="0">
                <a:solidFill>
                  <a:srgbClr val="68717D"/>
                </a:solidFill>
                <a:latin typeface="DejaVu Sans"/>
              </a:defRPr>
            </a:pPr>
            <a:r>
              <a:t>Date / location / activity: pending confirmation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1417320"/>
            <a:ext cx="4023360" cy="2331720"/>
          </a:xfrm>
          <a:prstGeom prst="rect">
            <a:avLst/>
          </a:prstGeom>
          <a:solidFill>
            <a:srgbClr val="F2F3F5"/>
          </a:solidFill>
          <a:ln>
            <a:solidFill>
              <a:srgbClr val="CD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2148840"/>
            <a:ext cx="3749039" cy="6400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68717D"/>
                </a:solidFill>
                <a:latin typeface="DejaVu Sans"/>
              </a:defRPr>
            </a:pPr>
            <a:r>
              <a:t>OCTOBER PHOTO 2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68717D"/>
                </a:solidFill>
                <a:latin typeface="DejaVu Sans"/>
              </a:defRPr>
            </a:pPr>
            <a:r>
              <a:t>Pending actual 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867912"/>
            <a:ext cx="402336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950" b="0">
                <a:solidFill>
                  <a:srgbClr val="68717D"/>
                </a:solidFill>
                <a:latin typeface="DejaVu Sans"/>
              </a:defRPr>
            </a:pPr>
            <a:r>
              <a:t>Date / location / activity: pending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590288"/>
            <a:ext cx="8293608" cy="1554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727448"/>
            <a:ext cx="80010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13EF5"/>
                </a:solidFill>
                <a:latin typeface="DejaVu Sans"/>
              </a:defRPr>
            </a:pPr>
            <a:r>
              <a:t>SAFETY — RELEVANT OCTOBER TOPICS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84648"/>
            <a:ext cx="7863840" cy="7498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64A"/>
                </a:solidFill>
                <a:latin typeface="DejaVu Sans"/>
              </a:defRPr>
            </a:pPr>
            <a:r>
              <a:rPr sz="1200">
                <a:solidFill>
                  <a:srgbClr val="27364A"/>
                </a:solidFill>
                <a:latin typeface="DejaVu Sans"/>
              </a:rPr>
              <a:t>[Safety highlights and photos pending]</a:t>
            </a:r>
          </a:p>
          <a:p>
            <a:r>
              <a:rPr sz="1200">
                <a:solidFill>
                  <a:srgbClr val="27364A"/>
                </a:solidFill>
                <a:latin typeface="DejaVu Sans"/>
              </a:rPr>
              <a:t>Confirmed development · relevance · next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6601968"/>
            <a:ext cx="438912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650" b="0">
                <a:solidFill>
                  <a:srgbClr val="68717D"/>
                </a:solidFill>
                <a:latin typeface="DejaVu Sans"/>
              </a:defRPr>
            </a:pPr>
            <a:r>
              <a:t>WORKING DRAFT · 27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56248"/>
            <a:ext cx="27432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8717D"/>
                </a:solidFill>
                <a:latin typeface="DejaVu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E4C4-C439-3D4B-2810-5ED122F8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5A9C003-D100-0547-6B7A-5AA415611A58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2F9B62-976C-B014-89B9-25FEB972B8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F84B6E9-B53A-F075-C423-0D04140F6B47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7EE0D74-97B9-A6B2-82A2-11169427E4E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3.0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HELICOPTER SERVICE </a:t>
            </a:r>
            <a:r>
              <a:rPr lang="en-GB" sz="18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Proposal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sp>
        <p:nvSpPr>
          <p:cNvPr id="2" name="7 CuadroTexto">
            <a:extLst>
              <a:ext uri="{FF2B5EF4-FFF2-40B4-BE49-F238E27FC236}">
                <a16:creationId xmlns:a16="http://schemas.microsoft.com/office/drawing/2014/main" id="{41DC0093-0619-195A-0939-F205290B900A}"/>
              </a:ext>
            </a:extLst>
          </p:cNvPr>
          <p:cNvSpPr txBox="1"/>
          <p:nvPr/>
        </p:nvSpPr>
        <p:spPr>
          <a:xfrm>
            <a:off x="438912" y="841248"/>
            <a:ext cx="8321040" cy="55321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tIns="0" bIns="0" rtlCol="0" anchor="t">
            <a:no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1"/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400" b="1"/>
            </a:lvl2pPr>
            <a:lvl3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/>
            </a:lvl3pPr>
          </a:lstStyle>
          <a:p>
            <a:pPr marL="190500" lvl="1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Background: 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GB" sz="1040" b="1" noProof="0" dirty="0">
                <a:latin typeface="Aptos" panose="020B0004020202020204" pitchFamily="34" charset="0"/>
              </a:rPr>
              <a:t>Vaca Muerta upstream major companies </a:t>
            </a:r>
            <a:r>
              <a:rPr lang="en-GB" sz="1040" noProof="0" dirty="0">
                <a:latin typeface="Aptos" panose="020B0004020202020204" pitchFamily="34" charset="0"/>
              </a:rPr>
              <a:t>(including PAE, YPF &amp; Pampa) have a contract with MODENA for the provision of its services which consists of having a helicopter available for use in the event of a medical emergency.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US" sz="1040" b="1" dirty="0">
                <a:latin typeface="Aptos" panose="020B0004020202020204" pitchFamily="34" charset="0"/>
              </a:rPr>
              <a:t>Vista</a:t>
            </a:r>
            <a:r>
              <a:rPr lang="en-US" sz="1040" dirty="0">
                <a:latin typeface="Aptos" panose="020B0004020202020204" pitchFamily="34" charset="0"/>
              </a:rPr>
              <a:t> holds and manages a contract with MODENA covering aeromedical evacuation services for operators in Neuquén.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GB" sz="1040" b="1" noProof="0" dirty="0">
                <a:latin typeface="Aptos" panose="020B0004020202020204" pitchFamily="34" charset="0"/>
              </a:rPr>
              <a:t>VMOS</a:t>
            </a:r>
            <a:r>
              <a:rPr lang="en-GB" sz="1040" noProof="0" dirty="0">
                <a:latin typeface="Aptos" panose="020B0004020202020204" pitchFamily="34" charset="0"/>
              </a:rPr>
              <a:t> has a contract in force with MODENA for such services. The service originated as an ad hoc decision by YPF following an Emergency Response Risk Analysis. </a:t>
            </a:r>
            <a:endParaRPr lang="en-GB" noProof="0" dirty="0">
              <a:highlight>
                <a:srgbClr val="FF0000"/>
              </a:highlight>
              <a:latin typeface="Aptos" panose="020B0004020202020204" pitchFamily="34" charset="0"/>
            </a:endParaRP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</a:pPr>
            <a:endParaRPr lang="en-GB" sz="800" noProof="0" dirty="0">
              <a:highlight>
                <a:srgbClr val="FFFF00"/>
              </a:highlight>
              <a:latin typeface="Aptos" panose="020B0004020202020204" pitchFamily="34" charset="0"/>
            </a:endParaRPr>
          </a:p>
          <a:p>
            <a:pPr marL="190500" lvl="1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Geographic Dispersion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sz="1040" b="1" noProof="0" dirty="0">
                <a:latin typeface="Aptos" panose="020B0004020202020204" pitchFamily="34" charset="0"/>
              </a:rPr>
              <a:t>SMP</a:t>
            </a:r>
            <a:r>
              <a:rPr lang="en-GB" sz="1040" noProof="0" dirty="0">
                <a:latin typeface="Aptos" panose="020B0004020202020204" pitchFamily="34" charset="0"/>
              </a:rPr>
              <a:t> pipeline route extends over 473 km along 2 provinces with sections located far away from high-complexity medical centres </a:t>
            </a:r>
            <a:r>
              <a:rPr lang="en-GB" sz="1040" noProof="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GB" sz="1040" noProof="0" dirty="0">
                <a:latin typeface="Aptos" panose="020B0004020202020204" pitchFamily="34" charset="0"/>
              </a:rPr>
              <a:t>Ground transportation may compromise the critical response time window during an emergency.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endParaRPr lang="en-GB" sz="800" noProof="0" dirty="0">
              <a:latin typeface="Aptos" panose="020B0004020202020204" pitchFamily="34" charset="0"/>
            </a:endParaRPr>
          </a:p>
          <a:p>
            <a:pPr marL="190500" lvl="1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Labour Context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Impact of the VMOS precedent in the event of an accident requiring this service 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UOCRA agreement does not “explicitly” require this service for VMOS or SMP.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endParaRPr lang="en-GB" sz="800" noProof="0" dirty="0">
              <a:latin typeface="Aptos" panose="020B0004020202020204" pitchFamily="34" charset="0"/>
            </a:endParaRPr>
          </a:p>
          <a:p>
            <a:pPr marL="190500" lvl="1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Actual Use, No Saturation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Existing regional contracts (Neuquén and VMOS) recorded 40 to 50 emergencies over 3 years (approximately 1 to 2 per month), indicating there is operational capacity to include the SMP route.</a:t>
            </a:r>
          </a:p>
          <a:p>
            <a:pPr marL="361950" lvl="2" indent="0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None/>
              <a:defRPr/>
            </a:pPr>
            <a:endParaRPr lang="en-GB" sz="800" noProof="0" dirty="0">
              <a:highlight>
                <a:srgbClr val="FFFF00"/>
              </a:highlight>
              <a:latin typeface="Aptos" panose="020B0004020202020204" pitchFamily="34" charset="0"/>
            </a:endParaRPr>
          </a:p>
          <a:p>
            <a:pPr marL="190500" lvl="1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709E1"/>
              </a:buClr>
              <a:buFont typeface="Arial" panose="020B0604020202020204" pitchFamily="34" charset="0"/>
              <a:buChar char="•"/>
              <a:defRPr/>
            </a:pPr>
            <a:r>
              <a:rPr lang="en-GB" sz="1040" noProof="0" dirty="0">
                <a:latin typeface="Aptos" panose="020B0004020202020204" pitchFamily="34" charset="0"/>
              </a:rPr>
              <a:t>Proposal to be discussed with Shareholders:</a:t>
            </a:r>
          </a:p>
          <a:p>
            <a:pPr marL="647700" lvl="2" algn="just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789AF8"/>
              </a:buClr>
              <a:buFont typeface="Courier New" panose="02070309020205020404" pitchFamily="49" charset="0"/>
              <a:buChar char="o"/>
            </a:pPr>
            <a:r>
              <a:rPr lang="en-GB" sz="1040" noProof="0" dirty="0">
                <a:latin typeface="Aptos" panose="020B0004020202020204" pitchFamily="34" charset="0"/>
              </a:rPr>
              <a:t>Given the project’s extensive geographical footprint which includes remote areas with limited or no access to adequate medical infrastructure, it is recommended to have a helicopter available for emergency medical evacuation, particularly for incidents requiring medium- or high-complexity medical care.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612E9D8-ADC6-C815-3D0E-C68BE0875757}"/>
              </a:ext>
            </a:extLst>
          </p:cNvPr>
          <p:cNvSpPr/>
          <p:nvPr/>
        </p:nvSpPr>
        <p:spPr>
          <a:xfrm>
            <a:off x="29816" y="672226"/>
            <a:ext cx="487018" cy="45495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7" name="Image 0" descr="/tmp/heli_deck/icon_heli.png">
            <a:extLst>
              <a:ext uri="{FF2B5EF4-FFF2-40B4-BE49-F238E27FC236}">
                <a16:creationId xmlns:a16="http://schemas.microsoft.com/office/drawing/2014/main" id="{E01FB193-CE5E-E39C-AAD6-8111C0867B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954" y="770425"/>
            <a:ext cx="267074" cy="267074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A18077B8-A03F-6AF4-5C1A-CBB7DD8A209E}"/>
              </a:ext>
            </a:extLst>
          </p:cNvPr>
          <p:cNvSpPr/>
          <p:nvPr/>
        </p:nvSpPr>
        <p:spPr>
          <a:xfrm>
            <a:off x="29816" y="2591328"/>
            <a:ext cx="487018" cy="479861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5" name="Image 2" descr="/tmp/heli_deck/icon_route.png">
            <a:extLst>
              <a:ext uri="{FF2B5EF4-FFF2-40B4-BE49-F238E27FC236}">
                <a16:creationId xmlns:a16="http://schemas.microsoft.com/office/drawing/2014/main" id="{7DE1145F-9E95-64BB-17E5-2447B93D495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954" y="2679588"/>
            <a:ext cx="267074" cy="2670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74720" y="6601968"/>
            <a:ext cx="438912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650" b="0">
                <a:solidFill>
                  <a:srgbClr val="68717D"/>
                </a:solidFill>
                <a:latin typeface="DejaVu Sans"/>
              </a:defRPr>
            </a:pPr>
            <a:r>
              <a:t>WORKING DRAFT · 27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556248"/>
            <a:ext cx="27432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8717D"/>
                </a:solidFill>
                <a:latin typeface="DejaVu San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6917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E4C4-C439-3D4B-2810-5ED122F8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ard 100"/>
          <p:cNvSpPr/>
          <p:nvPr/>
        </p:nvSpPr>
        <p:spPr>
          <a:xfrm>
            <a:off x="457200" y="110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Progress to date (cut-off Oct 27)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provide status, milestones reached and dates]</a:t>
            </a:r>
          </a:p>
        </p:txBody>
      </p:sp>
      <p:sp>
        <p:nvSpPr>
          <p:cNvPr id="101" name="Card 101"/>
          <p:cNvSpPr/>
          <p:nvPr/>
        </p:nvSpPr>
        <p:spPr>
          <a:xfrm>
            <a:off x="457200" y="285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Company auditing the service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name the company that audits the service]</a:t>
            </a:r>
          </a:p>
        </p:txBody>
      </p:sp>
      <p:sp>
        <p:nvSpPr>
          <p:cNvPr id="102" name="Card 102"/>
          <p:cNvSpPr/>
          <p:nvPr/>
        </p:nvSpPr>
        <p:spPr>
          <a:xfrm>
            <a:off x="457200" y="4600000"/>
            <a:ext cx="8229600" cy="15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600" b="1" dirty="0">
                <a:solidFill>
                  <a:srgbClr val="013EF5"/>
                </a:solidFill>
                <a:latin typeface="Aptos"/>
              </a:rPr>
              <a:t>Option to add SESA</a:t>
            </a:r>
          </a:p>
          <a:p>
            <a:pPr algn="l"/>
            <a:r>
              <a:rPr lang="en-GB" sz="1400" b="0" dirty="0">
                <a:solidFill>
                  <a:srgbClr val="FF0000"/>
                </a:solidFill>
                <a:latin typeface="Aptos"/>
              </a:rPr>
              <a:t>[Pending · YPF to confirm whether SESA can be added to the service]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A9C003-D100-0547-6B7A-5AA415611A58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2F9B62-976C-B014-89B9-25FEB972B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F84B6E9-B53A-F075-C423-0D04140F6B47}"/>
              </a:ext>
            </a:extLst>
          </p:cNvPr>
          <p:cNvSpPr txBox="1"/>
          <p:nvPr/>
        </p:nvSpPr>
        <p:spPr>
          <a:xfrm>
            <a:off x="8231453" y="321314"/>
            <a:ext cx="1151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7EE0D74-97B9-A6B2-82A2-11169427E4E5}"/>
              </a:ext>
            </a:extLst>
          </p:cNvPr>
          <p:cNvSpPr txBox="1">
            <a:spLocks/>
          </p:cNvSpPr>
          <p:nvPr/>
        </p:nvSpPr>
        <p:spPr>
          <a:xfrm>
            <a:off x="179509" y="142504"/>
            <a:ext cx="7364291" cy="790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3.0 &gt; HELICOPTER SERVICE &gt; </a:t>
            </a:r>
            <a:r>
              <a:rPr lang="en-GB" sz="18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Progress update</a:t>
            </a:r>
          </a:p>
          <a:p>
            <a:pPr algn="l"/>
            <a:endParaRPr lang="en-GB" sz="2400" b="1" noProof="0" dirty="0">
              <a:solidFill>
                <a:srgbClr val="789AF8"/>
              </a:solidFill>
              <a:latin typeface="Calibri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474720" y="6601968"/>
            <a:ext cx="438912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500"/>
              </a:spcAft>
              <a:defRPr sz="650" b="0">
                <a:solidFill>
                  <a:srgbClr val="68717D"/>
                </a:solidFill>
                <a:latin typeface="DejaVu Sans"/>
              </a:defRPr>
            </a:pPr>
            <a:r>
              <a:t>WORKING DRAFT · 27 OCT 2026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95360" y="6556248"/>
            <a:ext cx="27432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8717D"/>
                </a:solidFill>
                <a:latin typeface="DejaVu San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6917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6163</TotalTime>
  <Words>2028</Words>
  <Application>Microsoft Office PowerPoint</Application>
  <PresentationFormat>Presentación en pantalla (4:3)</PresentationFormat>
  <Paragraphs>168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Aptos ExtraBold</vt:lpstr>
      <vt:lpstr>Aptos Light</vt:lpstr>
      <vt:lpstr>Arial</vt:lpstr>
      <vt:lpstr>Calibri</vt:lpstr>
      <vt:lpstr>Calibri Light</vt:lpstr>
      <vt:lpstr>Courier New</vt:lpstr>
      <vt:lpstr>DejaVu Sans</vt:lpstr>
      <vt:lpstr>Wingdings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SMP October 2026 | v08 | Environmental slides omitted</dc:title>
  <dc:subject>Data unchanged; safety and environment photo/highlight slides inserted</dc:subject>
  <dc:creator>Agustina Briceño</dc:creator>
  <cp:lastModifiedBy>William Saenz santamaria</cp:lastModifiedBy>
  <cp:revision>8</cp:revision>
  <dcterms:created xsi:type="dcterms:W3CDTF">2026-03-04T19:10:22Z</dcterms:created>
  <dcterms:modified xsi:type="dcterms:W3CDTF">2026-10-27T15:06:42Z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622c24-5861-4880-bcaa-37216e265fb3_Enabled">
    <vt:lpwstr>true</vt:lpwstr>
  </property>
  <property fmtid="{D5CDD505-2E9C-101B-9397-08002B2CF9AE}" pid="3" name="MSIP_Label_fb622c24-5861-4880-bcaa-37216e265fb3_SetDate">
    <vt:lpwstr>2026-10-26T17:29:30Z</vt:lpwstr>
  </property>
  <property fmtid="{D5CDD505-2E9C-101B-9397-08002B2CF9AE}" pid="4" name="MSIP_Label_fb622c24-5861-4880-bcaa-37216e265fb3_Method">
    <vt:lpwstr>Privileged</vt:lpwstr>
  </property>
  <property fmtid="{D5CDD505-2E9C-101B-9397-08002B2CF9AE}" pid="5" name="MSIP_Label_fb622c24-5861-4880-bcaa-37216e265fb3_Name">
    <vt:lpwstr>YPF - Publica</vt:lpwstr>
  </property>
  <property fmtid="{D5CDD505-2E9C-101B-9397-08002B2CF9AE}" pid="6" name="MSIP_Label_fb622c24-5861-4880-bcaa-37216e265fb3_SiteId">
    <vt:lpwstr>038018c3-616c-4b46-ad9b-aa9007f701b5</vt:lpwstr>
  </property>
  <property fmtid="{D5CDD505-2E9C-101B-9397-08002B2CF9AE}" pid="7" name="MSIP_Label_fb622c24-5861-4880-bcaa-37216e265fb3_ActionId">
    <vt:lpwstr>feabad59-8485-480b-aae4-35bb52f52600</vt:lpwstr>
  </property>
  <property fmtid="{D5CDD505-2E9C-101B-9397-08002B2CF9AE}" pid="8" name="MSIP_Label_fb622c24-5861-4880-bcaa-37216e265fb3_ContentBits">
    <vt:lpwstr>3</vt:lpwstr>
  </property>
  <property fmtid="{D5CDD505-2E9C-101B-9397-08002B2CF9AE}" pid="9" name="MSIP_Label_fb622c24-5861-4880-bcaa-37216e265fb3_Tag">
    <vt:lpwstr>10, 0, 1, 1</vt:lpwstr>
  </property>
  <property fmtid="{D5CDD505-2E9C-101B-9397-08002B2CF9AE}" pid="10" name="ClassificationContentMarkingFooterLocations">
    <vt:lpwstr>Office 2013 - Tema de 2022:10</vt:lpwstr>
  </property>
  <property fmtid="{D5CDD505-2E9C-101B-9397-08002B2CF9AE}" pid="11" name="ClassificationContentMarkingFooterText">
    <vt:lpwstr>Documento: YPF-Público</vt:lpwstr>
  </property>
  <property fmtid="{D5CDD505-2E9C-101B-9397-08002B2CF9AE}" pid="12" name="ClassificationContentMarkingHeaderLocations">
    <vt:lpwstr>Office 2013 - Tema de 2022:9</vt:lpwstr>
  </property>
  <property fmtid="{D5CDD505-2E9C-101B-9397-08002B2CF9AE}" pid="13" name="ClassificationContentMarkingHeaderText">
    <vt:lpwstr>Documento: YPF-Público</vt:lpwstr>
  </property>
</Properties>
</file>