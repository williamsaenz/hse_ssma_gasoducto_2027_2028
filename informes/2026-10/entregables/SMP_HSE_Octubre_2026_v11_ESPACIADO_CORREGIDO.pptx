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49" r:id="rId7"/>
    <p:sldId id="2146850482" r:id="rId9"/>
    <p:sldId id="2146850548" r:id="rId10"/>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lnSpc>
                <a:spcPts val="2400"/>
              </a:lnSpc>
              <a:spcBef>
                <a:spcPts val="0"/>
              </a:spcBef>
              <a:spcAft>
                <a:spcPts val="0"/>
              </a:spcAft>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8717D"/>
                </a:solidFill>
                <a:latin typeface="Aptos"/>
              </a:rPr>
              <a:t>CP + Pipeline · graphs: Aug–Sep 2026 · KPI table: cut-off 26 Oct 2026</a:t>
            </a:r>
            <a:r>
              <a:rPr lang="en-GB" sz="900" b="0" i="0" noProof="0" dirty="0">
                <a:solidFill>
                  <a:srgbClr val="68717D"/>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2.35</a:t>
            </a:r>
            <a:br/>
            <a:r>
              <a:rPr sz="750">
                <a:solidFill>
                  <a:srgbClr val="68717D"/>
                </a:solidFill>
                <a:latin typeface="Aptos"/>
              </a:rPr>
              <a:t>Through 30 Sep 2026</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0.79</a:t>
            </a:r>
            <a:br/>
            <a:r>
              <a:rPr sz="750">
                <a:solidFill>
                  <a:srgbClr val="68717D"/>
                </a:solidFill>
                <a:latin typeface="Aptos"/>
              </a:rPr>
              <a:t>Through 30 Sep 2026</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r>
              <a:rPr lang="en-GB" sz="800" b="1" i="0" noProof="0" dirty="0">
                <a:solidFill>
                  <a:srgbClr val="FF0000"/>
                </a:solidFill>
                <a:latin typeface="Aptos"/>
              </a:rPr>
              <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cut-off 26 Oct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rIns="13716" tIns="0"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Oval 25"/>
          <p:cNvSpPr/>
          <p:nvPr/>
        </p:nvSpPr>
        <p:spPr>
          <a:xfrm>
            <a:off x="548640" y="1856231"/>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1764792"/>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All confined space rescue equipment was received on site.</a:t>
            </a:r>
          </a:p>
        </p:txBody>
      </p:sp>
      <p:sp>
        <p:nvSpPr>
          <p:cNvPr id="28" name="Oval 27"/>
          <p:cNvSpPr/>
          <p:nvPr/>
        </p:nvSpPr>
        <p:spPr>
          <a:xfrm>
            <a:off x="548640" y="3163824"/>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3072384"/>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Training on the use of the confined space rescue equipment was completed.</a:t>
            </a:r>
          </a:p>
        </p:txBody>
      </p:sp>
      <p:sp>
        <p:nvSpPr>
          <p:cNvPr id="30" name="Oval 29"/>
          <p:cNvSpPr/>
          <p:nvPr/>
        </p:nvSpPr>
        <p:spPr>
          <a:xfrm>
            <a:off x="548640" y="4471416"/>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 y="4379976"/>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7</a:t>
            </a:r>
          </a:p>
        </p:txBody>
      </p:sp>
    </p:spTree>
    <p:extLst>
      <p:ext uri="{BB962C8B-B14F-4D97-AF65-F5344CB8AC3E}">
        <p14:creationId xmlns:p14="http://schemas.microsoft.com/office/powerpoint/2010/main" val="406917177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rtlCol="0" lIns="0" rIns="0" tIns="0" bIns="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rIns="0" t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rIns="0" t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v11 | Agenda spacing corrected</dc:title>
  <dc:subject>Data unchanged; safety and environment photo/highlight slides inserted</dc:subject>
  <dc:creator>Agustina Briceño</dc:creator>
  <cp:lastModifiedBy>William Saenz santamaria</cp:lastModifiedBy>
  <cp:revision>11</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