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commentAuthors" Target="commentAuthor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Sheet1!$B$2:$B$3</c:f>
              <c:numCache>
                <c:formatCode>General</c:formatCode>
                <c:ptCount val="2"/>
                <c:pt idx="0">
                  <c:v>2.0</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Sheet1!$C$2:$C$3</c:f>
              <c:numCache>
                <c:formatCode>General</c:formatCode>
                <c:ptCount val="2"/>
                <c:pt idx="0">
                  <c:v>2.0</c:v>
                </c:pt>
                <c:pt idx="1">
                  <c:v>9.0</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Sheet1!$B$2:$B$3</c:f>
              <c:numCache>
                <c:formatCode>General</c:formatCode>
                <c:ptCount val="2"/>
                <c:pt idx="0">
                  <c:v>2.0</c:v>
                </c:pt>
                <c:pt idx="1">
                  <c:v>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Sheet1!$C$2:$C$3</c:f>
              <c:numCache>
                <c:formatCode>General</c:formatCode>
                <c:ptCount val="2"/>
                <c:pt idx="0">
                  <c:v>2.0</c:v>
                </c:pt>
                <c:pt idx="1">
                  <c:v>6.0</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Sheet1!$B$2:$B$3</c:f>
              <c:numCache>
                <c:formatCode>General</c:formatCode>
                <c:ptCount val="2"/>
                <c:pt idx="0">
                  <c:v>2.0</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Sheet1!$C$2:$C$3</c:f>
              <c:numCache>
                <c:formatCode>General</c:formatCode>
                <c:ptCount val="2"/>
                <c:pt idx="0">
                  <c:v>2.0</c:v>
                </c:pt>
                <c:pt idx="1">
                  <c:v>4.0</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Sheet1!$B$2:$B$3</c:f>
              <c:numCache>
                <c:formatCode>General</c:formatCode>
                <c:ptCount val="2"/>
                <c:pt idx="0">
                  <c:v>167.0</c:v>
                </c:pt>
                <c:pt idx="1">
                  <c:v>295.0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Sheet1!$C$2:$C$3</c:f>
              <c:numCache>
                <c:formatCode>General</c:formatCode>
                <c:ptCount val="2"/>
                <c:pt idx="0">
                  <c:v>167.0</c:v>
                </c:pt>
                <c:pt idx="1">
                  <c:v>462.0</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Sheet1!$B$2:$B$3</c:f>
              <c:numCache>
                <c:formatCode>General</c:formatCode>
                <c:ptCount val="2"/>
                <c:pt idx="0">
                  <c:v>1853.0</c:v>
                </c:pt>
                <c:pt idx="1">
                  <c:v>1796.0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Sheet1!$C$2:$C$3</c:f>
              <c:numCache>
                <c:formatCode>General</c:formatCode>
                <c:ptCount val="2"/>
                <c:pt idx="0">
                  <c:v>1853.0</c:v>
                </c:pt>
                <c:pt idx="1">
                  <c:v>3649.0</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HISTORICAL DATA THROUGH SEPTEMBER 2026.</a:t>
            </a:r>
          </a:p>
          <a:p>
            <a:r>
              <a:t>Bars represent monthly totals; the green line represents cumulative totals since August 2026. Only August and September are shown because October values are not available.</a:t>
            </a:r>
          </a:p>
          <a:p>
            <a:r>
              <a:t>The user explicitly requested removal of the empty Oct · pending category from the five charts on this slide. The categories and numbers for August and September remain unchanged. October is not shown as zero and is not estimated.</a:t>
            </a:r>
          </a:p>
          <a:p>
            <a:r>
              <a:t>Management safety walks: August 2, September 7; cumulative 2 and 9.</a:t>
            </a:r>
          </a:p>
          <a:p>
            <a:r>
              <a:t>Safety campaigns: August 2, September 4; cumulative 2 and 6.</a:t>
            </a:r>
          </a:p>
          <a:p>
            <a:r>
              <a:t>Drills: August 2, September 2; cumulative 2 and 4. The target is 100% of scheduled drills; counts alone do not establish compliance.</a:t>
            </a:r>
          </a:p>
          <a:p>
            <a:r>
              <a:t>Observations (OCS): August 167, September 295; cumulative 167 and 462.</a:t>
            </a:r>
          </a:p>
          <a:p>
            <a:r>
              <a:t>Training hours (HHS): August 1853, September 1796; cumulative 1853 and 3649.</a:t>
            </a:r>
          </a:p>
          <a:p>
            <a:r>
              <a:t>The training card remains 2.87%, as previously confirmed by the user; its target remains ≥1%.</a:t>
            </a:r>
          </a:p>
          <a:p>
            <a:r>
              <a:t>Alcance de esta edición: únicamente los cinco gráficos de esta lámina y sus libros incrustados; se conservan las demás láminas del archivo adjunto, sus ediciones y The End como cierre. Los gráficos de frecuencia de otra lámina no están incluidos en este pedido específico.</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REEMPLAZO DE LA ANTIGUA PROPUESTA DE HELICÓPTERO — LÁMINA 6.</a:t>
            </a:r>
          </a:p>
          <a:p>
            <a:r>
              <a:t>El usuario pide sustituir esta diapositiva por los siguientes dos temas, traducidos al inglés y con emojis como la lámina 5. Se reemplaza el contenido completo, incluidos los iconos y notas del helicóptero; no se agrega una lámina adicional.</a:t>
            </a:r>
          </a:p>
          <a:p>
            <a:r>
              <a:t>Fuente: texto que el usuario transcribió de los correos.</a:t>
            </a:r>
          </a:p>
          <a:p>
            <a:r>
              <a:t>1. Tramo Neuquén | Permiso hídrico: pendiente responder las observaciones del Estudio de Riesgo Hídrico y presentar ante SsRH, en coordinación con Serman, para avanzar en la obtención del permiso.</a:t>
            </a:r>
          </a:p>
          <a:p>
            <a:r>
              <a:t>2. Planta Compresora Allen | Adenda ambiental: adenda de actualización aprobada; definición sobre Stack Frío pendiente; SMP debe presentar ante la autoridad competente un análisis comparativo entre antorcha y venteo frío.</a:t>
            </a:r>
          </a:p>
          <a:p>
            <a:r>
              <a:t>Las frases en inglés reproducen esos estados. No se afirma que el permiso hídrico esté aprobado ni que la aprobación de la adenda resuelva el Stack Frío. No se añaden fechas o números de resolución no incluidos en este pedido. SSRH conserva las siglas del organismo de la fuente. Se incluyen emojis de agua y planta industrial como recursos ilustrativos, no fotografías.</a:t>
            </a:r>
          </a:p>
          <a:p>
            <a:r>
              <a:t>Este pedido restituye específicamente los dos temas ambientales en reemplazo de la propuesta de helicóptero, y prevalece sobre su omisión anterior. No se reincorporan las estadísticas ambientales. El resto de la presentación y las correcciones de agenda se conservan.</a:t>
            </a:r>
          </a:p>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lnSpc>
                <a:spcPts val="2400"/>
              </a:lnSpc>
              <a:spcBef>
                <a:spcPts val="0"/>
              </a:spcBef>
              <a:spcAft>
                <a:spcPts val="0"/>
              </a:spcAft>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Rounded Rectangle 25"/>
          <p:cNvSpPr/>
          <p:nvPr/>
        </p:nvSpPr>
        <p:spPr>
          <a:xfrm>
            <a:off x="420624" y="1417320"/>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 y="1508760"/>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6656" y="1709928"/>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841247" y="1865376"/>
            <a:ext cx="201169"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2416" y="1865376"/>
            <a:ext cx="201168"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42416" y="1865376"/>
            <a:ext cx="0" cy="429768"/>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86968" y="2212848"/>
            <a:ext cx="310896"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05840" y="18196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64208" y="1581912"/>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RESCUE EQUIPMENT</a:t>
            </a:r>
          </a:p>
        </p:txBody>
      </p:sp>
      <p:sp>
        <p:nvSpPr>
          <p:cNvPr id="35" name="TextBox 34"/>
          <p:cNvSpPr txBox="1"/>
          <p:nvPr/>
        </p:nvSpPr>
        <p:spPr>
          <a:xfrm>
            <a:off x="1664208" y="2011680"/>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All confined space rescue equipment was received on site.</a:t>
            </a:r>
          </a:p>
        </p:txBody>
      </p:sp>
      <p:sp>
        <p:nvSpPr>
          <p:cNvPr id="36" name="Rounded Rectangle 35"/>
          <p:cNvSpPr/>
          <p:nvPr/>
        </p:nvSpPr>
        <p:spPr>
          <a:xfrm>
            <a:off x="420624" y="2944368"/>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624" y="3035808"/>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6656" y="3236976"/>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5840" y="3410712"/>
            <a:ext cx="265176" cy="256032"/>
          </a:xfrm>
          <a:prstGeom prst="rect">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1133856" y="3666744"/>
            <a:ext cx="0" cy="13716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0704" y="3803904"/>
            <a:ext cx="14630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22960" y="3465576"/>
            <a:ext cx="118872" cy="11887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77824" y="3602736"/>
            <a:ext cx="0" cy="219455"/>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77824" y="3575304"/>
            <a:ext cx="155447" cy="8229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86384" y="3657600"/>
            <a:ext cx="91440" cy="54864"/>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664208" y="3108960"/>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EQUIPMENT TRAINING</a:t>
            </a:r>
          </a:p>
        </p:txBody>
      </p:sp>
      <p:sp>
        <p:nvSpPr>
          <p:cNvPr id="47" name="TextBox 46"/>
          <p:cNvSpPr txBox="1"/>
          <p:nvPr/>
        </p:nvSpPr>
        <p:spPr>
          <a:xfrm>
            <a:off x="1664208" y="3538728"/>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Training on the use of the confined space rescue equipment was completed.</a:t>
            </a:r>
          </a:p>
        </p:txBody>
      </p:sp>
      <p:sp>
        <p:nvSpPr>
          <p:cNvPr id="48" name="Rounded Rectangle 47"/>
          <p:cNvSpPr/>
          <p:nvPr/>
        </p:nvSpPr>
        <p:spPr>
          <a:xfrm>
            <a:off x="420624" y="4471416"/>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0624" y="4562855"/>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6656" y="4764024"/>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8660" y="4855464"/>
            <a:ext cx="667512" cy="548640"/>
          </a:xfrm>
          <a:prstGeom prst="rect">
            <a:avLst/>
          </a:prstGeom>
          <a:noFill/>
        </p:spPr>
        <p:txBody>
          <a:bodyPr wrap="none" lIns="0" rIns="0" tIns="0" bIns="0" anchor="ctr">
            <a:spAutoFit/>
          </a:bodyPr>
          <a:lstStyle/>
          <a:p>
            <a:pPr algn="ctr">
              <a:lnSpc>
                <a:spcPct val="113000"/>
              </a:lnSpc>
              <a:spcAft>
                <a:spcPts val="0"/>
              </a:spcAft>
            </a:pPr>
            <a:r>
              <a:rPr sz="1550" b="1">
                <a:solidFill>
                  <a:srgbClr val="FFFFFF"/>
                </a:solidFill>
                <a:latin typeface="DejaVu Sans"/>
              </a:rPr>
              <a:t>100%</a:t>
            </a:r>
          </a:p>
        </p:txBody>
      </p:sp>
      <p:sp>
        <p:nvSpPr>
          <p:cNvPr id="52" name="TextBox 51"/>
          <p:cNvSpPr txBox="1"/>
          <p:nvPr/>
        </p:nvSpPr>
        <p:spPr>
          <a:xfrm>
            <a:off x="1664208" y="4636007"/>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MANAGEMENT SAFETY WALKS</a:t>
            </a:r>
          </a:p>
        </p:txBody>
      </p:sp>
      <p:sp>
        <p:nvSpPr>
          <p:cNvPr id="53" name="TextBox 52"/>
          <p:cNvSpPr txBox="1"/>
          <p:nvPr/>
        </p:nvSpPr>
        <p:spPr>
          <a:xfrm>
            <a:off x="1664208" y="5065776"/>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183879" y="321314"/>
            <a:ext cx="932688" cy="215444"/>
          </a:xfrm>
          <a:prstGeom prst="rect">
            <a:avLst/>
          </a:prstGeom>
          <a:noFill/>
        </p:spPr>
        <p:txBody>
          <a:bodyPr wrap="none" rtlCol="0" lIns="0" rIns="0" tIns="0" bIns="0">
            <a:spAutoFit/>
          </a:bodyPr>
          <a:lstStyle/>
          <a:p>
            <a:r>
              <a:rPr sz="730">
                <a:solidFill>
                  <a:srgbClr val="FF0000"/>
                </a:solidFill>
                <a:latin typeface="DejaVu Sans"/>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818120" cy="54864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700" b="1">
                <a:solidFill>
                  <a:srgbClr val="013EF5"/>
                </a:solidFill>
                <a:latin typeface="DejaVu Sans"/>
              </a:rPr>
              <a:t>2.0 &gt; PERMITS &gt; Environmental Update</a:t>
            </a:r>
          </a:p>
        </p:txBody>
      </p:sp>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
        <p:nvSpPr>
          <p:cNvPr id="18" name="TextBox 17"/>
          <p:cNvSpPr txBox="1"/>
          <p:nvPr/>
        </p:nvSpPr>
        <p:spPr>
          <a:xfrm>
            <a:off x="420624" y="896112"/>
            <a:ext cx="8302752" cy="329184"/>
          </a:xfrm>
          <a:prstGeom prst="rect">
            <a:avLst/>
          </a:prstGeom>
          <a:noFill/>
        </p:spPr>
        <p:txBody>
          <a:bodyPr wrap="square" lIns="0" rIns="0" tIns="0" bIns="0">
            <a:spAutoFit/>
          </a:bodyPr>
          <a:lstStyle/>
          <a:p>
            <a:pPr>
              <a:lnSpc>
                <a:spcPct val="115000"/>
              </a:lnSpc>
              <a:spcAft>
                <a:spcPts val="0"/>
              </a:spcAft>
            </a:pPr>
            <a:r>
              <a:rPr sz="1100" b="1">
                <a:solidFill>
                  <a:srgbClr val="013EF5"/>
                </a:solidFill>
                <a:latin typeface="DejaVu Sans"/>
              </a:rPr>
              <a:t>OCTOBER 2026 · ENVIRONMENTAL PERMITS UPDATE</a:t>
            </a:r>
          </a:p>
        </p:txBody>
      </p:sp>
      <p:sp>
        <p:nvSpPr>
          <p:cNvPr id="19" name="Rounded Rectangle 18"/>
          <p:cNvSpPr/>
          <p:nvPr/>
        </p:nvSpPr>
        <p:spPr>
          <a:xfrm>
            <a:off x="420624" y="1472184"/>
            <a:ext cx="8302752" cy="1975104"/>
          </a:xfrm>
          <a:prstGeom prst="roundRect">
            <a:avLst>
              <a:gd name="adj" fmla="val 5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0624" y="1581912"/>
            <a:ext cx="41148" cy="175564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58368" y="2039112"/>
            <a:ext cx="822960" cy="822960"/>
          </a:xfrm>
          <a:prstGeom prst="ellipse">
            <a:avLst/>
          </a:prstGeom>
          <a:solidFill>
            <a:srgbClr val="E5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048256"/>
            <a:ext cx="768096" cy="786384"/>
          </a:xfrm>
          <a:prstGeom prst="rect">
            <a:avLst/>
          </a:prstGeom>
          <a:noFill/>
        </p:spPr>
        <p:txBody>
          <a:bodyPr wrap="none" lIns="0" rIns="0" tIns="0" bIns="0" anchor="ctr">
            <a:spAutoFit/>
          </a:bodyPr>
          <a:lstStyle/>
          <a:p>
            <a:pPr algn="ctr">
              <a:lnSpc>
                <a:spcPct val="115000"/>
              </a:lnSpc>
              <a:spcAft>
                <a:spcPts val="0"/>
              </a:spcAft>
            </a:pPr>
            <a:r>
              <a:rPr sz="3400" b="0">
                <a:solidFill>
                  <a:srgbClr val="27364A"/>
                </a:solidFill>
                <a:latin typeface="Noto Color Emoji"/>
              </a:rPr>
              <a:t>💧</a:t>
            </a:r>
          </a:p>
        </p:txBody>
      </p:sp>
      <p:sp>
        <p:nvSpPr>
          <p:cNvPr id="23" name="TextBox 22"/>
          <p:cNvSpPr txBox="1"/>
          <p:nvPr/>
        </p:nvSpPr>
        <p:spPr>
          <a:xfrm>
            <a:off x="1682496" y="1655064"/>
            <a:ext cx="6711696" cy="365760"/>
          </a:xfrm>
          <a:prstGeom prst="rect">
            <a:avLst/>
          </a:prstGeom>
          <a:noFill/>
        </p:spPr>
        <p:txBody>
          <a:bodyPr wrap="square" lIns="0" rIns="0" tIns="0" bIns="0">
            <a:spAutoFit/>
          </a:bodyPr>
          <a:lstStyle/>
          <a:p>
            <a:pPr>
              <a:lnSpc>
                <a:spcPct val="115000"/>
              </a:lnSpc>
              <a:spcAft>
                <a:spcPts val="0"/>
              </a:spcAft>
            </a:pPr>
            <a:r>
              <a:rPr sz="1260" b="1">
                <a:solidFill>
                  <a:srgbClr val="013EF5"/>
                </a:solidFill>
                <a:latin typeface="DejaVu Sans"/>
              </a:rPr>
              <a:t>NEUQUÉN SECTION | WATER PERMIT</a:t>
            </a:r>
          </a:p>
        </p:txBody>
      </p:sp>
      <p:sp>
        <p:nvSpPr>
          <p:cNvPr id="24" name="TextBox 23"/>
          <p:cNvSpPr txBox="1"/>
          <p:nvPr/>
        </p:nvSpPr>
        <p:spPr>
          <a:xfrm>
            <a:off x="1682496" y="2221992"/>
            <a:ext cx="6684264" cy="1060704"/>
          </a:xfrm>
          <a:prstGeom prst="rect">
            <a:avLst/>
          </a:prstGeom>
          <a:noFill/>
        </p:spPr>
        <p:txBody>
          <a:bodyPr wrap="square" lIns="0" rIns="0" tIns="0" bIns="0">
            <a:spAutoFit/>
          </a:bodyPr>
          <a:lstStyle/>
          <a:p>
            <a:pPr>
              <a:lnSpc>
                <a:spcPct val="115000"/>
              </a:lnSpc>
              <a:spcAft>
                <a:spcPts val="0"/>
              </a:spcAft>
            </a:pPr>
            <a:r>
              <a:rPr sz="1410" b="0">
                <a:solidFill>
                  <a:srgbClr val="27364A"/>
                </a:solidFill>
                <a:latin typeface="DejaVu Sans"/>
              </a:rPr>
              <a:t>The response to comments on the Water Risk Study and submission to SSRH remain pending, in coordination with Serman, to advance the water permit application.</a:t>
            </a:r>
          </a:p>
        </p:txBody>
      </p:sp>
      <p:sp>
        <p:nvSpPr>
          <p:cNvPr id="25" name="Rounded Rectangle 24"/>
          <p:cNvSpPr/>
          <p:nvPr/>
        </p:nvSpPr>
        <p:spPr>
          <a:xfrm>
            <a:off x="420624" y="3703320"/>
            <a:ext cx="8302752" cy="1975104"/>
          </a:xfrm>
          <a:prstGeom prst="roundRect">
            <a:avLst>
              <a:gd name="adj" fmla="val 5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0624" y="3813048"/>
            <a:ext cx="41148" cy="175564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58368" y="4270248"/>
            <a:ext cx="822960" cy="822960"/>
          </a:xfrm>
          <a:prstGeom prst="ellipse">
            <a:avLst/>
          </a:prstGeom>
          <a:solidFill>
            <a:srgbClr val="E5E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279392"/>
            <a:ext cx="768096" cy="786384"/>
          </a:xfrm>
          <a:prstGeom prst="rect">
            <a:avLst/>
          </a:prstGeom>
          <a:noFill/>
        </p:spPr>
        <p:txBody>
          <a:bodyPr wrap="none" lIns="0" rIns="0" tIns="0" bIns="0" anchor="ctr">
            <a:spAutoFit/>
          </a:bodyPr>
          <a:lstStyle/>
          <a:p>
            <a:pPr algn="ctr">
              <a:lnSpc>
                <a:spcPct val="115000"/>
              </a:lnSpc>
              <a:spcAft>
                <a:spcPts val="0"/>
              </a:spcAft>
            </a:pPr>
            <a:r>
              <a:rPr sz="3400" b="0">
                <a:solidFill>
                  <a:srgbClr val="27364A"/>
                </a:solidFill>
                <a:latin typeface="Noto Color Emoji"/>
              </a:rPr>
              <a:t>🏭</a:t>
            </a:r>
          </a:p>
        </p:txBody>
      </p:sp>
      <p:sp>
        <p:nvSpPr>
          <p:cNvPr id="29" name="TextBox 28"/>
          <p:cNvSpPr txBox="1"/>
          <p:nvPr/>
        </p:nvSpPr>
        <p:spPr>
          <a:xfrm>
            <a:off x="1682496" y="3886200"/>
            <a:ext cx="6711696" cy="365760"/>
          </a:xfrm>
          <a:prstGeom prst="rect">
            <a:avLst/>
          </a:prstGeom>
          <a:noFill/>
        </p:spPr>
        <p:txBody>
          <a:bodyPr wrap="square" lIns="0" rIns="0" tIns="0" bIns="0">
            <a:spAutoFit/>
          </a:bodyPr>
          <a:lstStyle/>
          <a:p>
            <a:pPr>
              <a:lnSpc>
                <a:spcPct val="115000"/>
              </a:lnSpc>
              <a:spcAft>
                <a:spcPts val="0"/>
              </a:spcAft>
            </a:pPr>
            <a:r>
              <a:rPr sz="1260" b="1">
                <a:solidFill>
                  <a:srgbClr val="013EF5"/>
                </a:solidFill>
                <a:latin typeface="DejaVu Sans"/>
              </a:rPr>
              <a:t>ALLEN COMPRESSOR PLANT | ENVIRONMENTAL ADDENDUM</a:t>
            </a:r>
          </a:p>
        </p:txBody>
      </p:sp>
      <p:sp>
        <p:nvSpPr>
          <p:cNvPr id="30" name="TextBox 29"/>
          <p:cNvSpPr txBox="1"/>
          <p:nvPr/>
        </p:nvSpPr>
        <p:spPr>
          <a:xfrm>
            <a:off x="1682496" y="4453128"/>
            <a:ext cx="6684264" cy="1060704"/>
          </a:xfrm>
          <a:prstGeom prst="rect">
            <a:avLst/>
          </a:prstGeom>
          <a:noFill/>
        </p:spPr>
        <p:txBody>
          <a:bodyPr wrap="square" lIns="0" rIns="0" tIns="0" bIns="0">
            <a:spAutoFit/>
          </a:bodyPr>
          <a:lstStyle/>
          <a:p>
            <a:pPr>
              <a:lnSpc>
                <a:spcPct val="115000"/>
              </a:lnSpc>
              <a:spcAft>
                <a:spcPts val="0"/>
              </a:spcAft>
            </a:pPr>
            <a:r>
              <a:rPr sz="1410" b="0">
                <a:solidFill>
                  <a:srgbClr val="27364A"/>
                </a:solidFill>
                <a:latin typeface="DejaVu Sans"/>
              </a:rPr>
              <a:t>The plant upgrade addendum has been approved. A decision on the cold vent stack (“Stack Frío”) remains pending. SMP must submit a comparative analysis of flaring and cold venting to the competent authority.</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v15 | Environmental permits slide replaces helicopter proposal</dc:title>
  <dc:subject>Data unchanged; safety and environment photo/highlight slides inserted</dc:subject>
  <dc:creator>Agustina Briceño</dc:creator>
  <cp:lastModifiedBy>William Saenz santamaria</cp:lastModifiedBy>
  <cp:revision>15</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