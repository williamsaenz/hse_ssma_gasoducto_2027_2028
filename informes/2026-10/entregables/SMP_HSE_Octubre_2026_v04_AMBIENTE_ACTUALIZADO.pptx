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8"/>
  </p:notesMasterIdLst>
  <p:sldIdLst>
    <p:sldId id="2146850440" r:id="rId2"/>
    <p:sldId id="2146850441" r:id="rId3"/>
    <p:sldId id="2146850420" r:id="rId4"/>
    <p:sldId id="2146850547" r:id="rId5"/>
    <p:sldId id="2146850549" r:id="rId7"/>
    <p:sldId id="2146850550" r:id="rId16"/>
    <p:sldId id="2146850551" r:id="rId17"/>
    <p:sldId id="2146850482" r:id="rId6"/>
    <p:sldId id="214685054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96" d="100"/>
          <a:sy n="96" d="100"/>
        </p:scale>
        <p:origin x="1710"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8.xml"/><Relationship Id="rId7"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 Id="rId15" Type="http://schemas.openxmlformats.org/officeDocument/2006/relationships/slide" Target="slides/slide9.xml"/><Relationship Id="rId16" Type="http://schemas.openxmlformats.org/officeDocument/2006/relationships/slide" Target="slides/slide6.xml"/><Relationship Id="rId17"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n-US"/>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n-US"/>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Monthly total</c:v>
                </c:pt>
              </c:strCache>
            </c:strRef>
          </c:tx>
          <c:spPr>
            <a:solidFill>
              <a:srgbClr val="013EF5"/>
            </a:solidFill>
            <a:ln>
              <a:noFill/>
            </a:ln>
          </c:spPr>
          <c:cat>
            <c:strRef>
              <c:f>Sheet1!$A$2:$A$3</c:f>
              <c:strCache>
                <c:ptCount val="2"/>
                <c:pt idx="0">
                  <c:v>Aug · total</c:v>
                </c:pt>
                <c:pt idx="1">
                  <c:v>Sep · total</c:v>
                </c:pt>
              </c:strCache>
            </c:strRef>
          </c:cat>
          <c:val>
            <c:numRef>
              <c:f>Sheet1!$B$2:$B$3</c:f>
              <c:numCache>
                <c:formatCode>General</c:formatCode>
                <c:ptCount val="2"/>
                <c:pt idx="0">
                  <c:v>99</c:v>
                </c:pt>
                <c:pt idx="1">
                  <c:v>93</c:v>
                </c:pt>
              </c:numCache>
            </c:numRef>
          </c:val>
        </c:ser>
        <c:dLbls>
          <c:numFmt formatCode="0"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cat>
            <c:strRef>
              <c:f>Sheet1!$A$2:$A$3</c:f>
              <c:strCache>
                <c:ptCount val="2"/>
                <c:pt idx="0">
                  <c:v>Aug · total</c:v>
                </c:pt>
                <c:pt idx="1">
                  <c:v>Sep · total</c:v>
                </c:pt>
              </c:strCache>
            </c:strRef>
          </c:cat>
          <c:val>
            <c:numRef>
              <c:f>Sheet1!$C$2:$C$3</c:f>
              <c:numCache>
                <c:formatCode>General</c:formatCode>
                <c:ptCount val="2"/>
                <c:pt idx="0">
                  <c:v>99</c:v>
                </c:pt>
                <c:pt idx="1">
                  <c:v>192</c:v>
                </c:pt>
              </c:numCache>
            </c:numRef>
          </c:val>
        </c:ser>
        <c:dLbls>
          <c:numFmt formatCode="0" sourceLinked="0"/>
          <c:txPr>
            <a:bodyPr/>
            <a:lstStyle/>
            <a:p>
              <a:pPr>
                <a:defRPr sz="1000" b="1">
                  <a:solidFill>
                    <a:srgbClr val="2F7D32"/>
                  </a:solidFill>
                </a:defRPr>
              </a:pPr>
              <a:endParaRPr lang="en-US"/>
            </a:p>
          </c:txPr>
          <c:dLblPos val="t"/>
          <c:showLegendKey val="0"/>
          <c:showVal val="1"/>
          <c:showCatName val="0"/>
          <c:showSerName val="0"/>
        </c:dLbls>
        <c:marker val="1"/>
        <c:smooth val="0"/>
        <c:axId val="-2068027336"/>
        <c:axId val="-2113994440"/>
      </c:line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250.0"/>
          <c:min val="0.0"/>
        </c:scaling>
        <c:delete val="0"/>
        <c:axPos val="l"/>
        <c:numFmt formatCode="0" sourceLinked="0"/>
        <c:majorTickMark val="out"/>
        <c:minorTickMark val="none"/>
        <c:tickLblPos val="nextTo"/>
        <c:txPr>
          <a:bodyPr/>
          <a:lstStyle/>
          <a:p>
            <a:pPr>
              <a:defRPr sz="800"/>
            </a:pPr>
          </a:p>
        </c:txPr>
        <c:crossAx val="-2068027336"/>
        <c:crosses val="autoZero"/>
        <c:majorUnit val="50.0"/>
      </c:valAx>
    </c:plotArea>
    <c:legend>
      <c:legendPos val="b"/>
      <c:overlay val="0"/>
      <c:txPr>
        <a:bodyPr/>
        <a:lstStyle/>
        <a:p>
          <a:pPr>
            <a:defRPr sz="700">
              <a:latin typeface="DejaVu Sans"/>
            </a:defRPr>
          </a:pPr>
        </a:p>
      </c:txPr>
    </c:legend>
    <c:dispBlanksAs val="gap"/>
  </c:chart>
  <c:txPr>
    <a:bodyPr/>
    <a:lstStyle/>
    <a:p>
      <a:pPr>
        <a:defRPr sz="800">
          <a:latin typeface="DejaVu San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Monthly total</c:v>
                </c:pt>
              </c:strCache>
            </c:strRef>
          </c:tx>
          <c:spPr>
            <a:solidFill>
              <a:srgbClr val="013EF5"/>
            </a:solidFill>
            <a:ln>
              <a:noFill/>
            </a:ln>
          </c:spPr>
          <c:cat>
            <c:strRef>
              <c:f>Sheet1!$A$2:$A$3</c:f>
              <c:strCache>
                <c:ptCount val="2"/>
                <c:pt idx="0">
                  <c:v>Aug · total</c:v>
                </c:pt>
                <c:pt idx="1">
                  <c:v>Sep · total</c:v>
                </c:pt>
              </c:strCache>
            </c:strRef>
          </c:cat>
          <c:val>
            <c:numRef>
              <c:f>Sheet1!$B$2:$B$3</c:f>
              <c:numCache>
                <c:formatCode>General</c:formatCode>
                <c:ptCount val="2"/>
                <c:pt idx="0">
                  <c:v>695</c:v>
                </c:pt>
                <c:pt idx="1">
                  <c:v>2182</c:v>
                </c:pt>
              </c:numCache>
            </c:numRef>
          </c:val>
        </c:ser>
        <c:dLbls>
          <c:numFmt formatCode="0"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cat>
            <c:strRef>
              <c:f>Sheet1!$A$2:$A$3</c:f>
              <c:strCache>
                <c:ptCount val="2"/>
                <c:pt idx="0">
                  <c:v>Aug · total</c:v>
                </c:pt>
                <c:pt idx="1">
                  <c:v>Sep · total</c:v>
                </c:pt>
              </c:strCache>
            </c:strRef>
          </c:cat>
          <c:val>
            <c:numRef>
              <c:f>Sheet1!$C$2:$C$3</c:f>
              <c:numCache>
                <c:formatCode>General</c:formatCode>
                <c:ptCount val="2"/>
                <c:pt idx="0">
                  <c:v>695</c:v>
                </c:pt>
                <c:pt idx="1">
                  <c:v>2877</c:v>
                </c:pt>
              </c:numCache>
            </c:numRef>
          </c:val>
        </c:ser>
        <c:dLbls>
          <c:numFmt formatCode="0" sourceLinked="0"/>
          <c:txPr>
            <a:bodyPr/>
            <a:lstStyle/>
            <a:p>
              <a:pPr>
                <a:defRPr sz="1000" b="1">
                  <a:solidFill>
                    <a:srgbClr val="2F7D32"/>
                  </a:solidFill>
                </a:defRPr>
              </a:pPr>
              <a:endParaRPr lang="en-US"/>
            </a:p>
          </c:txPr>
          <c:dLblPos val="t"/>
          <c:showLegendKey val="0"/>
          <c:showVal val="1"/>
          <c:showCatName val="0"/>
          <c:showSerName val="0"/>
        </c:dLbls>
        <c:marker val="1"/>
        <c:smooth val="0"/>
        <c:axId val="-2068027336"/>
        <c:axId val="-2113994440"/>
      </c:line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3500.0"/>
          <c:min val="0.0"/>
        </c:scaling>
        <c:delete val="0"/>
        <c:axPos val="l"/>
        <c:numFmt formatCode="0" sourceLinked="0"/>
        <c:majorTickMark val="out"/>
        <c:minorTickMark val="none"/>
        <c:tickLblPos val="nextTo"/>
        <c:txPr>
          <a:bodyPr/>
          <a:lstStyle/>
          <a:p>
            <a:pPr>
              <a:defRPr sz="800"/>
            </a:pPr>
          </a:p>
        </c:txPr>
        <c:crossAx val="-2068027336"/>
        <c:crosses val="autoZero"/>
        <c:majorUnit val="500.0"/>
      </c:valAx>
    </c:plotArea>
    <c:legend>
      <c:legendPos val="b"/>
      <c:overlay val="0"/>
      <c:txPr>
        <a:bodyPr/>
        <a:lstStyle/>
        <a:p>
          <a:pPr>
            <a:defRPr sz="700">
              <a:latin typeface="DejaVu Sans"/>
            </a:defRPr>
          </a:pPr>
        </a:p>
      </c:txPr>
    </c:legend>
    <c:dispBlanksAs val="gap"/>
  </c:chart>
  <c:txPr>
    <a:bodyPr/>
    <a:lstStyle/>
    <a:p>
      <a:pPr>
        <a:defRPr sz="800">
          <a:latin typeface="DejaVu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26/10/2026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p>
            <a:r>
              <a:t>INSTRUCCIÓN VIGENTE DEL CORREO DE ADRIÁN: conservar los datos estadísticos tal como fueron enviados; referencia de cierre 30/09/2026. Los temas de octubre se presentan por separado. No se alteran series ni resultados. El porcentaje de capacitación continúa en 2.87%, como indicó el usuario. Los campos de octubre pendientes en la estructura original no son un pedido de carga para esta etapa.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a:p/>
          <a:p>
            <a:r>
              <a:t>INSTRUCCIÓN VIGENTE DEL CORREO DE ADRIÁN: conservar los datos estadísticos tal como fueron enviados; referencia de cierre 30/09/2026. Los temas de octubre se presentan por separado. No se alteran series ni resultados. El porcentaje de capacitación continúa en 2.87%, como indicó el usuario. Los campos de octubre pendientes en la estructura original no son un pedido de carga para esta etapa.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 tercer pantallazo aportado por el usuario, no lámina presente en la PPTX inicial. Reconstrucción editable de sus datos, sin actualización de valores. Residuos agosto 99 kg, septiembre 93 kg, acumulado agosto 99 y septiembre 192 kg. Agua agosto 695 m³, septiembre 2182 m³, acumulado agosto 695 y septiembre 2877 m³. Recuperación 0,00% se muestra como 0%; disposición final/incineración 100,00% como 100%. La captura muestra agosto y septiembre; no hay dato de octubre, por eso no se añade cero ni una barra de octubre. Los números de los gráficos se muestran como enteros sin separadores para evitar confusión entre miles y decimales. No se aportó denominador, alcance ni meta aprobada para los porcentajes; conservar como valores históricos de la captura. Año contextual del informe: 2026, no expresado en el gráfico de la captura. Inmediatamente después se coloca la nueva lámina de novedades relevantes de ambiente.</a:t>
            </a:r>
          </a:p>
          <a:p/>
          <a:p>
            <a:r>
              <a:t>INSTRUCCIÓN VIGENTE DEL CORREO DE ADRIÁN: conservar los datos estadísticos tal como fueron enviados; referencia de cierre 30/09/2026. Los temas de octubre se presentan por separado. No se alteran series ni resultados. El porcentaje de capacitación continúa en 2.87%, como indicó el usuario. Los campos de octubre pendientes en la estructura original no son un pedido de carga para esta etapa.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FUENTES Y ALCANCE — actualización de ambiente v04.</a:t>
            </a:r>
          </a:p>
          <a:p>
            <a:r>
              <a:t>El usuario identifica a su jefe como Adrián Leandro de Girolamo. En el reenvío de 26/10/2026, 17:18 según captura, Adrián instruye: «Temas relevantes de ambiente para poner en un slide debajo de los datos estadisticos, estos ultimos deben quedar como se los mande».</a:t>
            </a:r>
          </a:p>
          <a:p>
            <a:r>
              <a:t>La cadena de Paula indica que se presentan estadísticas al 30/09 y solicita incidentes/puntos relevantes de octubre, novedades del helicóptero y otros temas de HSE/construcción. El cierre de indicadores ambientales de octubre se realiza a principios de noviembre, según Nicolás; no se deben cargar cifras provisorias por ese motivo.</a:t>
            </a:r>
          </a:p>
          <a:p>
            <a:r>
              <a:t>Nicolás Auriemma, en el correo de 26/10/2026 16:36:37 según captura, informa dos temas: (1) aprobación de la Adenda «Actualización Planta Compresora Allen», con punto pendiente relativo al Stack Frío y presentación por SMP de una comparación antorcha vs venteo frío para discutir ante la autoridad; (2) gestión pendiente con Serman para presentar a SsRH los puntos observados del Estudio de Riesgo Hídrico para obtener el permiso hídrico del tramo neuquino.</a:t>
            </a:r>
          </a:p>
          <a:p>
            <a:r>
              <a:t>La fecha 21/10/2026 y la Resolución 962/2026 de Allen provienen de la captura anterior de la lámina de permisos. No fueron verificadas contra la resolución original. La adenda está informada como aprobada; la cuestión del Stack Frío sigue pendiente. No presentar una aprobación del permiso hídrico de Neuquén ni una aprobación del venteo frío.</a:t>
            </a:r>
          </a:p>
          <a:p>
            <a:r>
              <a:t>Esta es una síntesis de hitos y pendientes de octubre, posterior a los gráficos de ambiente. La lámina completa de permisos ya está en la presentación que tiene SESA, según el mensaje previo de Nicolás. No se sustituye esa lámina ni se afirma que se haya integrado la presentación completa.</a:t>
            </a:r>
          </a:p>
          <a:p>
            <a:r>
              <a:t>No se recibieron fotos ni documentos originales de respaldo para insertar: se mantienen dos espacios de material de apoyo, explícitamente pendientes. No afirmar inexistencia de incidentes: no se recibió confirmación específica.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26/10/2026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26/10/2026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26/10/2026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26/10/2026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emf"/><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4"/>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endParaRPr lang="en-GB" sz="2000" noProof="0" dirty="0">
              <a:latin typeface="Aptos" panose="020B0004020202020204" pitchFamily="34" charset="0"/>
            </a:endParaRP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57080"/>
                </a:solidFill>
                <a:latin typeface="Aptos"/>
              </a:rPr>
              <a:t>Statistics through 30 Sep 2026 · CP + Pipeline · October highlights reported separately</a:t>
            </a:r>
            <a:r>
              <a:rPr lang="en-GB" sz="900" b="0" i="0" noProof="0" dirty="0">
                <a:solidFill>
                  <a:srgbClr val="657080"/>
                </a:solidFill>
                <a:latin typeface="Aptos"/>
              </a:rPr>
              <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2.35</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0.79</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 Aug–Sep 2026</a:t>
            </a:r>
            <a:r>
              <a:rPr lang="en-GB" sz="800" b="1" i="0" noProof="0" dirty="0">
                <a:solidFill>
                  <a:srgbClr val="FF0000"/>
                </a:solidFill>
                <a:latin typeface="Aptos"/>
              </a:rPr>
              <a:t> · Oct pending</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October (cut-off Oct 27)</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3"/>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4"/>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5"/>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18888"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27448"/>
            <a:ext cx="8001000" cy="274320"/>
          </a:xfrm>
          <a:prstGeom prst="rect">
            <a:avLst/>
          </a:prstGeom>
          <a:noFill/>
        </p:spPr>
        <p:txBody>
          <a:bodyPr wrap="square" lIns="18288" rIns="18288" tIns="0" bIns="0">
            <a:spAutoFit/>
          </a:bodyPr>
          <a:lstStyle/>
          <a:p>
            <a:pPr>
              <a:spcAft>
                <a:spcPts val="500"/>
              </a:spcAft>
              <a:defRPr sz="1200" b="1">
                <a:solidFill>
                  <a:srgbClr val="013EF5"/>
                </a:solidFill>
                <a:latin typeface="DejaVu Sans"/>
              </a:defRPr>
            </a:pPr>
            <a:r>
              <a:t>SAFETY — RELEVANT OCTOBER TOPICS</a:t>
            </a:r>
          </a:p>
        </p:txBody>
      </p:sp>
      <p:sp>
        <p:nvSpPr>
          <p:cNvPr id="22" name="TextBox 21"/>
          <p:cNvSpPr txBox="1"/>
          <p:nvPr/>
        </p:nvSpPr>
        <p:spPr>
          <a:xfrm>
            <a:off x="566928" y="5184648"/>
            <a:ext cx="7863840" cy="749808"/>
          </a:xfrm>
          <a:prstGeom prst="rect">
            <a:avLst/>
          </a:prstGeom>
          <a:noFill/>
        </p:spPr>
        <p:txBody>
          <a:bodyPr wrap="square" lIns="18288" rIns="18288" tIns="0"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Environmental Performance Indicators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38912" y="832104"/>
            <a:ext cx="8321040" cy="237744"/>
          </a:xfrm>
          <a:prstGeom prst="rect">
            <a:avLst/>
          </a:prstGeom>
          <a:noFill/>
        </p:spPr>
        <p:txBody>
          <a:bodyPr wrap="square" lIns="18288" rIns="18288" tIns="0" bIns="0">
            <a:spAutoFit/>
          </a:bodyPr>
          <a:lstStyle/>
          <a:p>
            <a:pPr>
              <a:spcAft>
                <a:spcPts val="500"/>
              </a:spcAft>
              <a:defRPr sz="900" b="0">
                <a:solidFill>
                  <a:srgbClr val="68717D"/>
                </a:solidFill>
                <a:latin typeface="DejaVu Sans"/>
              </a:defRPr>
            </a:pPr>
            <a:r>
              <a:t>Statistics through 30 September 2026 · values unchanged</a:t>
            </a:r>
          </a:p>
        </p:txBody>
      </p:sp>
      <p:sp>
        <p:nvSpPr>
          <p:cNvPr id="14" name="TextBox 13"/>
          <p:cNvSpPr txBox="1"/>
          <p:nvPr/>
        </p:nvSpPr>
        <p:spPr>
          <a:xfrm>
            <a:off x="484632" y="1207008"/>
            <a:ext cx="4023360" cy="27432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TOTAL WASTE GENERATION (kg/month)</a:t>
            </a:r>
          </a:p>
        </p:txBody>
      </p:sp>
      <p:graphicFrame>
        <p:nvGraphicFramePr>
          <p:cNvPr id="15" name="Chart 14"/>
          <p:cNvGraphicFramePr>
            <a:graphicFrameLocks noGrp="1"/>
          </p:cNvGraphicFramePr>
          <p:nvPr/>
        </p:nvGraphicFramePr>
        <p:xfrm>
          <a:off x="457200" y="1572768"/>
          <a:ext cx="3063240" cy="2121408"/>
        </p:xfrm>
        <a:graphic>
          <a:graphicData uri="http://schemas.openxmlformats.org/drawingml/2006/chart">
            <c:chart xmlns:c="http://schemas.openxmlformats.org/drawingml/2006/chart" r:id="rId3"/>
          </a:graphicData>
        </a:graphic>
      </p:graphicFrame>
      <p:sp>
        <p:nvSpPr>
          <p:cNvPr id="16" name="Rectangle 15"/>
          <p:cNvSpPr/>
          <p:nvPr/>
        </p:nvSpPr>
        <p:spPr>
          <a:xfrm>
            <a:off x="411480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24528" y="1984248"/>
            <a:ext cx="2057400" cy="320040"/>
          </a:xfrm>
          <a:prstGeom prst="rect">
            <a:avLst/>
          </a:prstGeom>
          <a:noFill/>
        </p:spPr>
        <p:txBody>
          <a:bodyPr wrap="square" lIns="18288" rIns="18288" tIns="0" bIns="0">
            <a:spAutoFit/>
          </a:bodyPr>
          <a:lstStyle/>
          <a:p>
            <a:pPr>
              <a:spcAft>
                <a:spcPts val="500"/>
              </a:spcAft>
              <a:defRPr sz="850" b="1">
                <a:solidFill>
                  <a:srgbClr val="68717D"/>
                </a:solidFill>
                <a:latin typeface="DejaVu Sans"/>
              </a:defRPr>
            </a:pPr>
            <a:r>
              <a:t>% Waste recovery</a:t>
            </a:r>
          </a:p>
        </p:txBody>
      </p:sp>
      <p:sp>
        <p:nvSpPr>
          <p:cNvPr id="19" name="TextBox 18"/>
          <p:cNvSpPr txBox="1"/>
          <p:nvPr/>
        </p:nvSpPr>
        <p:spPr>
          <a:xfrm>
            <a:off x="4224528" y="2359152"/>
            <a:ext cx="2011680" cy="475488"/>
          </a:xfrm>
          <a:prstGeom prst="rect">
            <a:avLst/>
          </a:prstGeom>
          <a:noFill/>
        </p:spPr>
        <p:txBody>
          <a:bodyPr wrap="square" lIns="18288" rIns="18288" tIns="0" bIns="0">
            <a:spAutoFit/>
          </a:bodyPr>
          <a:lstStyle/>
          <a:p>
            <a:pPr>
              <a:spcAft>
                <a:spcPts val="500"/>
              </a:spcAft>
              <a:defRPr sz="2800" b="1">
                <a:solidFill>
                  <a:srgbClr val="013EF5"/>
                </a:solidFill>
                <a:latin typeface="DejaVu Sans"/>
              </a:defRPr>
            </a:pPr>
            <a:r>
              <a:t>0%</a:t>
            </a:r>
          </a:p>
        </p:txBody>
      </p:sp>
      <p:sp>
        <p:nvSpPr>
          <p:cNvPr id="20" name="Rectangle 19"/>
          <p:cNvSpPr/>
          <p:nvPr/>
        </p:nvSpPr>
        <p:spPr>
          <a:xfrm>
            <a:off x="644652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1984248"/>
            <a:ext cx="2057400" cy="320040"/>
          </a:xfrm>
          <a:prstGeom prst="rect">
            <a:avLst/>
          </a:prstGeom>
          <a:noFill/>
        </p:spPr>
        <p:txBody>
          <a:bodyPr wrap="square" lIns="18288" rIns="18288" tIns="0" bIns="0">
            <a:spAutoFit/>
          </a:bodyPr>
          <a:lstStyle/>
          <a:p>
            <a:pPr>
              <a:spcAft>
                <a:spcPts val="500"/>
              </a:spcAft>
              <a:defRPr sz="850" b="1">
                <a:solidFill>
                  <a:srgbClr val="68717D"/>
                </a:solidFill>
                <a:latin typeface="DejaVu Sans"/>
              </a:defRPr>
            </a:pPr>
            <a:r>
              <a:t>% Waste final disposal / incinerated</a:t>
            </a:r>
          </a:p>
        </p:txBody>
      </p:sp>
      <p:sp>
        <p:nvSpPr>
          <p:cNvPr id="23" name="TextBox 22"/>
          <p:cNvSpPr txBox="1"/>
          <p:nvPr/>
        </p:nvSpPr>
        <p:spPr>
          <a:xfrm>
            <a:off x="6556248" y="2359152"/>
            <a:ext cx="2011680" cy="475488"/>
          </a:xfrm>
          <a:prstGeom prst="rect">
            <a:avLst/>
          </a:prstGeom>
          <a:noFill/>
        </p:spPr>
        <p:txBody>
          <a:bodyPr wrap="square" lIns="18288" rIns="18288" tIns="0" bIns="0">
            <a:spAutoFit/>
          </a:bodyPr>
          <a:lstStyle/>
          <a:p>
            <a:pPr>
              <a:spcAft>
                <a:spcPts val="500"/>
              </a:spcAft>
              <a:defRPr sz="2800" b="1">
                <a:solidFill>
                  <a:srgbClr val="013EF5"/>
                </a:solidFill>
                <a:latin typeface="DejaVu Sans"/>
              </a:defRPr>
            </a:pPr>
            <a:r>
              <a:t>100%</a:t>
            </a:r>
          </a:p>
        </p:txBody>
      </p:sp>
      <p:sp>
        <p:nvSpPr>
          <p:cNvPr id="24" name="TextBox 23"/>
          <p:cNvSpPr txBox="1"/>
          <p:nvPr/>
        </p:nvSpPr>
        <p:spPr>
          <a:xfrm>
            <a:off x="484632" y="4023360"/>
            <a:ext cx="4846320" cy="27432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FRESHWATER CONSUMPTION (m³/month)</a:t>
            </a:r>
          </a:p>
        </p:txBody>
      </p:sp>
      <p:graphicFrame>
        <p:nvGraphicFramePr>
          <p:cNvPr id="25" name="Chart 24"/>
          <p:cNvGraphicFramePr>
            <a:graphicFrameLocks noGrp="1"/>
          </p:cNvGraphicFramePr>
          <p:nvPr/>
        </p:nvGraphicFramePr>
        <p:xfrm>
          <a:off x="457200" y="4370832"/>
          <a:ext cx="3063240" cy="1947672"/>
        </p:xfrm>
        <a:graphic>
          <a:graphicData uri="http://schemas.openxmlformats.org/drawingml/2006/chart">
            <c:chart xmlns:c="http://schemas.openxmlformats.org/drawingml/2006/chart" r:id="rId4"/>
          </a:graphicData>
        </a:graphic>
      </p:graphicFrame>
      <p:sp>
        <p:nvSpPr>
          <p:cNvPr id="26" name="TextBox 25"/>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27 OCT 2026</a:t>
            </a:r>
          </a:p>
        </p:txBody>
      </p:sp>
      <p:sp>
        <p:nvSpPr>
          <p:cNvPr id="27" name="TextBox 26"/>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4" name="TextBox 2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7</a:t>
            </a:r>
          </a:p>
        </p:txBody>
      </p:sp>
      <p:sp>
        <p:nvSpPr>
          <p:cNvPr id="25" name="TextBox 24"/>
          <p:cNvSpPr txBox="1"/>
          <p:nvPr/>
        </p:nvSpPr>
        <p:spPr>
          <a:xfrm>
            <a:off x="402336" y="868680"/>
            <a:ext cx="8321040" cy="320040"/>
          </a:xfrm>
          <a:prstGeom prst="rect">
            <a:avLst/>
          </a:prstGeom>
          <a:noFill/>
        </p:spPr>
        <p:txBody>
          <a:bodyPr wrap="square" lIns="18288" rIns="18288" tIns="0" bIns="0">
            <a:spAutoFit/>
          </a:bodyPr>
          <a:lstStyle/>
          <a:p>
            <a:pPr>
              <a:spcAft>
                <a:spcPts val="600"/>
              </a:spcAft>
              <a:defRPr sz="1050" b="1">
                <a:solidFill>
                  <a:srgbClr val="013EF5"/>
                </a:solidFill>
                <a:latin typeface="DejaVu Sans"/>
              </a:defRPr>
            </a:pPr>
            <a:r>
              <a:t>OCTOBER 2026 · RELEVANT ENVIRONMENTAL TOPICS · reported 26 Oct</a:t>
            </a:r>
          </a:p>
        </p:txBody>
      </p:sp>
      <p:sp>
        <p:nvSpPr>
          <p:cNvPr id="26" name="Rectangle 25"/>
          <p:cNvSpPr/>
          <p:nvPr/>
        </p:nvSpPr>
        <p:spPr>
          <a:xfrm>
            <a:off x="411480" y="1417320"/>
            <a:ext cx="5623560" cy="20574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1572768"/>
            <a:ext cx="5303520" cy="502920"/>
          </a:xfrm>
          <a:prstGeom prst="rect">
            <a:avLst/>
          </a:prstGeom>
          <a:noFill/>
        </p:spPr>
        <p:txBody>
          <a:bodyPr wrap="square" lIns="18288" rIns="18288" tIns="0" bIns="0">
            <a:spAutoFit/>
          </a:bodyPr>
          <a:lstStyle/>
          <a:p>
            <a:pPr>
              <a:spcAft>
                <a:spcPts val="600"/>
              </a:spcAft>
              <a:defRPr sz="1200" b="1">
                <a:solidFill>
                  <a:srgbClr val="013EF5"/>
                </a:solidFill>
                <a:latin typeface="DejaVu Sans"/>
              </a:defRPr>
            </a:pPr>
            <a:r>
              <a:t>ALLEN COMPRESSOR PLANT</a:t>
            </a:r>
          </a:p>
          <a:p>
            <a:pPr>
              <a:spcAft>
                <a:spcPts val="600"/>
              </a:spcAft>
              <a:defRPr sz="1200" b="1">
                <a:solidFill>
                  <a:srgbClr val="013EF5"/>
                </a:solidFill>
                <a:latin typeface="DejaVu Sans"/>
              </a:defRPr>
            </a:pPr>
            <a:r>
              <a:t>EIA ADDENDUM APPROVED</a:t>
            </a:r>
          </a:p>
        </p:txBody>
      </p:sp>
      <p:sp>
        <p:nvSpPr>
          <p:cNvPr id="28" name="TextBox 27"/>
          <p:cNvSpPr txBox="1"/>
          <p:nvPr/>
        </p:nvSpPr>
        <p:spPr>
          <a:xfrm>
            <a:off x="566928" y="2176272"/>
            <a:ext cx="5303520" cy="1179576"/>
          </a:xfrm>
          <a:prstGeom prst="rect">
            <a:avLst/>
          </a:prstGeom>
          <a:noFill/>
        </p:spPr>
        <p:txBody>
          <a:bodyPr wrap="square" lIns="18288" rIns="18288" tIns="0" bIns="0">
            <a:spAutoFit/>
          </a:bodyPr>
          <a:lstStyle/>
          <a:p>
            <a:pPr>
              <a:spcAft>
                <a:spcPts val="600"/>
              </a:spcAft>
              <a:defRPr sz="1130" b="0">
                <a:solidFill>
                  <a:srgbClr val="26334B"/>
                </a:solidFill>
                <a:latin typeface="DejaVu Sans"/>
              </a:defRPr>
            </a:pPr>
            <a:r>
              <a:t>“Allen Compressor Plant Update” addendum approved on 21 October 2026 (Resolution 962/2026).</a:t>
            </a:r>
          </a:p>
          <a:p>
            <a:pPr>
              <a:spcAft>
                <a:spcPts val="600"/>
              </a:spcAft>
              <a:defRPr sz="1130" b="0">
                <a:solidFill>
                  <a:srgbClr val="26334B"/>
                </a:solidFill>
                <a:latin typeface="DejaVu Sans"/>
              </a:defRPr>
            </a:pPr>
            <a:r>
              <a:t>Open item: SMP to submit a flaring vs cold-venting comparison for discussion with the environmental authority.</a:t>
            </a:r>
          </a:p>
        </p:txBody>
      </p:sp>
      <p:sp>
        <p:nvSpPr>
          <p:cNvPr id="29" name="Rectangle 28"/>
          <p:cNvSpPr/>
          <p:nvPr/>
        </p:nvSpPr>
        <p:spPr>
          <a:xfrm>
            <a:off x="411480" y="3776472"/>
            <a:ext cx="5623560" cy="20574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931920"/>
            <a:ext cx="5303520" cy="438912"/>
          </a:xfrm>
          <a:prstGeom prst="rect">
            <a:avLst/>
          </a:prstGeom>
          <a:noFill/>
        </p:spPr>
        <p:txBody>
          <a:bodyPr wrap="square" lIns="18288" rIns="18288" tIns="0" bIns="0">
            <a:spAutoFit/>
          </a:bodyPr>
          <a:lstStyle/>
          <a:p>
            <a:pPr>
              <a:spcAft>
                <a:spcPts val="600"/>
              </a:spcAft>
              <a:defRPr sz="1200" b="1">
                <a:solidFill>
                  <a:srgbClr val="013EF5"/>
                </a:solidFill>
                <a:latin typeface="DejaVu Sans"/>
              </a:defRPr>
            </a:pPr>
            <a:r>
              <a:t>NEUQUÉN SECTION — WATER PERMIT PENDING</a:t>
            </a:r>
          </a:p>
        </p:txBody>
      </p:sp>
      <p:sp>
        <p:nvSpPr>
          <p:cNvPr id="31" name="TextBox 30"/>
          <p:cNvSpPr txBox="1"/>
          <p:nvPr/>
        </p:nvSpPr>
        <p:spPr>
          <a:xfrm>
            <a:off x="566928" y="4544568"/>
            <a:ext cx="5303520" cy="1143000"/>
          </a:xfrm>
          <a:prstGeom prst="rect">
            <a:avLst/>
          </a:prstGeom>
          <a:noFill/>
        </p:spPr>
        <p:txBody>
          <a:bodyPr wrap="square" lIns="18288" rIns="18288" tIns="0" bIns="0">
            <a:spAutoFit/>
          </a:bodyPr>
          <a:lstStyle/>
          <a:p>
            <a:pPr>
              <a:spcAft>
                <a:spcPts val="600"/>
              </a:spcAft>
              <a:defRPr sz="1130" b="0">
                <a:solidFill>
                  <a:srgbClr val="26334B"/>
                </a:solidFill>
                <a:latin typeface="DejaVu Sans"/>
              </a:defRPr>
            </a:pPr>
            <a:r>
              <a:t>Pending action with Serman: address comments on the Water Risk Study and submit the response to SSRH.</a:t>
            </a:r>
          </a:p>
          <a:p>
            <a:pPr>
              <a:spcAft>
                <a:spcPts val="600"/>
              </a:spcAft>
              <a:defRPr sz="1130" b="0">
                <a:solidFill>
                  <a:srgbClr val="26334B"/>
                </a:solidFill>
                <a:latin typeface="DejaVu Sans"/>
              </a:defRPr>
            </a:pPr>
            <a:r>
              <a:t>Purpose: obtain the water permit for the Neuquén section.</a:t>
            </a:r>
          </a:p>
        </p:txBody>
      </p:sp>
      <p:sp>
        <p:nvSpPr>
          <p:cNvPr id="32" name="Rectangle 31"/>
          <p:cNvSpPr/>
          <p:nvPr/>
        </p:nvSpPr>
        <p:spPr>
          <a:xfrm>
            <a:off x="6291072" y="1417320"/>
            <a:ext cx="2423160" cy="162763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9088" y="1810512"/>
            <a:ext cx="2167128" cy="914400"/>
          </a:xfrm>
          <a:prstGeom prst="rect">
            <a:avLst/>
          </a:prstGeom>
          <a:noFill/>
        </p:spPr>
        <p:txBody>
          <a:bodyPr wrap="square" lIns="18288" rIns="18288" tIns="0" bIns="0">
            <a:spAutoFit/>
          </a:bodyPr>
          <a:lstStyle/>
          <a:p>
            <a:pPr algn="ctr">
              <a:spcAft>
                <a:spcPts val="600"/>
              </a:spcAft>
              <a:defRPr sz="1060" b="0">
                <a:solidFill>
                  <a:srgbClr val="657080"/>
                </a:solidFill>
                <a:latin typeface="DejaVu Sans"/>
              </a:defRPr>
            </a:pPr>
            <a:r>
              <a:t>PHOTO / SUPPORTING</a:t>
            </a:r>
          </a:p>
          <a:p>
            <a:pPr algn="ctr">
              <a:spcAft>
                <a:spcPts val="600"/>
              </a:spcAft>
              <a:defRPr sz="1060" b="0">
                <a:solidFill>
                  <a:srgbClr val="657080"/>
                </a:solidFill>
                <a:latin typeface="DejaVu Sans"/>
              </a:defRPr>
            </a:pPr>
            <a:r>
              <a:t>DOCUMENT</a:t>
            </a:r>
          </a:p>
          <a:p>
            <a:pPr algn="ctr">
              <a:spcAft>
                <a:spcPts val="600"/>
              </a:spcAft>
              <a:defRPr sz="1060" b="0">
                <a:solidFill>
                  <a:srgbClr val="657080"/>
                </a:solidFill>
                <a:latin typeface="DejaVu Sans"/>
              </a:defRPr>
            </a:pPr>
            <a:r>
              <a:t>Pending supplied material</a:t>
            </a:r>
          </a:p>
        </p:txBody>
      </p:sp>
      <p:sp>
        <p:nvSpPr>
          <p:cNvPr id="34" name="Rectangle 33"/>
          <p:cNvSpPr/>
          <p:nvPr/>
        </p:nvSpPr>
        <p:spPr>
          <a:xfrm>
            <a:off x="6291072" y="3776472"/>
            <a:ext cx="2423160" cy="1627632"/>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19088" y="4169663"/>
            <a:ext cx="2167128" cy="914400"/>
          </a:xfrm>
          <a:prstGeom prst="rect">
            <a:avLst/>
          </a:prstGeom>
          <a:noFill/>
        </p:spPr>
        <p:txBody>
          <a:bodyPr wrap="square" lIns="18288" rIns="18288" tIns="0" bIns="0">
            <a:spAutoFit/>
          </a:bodyPr>
          <a:lstStyle/>
          <a:p>
            <a:pPr algn="ctr">
              <a:spcAft>
                <a:spcPts val="600"/>
              </a:spcAft>
              <a:defRPr sz="1060" b="0">
                <a:solidFill>
                  <a:srgbClr val="657080"/>
                </a:solidFill>
                <a:latin typeface="DejaVu Sans"/>
              </a:defRPr>
            </a:pPr>
            <a:r>
              <a:t>PHOTO / SUPPORTING</a:t>
            </a:r>
          </a:p>
          <a:p>
            <a:pPr algn="ctr">
              <a:spcAft>
                <a:spcPts val="600"/>
              </a:spcAft>
              <a:defRPr sz="1060" b="0">
                <a:solidFill>
                  <a:srgbClr val="657080"/>
                </a:solidFill>
                <a:latin typeface="DejaVu Sans"/>
              </a:defRPr>
            </a:pPr>
            <a:r>
              <a:t>DOCUMENT</a:t>
            </a:r>
          </a:p>
          <a:p>
            <a:pPr algn="ctr">
              <a:spcAft>
                <a:spcPts val="600"/>
              </a:spcAft>
              <a:defRPr sz="1060" b="0">
                <a:solidFill>
                  <a:srgbClr val="657080"/>
                </a:solidFill>
                <a:latin typeface="DejaVu Sans"/>
              </a:defRPr>
            </a:pPr>
            <a:r>
              <a:t>Pending supplied material</a:t>
            </a:r>
          </a:p>
        </p:txBody>
      </p:sp>
      <p:sp>
        <p:nvSpPr>
          <p:cNvPr id="36" name="TextBox 35"/>
          <p:cNvSpPr txBox="1"/>
          <p:nvPr/>
        </p:nvSpPr>
        <p:spPr>
          <a:xfrm>
            <a:off x="429768" y="6089904"/>
            <a:ext cx="8229600" cy="274320"/>
          </a:xfrm>
          <a:prstGeom prst="rect">
            <a:avLst/>
          </a:prstGeom>
          <a:noFill/>
        </p:spPr>
        <p:txBody>
          <a:bodyPr wrap="square" lIns="18288" rIns="18288" tIns="0" bIns="0">
            <a:spAutoFit/>
          </a:bodyPr>
          <a:lstStyle/>
          <a:p>
            <a:pPr>
              <a:spcAft>
                <a:spcPts val="600"/>
              </a:spcAft>
              <a:defRPr sz="900" b="0">
                <a:solidFill>
                  <a:srgbClr val="657080"/>
                </a:solidFill>
                <a:latin typeface="DejaVu Sans"/>
              </a:defRPr>
            </a:pPr>
            <a:r>
              <a:t>Statistical indicators remain as supplied, through 30 September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rtlCol="0" anchor="t" tIns="0" bIns="0">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b="1" noProof="0" dirty="0" sz="1040">
                <a:latin typeface="Aptos" panose="020B0004020202020204" pitchFamily="34" charset="0"/>
              </a:rPr>
              <a:t>Vaca Muerta upstream major companies </a:t>
            </a:r>
            <a:r>
              <a:rPr lang="en-GB" noProof="0" dirty="0" sz="104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b="1" dirty="0" sz="1040">
                <a:latin typeface="Aptos" panose="020B0004020202020204" pitchFamily="34" charset="0"/>
              </a:rPr>
              <a:t>Vista</a:t>
            </a:r>
            <a:r>
              <a:rPr lang="en-US" dirty="0" sz="104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b="1" noProof="0" dirty="0" sz="1040">
                <a:latin typeface="Aptos" panose="020B0004020202020204" pitchFamily="34" charset="0"/>
              </a:rPr>
              <a:t>VMOS</a:t>
            </a:r>
            <a:r>
              <a:rPr lang="en-GB" noProof="0" dirty="0" sz="104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b="1" noProof="0" dirty="0" sz="1040">
                <a:latin typeface="Aptos" panose="020B0004020202020204" pitchFamily="34" charset="0"/>
              </a:rPr>
              <a:t>SMP</a:t>
            </a:r>
            <a:r>
              <a:rPr lang="en-GB" noProof="0" dirty="0" sz="1040">
                <a:latin typeface="Aptos" panose="020B0004020202020204" pitchFamily="34" charset="0"/>
              </a:rPr>
              <a:t> pipeline route extends over 473 km along 2 provinces with sections located far away from high-complexity medical centres </a:t>
            </a:r>
            <a:r>
              <a:rPr lang="en-GB" noProof="0" dirty="0" sz="1040">
                <a:latin typeface="Aptos" panose="020B0004020202020204" pitchFamily="34" charset="0"/>
                <a:sym typeface="Wingdings" panose="05000000000000000000" pitchFamily="2" charset="2"/>
              </a:rPr>
              <a:t> </a:t>
            </a:r>
            <a:r>
              <a:rPr lang="en-GB" noProof="0" dirty="0" sz="104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noProof="0" dirty="0" sz="104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8</a:t>
            </a:r>
          </a:p>
        </p:txBody>
      </p:sp>
    </p:spTree>
    <p:extLst>
      <p:ext uri="{BB962C8B-B14F-4D97-AF65-F5344CB8AC3E}">
        <p14:creationId xmlns:p14="http://schemas.microsoft.com/office/powerpoint/2010/main" val="406917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r>
              <a:rPr lang="en-GB" sz="1800" spc="100" noProof="0" dirty="0">
                <a:solidFill>
                  <a:srgbClr val="013EF5"/>
                </a:solidFill>
                <a:latin typeface="Aptos Light" panose="020B0004020202020204" pitchFamily="34" charset="0"/>
              </a:rPr>
              <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27 OCT 2026</a:t>
            </a:r>
          </a:p>
        </p:txBody>
      </p:sp>
      <p:sp>
        <p:nvSpPr>
          <p:cNvPr id="104" name="TextBox 10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9</a:t>
            </a:r>
          </a:p>
        </p:txBody>
      </p:sp>
    </p:spTree>
    <p:extLst>
      <p:ext uri="{BB962C8B-B14F-4D97-AF65-F5344CB8AC3E}">
        <p14:creationId xmlns:p14="http://schemas.microsoft.com/office/powerpoint/2010/main" val="4069171775"/>
      </p:ext>
    </p:extLst>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6158</TotalTime>
  <Words>624</Words>
  <Application>Microsoft Office PowerPoint</Application>
  <PresentationFormat>Presentación en pantalla (4:3)</PresentationFormat>
  <Paragraphs>96</Paragraphs>
  <Slides>6</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vt:i4>
      </vt:variant>
    </vt:vector>
  </HeadingPairs>
  <TitlesOfParts>
    <vt:vector size="15" baseType="lpstr">
      <vt:lpstr>Aptos</vt:lpstr>
      <vt:lpstr>Aptos Display</vt:lpstr>
      <vt:lpstr>Aptos ExtraBold</vt:lpstr>
      <vt:lpstr>Aptos Light</vt:lpstr>
      <vt:lpstr>Arial</vt:lpstr>
      <vt:lpstr>Calibri</vt:lpstr>
      <vt:lpstr>Calibri Light</vt:lpstr>
      <vt:lpstr>Courier New</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v04 | Environmental highlights; statistics retained</dc:title>
  <dc:creator>Agustina Briceño</dc:creator>
  <cp:lastModifiedBy>DE GIROLAMO, ADRIAN LEANDRO</cp:lastModifiedBy>
  <cp:revision>4</cp:revision>
  <dcterms:created xsi:type="dcterms:W3CDTF">2026-03-04T19:10:22Z</dcterms:created>
  <dcterms:modified xsi:type="dcterms:W3CDTF">2026-10-26T17:30:23Z</dcterms:modified>
  <dc:subject>Data unchanged; safety and environment photo/highlight slides inserted</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