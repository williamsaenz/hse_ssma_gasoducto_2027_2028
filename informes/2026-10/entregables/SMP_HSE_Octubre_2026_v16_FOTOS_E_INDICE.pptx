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4" r:id="rId1"/>
  </p:sldMasterIdLst>
  <p:notesMasterIdLst>
    <p:notesMasterId r:id="rId9"/>
  </p:notesMasterIdLst>
  <p:sldIdLst>
    <p:sldId id="2146850440" r:id="rId2"/>
    <p:sldId id="2146850441" r:id="rId3"/>
    <p:sldId id="2146850420" r:id="rId4"/>
    <p:sldId id="2146850547" r:id="rId5"/>
    <p:sldId id="2146850549" r:id="rId6"/>
    <p:sldId id="2146850551" r:id="rId16"/>
    <p:sldId id="2146850482" r:id="rId7"/>
    <p:sldId id="2146850550" r:id="rId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40" userDrawn="1">
          <p15:clr>
            <a:srgbClr val="A4A3A4"/>
          </p15:clr>
        </p15:guide>
        <p15:guide id="2" pos="249" userDrawn="1">
          <p15:clr>
            <a:srgbClr val="A4A3A4"/>
          </p15:clr>
        </p15:guide>
        <p15:guide id="4" orient="horz" pos="346" userDrawn="1">
          <p15:clr>
            <a:srgbClr val="A4A3A4"/>
          </p15:clr>
        </p15:guide>
        <p15:guide id="5" orient="horz" pos="686" userDrawn="1">
          <p15:clr>
            <a:srgbClr val="A4A3A4"/>
          </p15:clr>
        </p15:guide>
        <p15:guide id="6" orient="horz" pos="3045" userDrawn="1">
          <p15:clr>
            <a:srgbClr val="A4A3A4"/>
          </p15:clr>
        </p15:guide>
        <p15:guide id="7" orient="horz" pos="2296" userDrawn="1">
          <p15:clr>
            <a:srgbClr val="A4A3A4"/>
          </p15:clr>
        </p15:guide>
        <p15:guide id="8" pos="5556" userDrawn="1">
          <p15:clr>
            <a:srgbClr val="A4A3A4"/>
          </p15:clr>
        </p15:guide>
        <p15:guide id="10" pos="1610" userDrawn="1">
          <p15:clr>
            <a:srgbClr val="A4A3A4"/>
          </p15:clr>
        </p15:guide>
        <p15:guide id="11" pos="2835" userDrawn="1">
          <p15:clr>
            <a:srgbClr val="A4A3A4"/>
          </p15:clr>
        </p15:guide>
        <p15:guide id="12" orient="horz" pos="3974" userDrawn="1">
          <p15:clr>
            <a:srgbClr val="A4A3A4"/>
          </p15:clr>
        </p15:guide>
        <p15:guide id="13" orient="horz" pos="913" userDrawn="1">
          <p15:clr>
            <a:srgbClr val="A4A3A4"/>
          </p15:clr>
        </p15:guide>
        <p15:guide id="14" pos="2971" userDrawn="1">
          <p15:clr>
            <a:srgbClr val="A4A3A4"/>
          </p15:clr>
        </p15:guide>
        <p15:guide id="15" pos="4195" userDrawn="1">
          <p15:clr>
            <a:srgbClr val="A4A3A4"/>
          </p15:clr>
        </p15:guide>
        <p15:guide id="16" pos="4309" userDrawn="1">
          <p15:clr>
            <a:srgbClr val="A4A3A4"/>
          </p15:clr>
        </p15:guide>
        <p15:guide id="17" pos="1474" userDrawn="1">
          <p15:clr>
            <a:srgbClr val="A4A3A4"/>
          </p15:clr>
        </p15:guide>
        <p15:guide id="18" pos="2018" userDrawn="1">
          <p15:clr>
            <a:srgbClr val="A4A3A4"/>
          </p15:clr>
        </p15:guide>
        <p15:guide id="19" pos="3765" userDrawn="1">
          <p15:clr>
            <a:srgbClr val="A4A3A4"/>
          </p15:clr>
        </p15:guide>
        <p15:guide id="20" pos="431"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E52273E-B549-4598-CCB8-47D6EE151A5F}" name="Evangelista, Marcelo" initials="ME" userId="S::Marcelo.Evangelista@southern-nrg.com::ea0ef0f1-05f0-4822-8944-e14182da2275"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Gonzalo Echevarria" initials="GE" lastIdx="6" clrIdx="0">
    <p:extLst>
      <p:ext uri="{19B8F6BF-5375-455C-9EA6-DF929625EA0E}">
        <p15:presenceInfo xmlns:p15="http://schemas.microsoft.com/office/powerpoint/2012/main" userId="Gonzalo Echevarria"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971EC"/>
    <a:srgbClr val="03CB35"/>
    <a:srgbClr val="0000FF"/>
    <a:srgbClr val="007882"/>
    <a:srgbClr val="EFFE5E"/>
    <a:srgbClr val="CBDD00"/>
    <a:srgbClr val="00C535"/>
    <a:srgbClr val="00BB42"/>
    <a:srgbClr val="3B383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854" autoAdjust="0"/>
    <p:restoredTop sz="90436" autoAdjust="0"/>
  </p:normalViewPr>
  <p:slideViewPr>
    <p:cSldViewPr snapToGrid="0" showGuides="1">
      <p:cViewPr varScale="1">
        <p:scale>
          <a:sx n="88" d="100"/>
          <a:sy n="88" d="100"/>
        </p:scale>
        <p:origin x="427" y="53"/>
      </p:cViewPr>
      <p:guideLst>
        <p:guide orient="horz" pos="2840"/>
        <p:guide pos="249"/>
        <p:guide orient="horz" pos="346"/>
        <p:guide orient="horz" pos="686"/>
        <p:guide orient="horz" pos="3045"/>
        <p:guide orient="horz" pos="2296"/>
        <p:guide pos="5556"/>
        <p:guide pos="1610"/>
        <p:guide pos="2835"/>
        <p:guide orient="horz" pos="3974"/>
        <p:guide orient="horz" pos="913"/>
        <p:guide pos="2971"/>
        <p:guide pos="4195"/>
        <p:guide pos="4309"/>
        <p:guide pos="1474"/>
        <p:guide pos="2018"/>
        <p:guide pos="3765"/>
        <p:guide pos="431"/>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7.xml"/><Relationship Id="rId8" Type="http://schemas.openxmlformats.org/officeDocument/2006/relationships/slide" Target="slides/slide8.xml"/><Relationship Id="rId9" Type="http://schemas.openxmlformats.org/officeDocument/2006/relationships/notesMaster" Target="notesMasters/notesMaster1.xml"/><Relationship Id="rId10" Type="http://schemas.openxmlformats.org/officeDocument/2006/relationships/commentAuthors" Target="commentAuthors.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 Id="rId15" Type="http://schemas.microsoft.com/office/2018/10/relationships/authors" Target="authors.xml"/><Relationship Id="rId16" Type="http://schemas.openxmlformats.org/officeDocument/2006/relationships/slide" Target="slides/slide6.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1"/>
        <c:ser>
          <c:idx val="0"/>
          <c:order val="0"/>
          <c:tx>
            <c:strRef>
              <c:f>Sheet1!$B$1</c:f>
              <c:strCache>
                <c:ptCount val="1"/>
                <c:pt idx="0">
                  <c:v>Cases (left axis)</c:v>
                </c:pt>
              </c:strCache>
            </c:strRef>
          </c:tx>
          <c:spPr>
            <a:solidFill>
              <a:srgbClr val="013EF5"/>
            </a:solidFill>
          </c:spPr>
          <c:invertIfNegative val="1"/>
          <c:cat>
            <c:strRef>
              <c:f>Sheet1!$A$2:$A$4</c:f>
              <c:strCache>
                <c:ptCount val="3"/>
                <c:pt idx="0">
                  <c:v>August · 0 cases</c:v>
                </c:pt>
                <c:pt idx="1">
                  <c:v>September · 0 cases</c:v>
                </c:pt>
                <c:pt idx="2">
                  <c:v>October </c:v>
                </c:pt>
              </c:strCache>
            </c:strRef>
          </c:cat>
          <c:val>
            <c:numRef>
              <c:f>Sheet1!$B$2:$B$4</c:f>
              <c:numCache>
                <c:formatCode>General</c:formatCode>
                <c:ptCount val="3"/>
                <c:pt idx="0">
                  <c:v>0</c:v>
                </c:pt>
                <c:pt idx="1">
                  <c:v>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F34F-4ACD-BA87-51A8DBE43DB7}"/>
            </c:ext>
          </c:extLst>
        </c:ser>
        <c:dLbls>
          <c:showLegendKey val="0"/>
          <c:showVal val="0"/>
          <c:showCatName val="0"/>
          <c:showSerName val="0"/>
          <c:showPercent val="0"/>
          <c:showBubbleSize val="0"/>
        </c:dLbls>
        <c:gapWidth val="90"/>
        <c:axId val="-2068027336"/>
        <c:axId val="-2113994440"/>
      </c:barChart>
      <c:lineChart>
        <c:grouping val="standard"/>
        <c:varyColors val="0"/>
        <c:ser>
          <c:idx val="1"/>
          <c:order val="1"/>
          <c:tx>
            <c:strRef>
              <c:f>Sheet1!$C$1</c:f>
              <c:strCache>
                <c:ptCount val="1"/>
                <c:pt idx="0">
                  <c:v>Frequency (right axis)</c:v>
                </c:pt>
              </c:strCache>
            </c:strRef>
          </c:tx>
          <c:spPr>
            <a:ln w="28575">
              <a:solidFill>
                <a:srgbClr val="2E7D32"/>
              </a:solidFill>
            </a:ln>
          </c:spPr>
          <c:marker>
            <c:symbol val="circle"/>
            <c:size val="6"/>
            <c:spPr>
              <a:solidFill>
                <a:srgbClr val="2E7D32"/>
              </a:solidFill>
            </c:spPr>
          </c:marker>
          <c:dLbls>
            <c:numFmt formatCode="0.##" sourceLinked="0"/>
            <c:spPr>
              <a:noFill/>
            </c:spPr>
            <c:txPr>
              <a:bodyPr/>
              <a:lstStyle/>
              <a:p>
                <a:pPr>
                  <a:defRPr sz="800" b="1">
                    <a:solidFill>
                      <a:srgbClr val="2E7D32"/>
                    </a:solidFill>
                  </a:defRPr>
                </a:pPr>
                <a:endParaRPr lang="es-AR"/>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August · 0 cases</c:v>
                </c:pt>
                <c:pt idx="1">
                  <c:v>September · 0 cases</c:v>
                </c:pt>
                <c:pt idx="2">
                  <c:v>October </c:v>
                </c:pt>
              </c:strCache>
            </c:strRef>
          </c:cat>
          <c:val>
            <c:numRef>
              <c:f>Sheet1!$C$2:$C$4</c:f>
              <c:numCache>
                <c:formatCode>General</c:formatCode>
                <c:ptCount val="3"/>
                <c:pt idx="0">
                  <c:v>0</c:v>
                </c:pt>
                <c:pt idx="1">
                  <c:v>0</c:v>
                </c:pt>
              </c:numCache>
            </c:numRef>
          </c:val>
          <c:smooth val="0"/>
          <c:extLst>
            <c:ext xmlns:c16="http://schemas.microsoft.com/office/drawing/2014/chart" uri="{C3380CC4-5D6E-409C-BE32-E72D297353CC}">
              <c16:uniqueId val="{00000001-F34F-4ACD-BA87-51A8DBE43DB7}"/>
            </c:ext>
          </c:extLst>
        </c:ser>
        <c:ser>
          <c:idx val="2"/>
          <c:order val="2"/>
          <c:tx>
            <c:strRef>
              <c:f>Sheet1!$D$1</c:f>
              <c:strCache>
                <c:ptCount val="1"/>
                <c:pt idx="0">
                  <c:v>Target (right axis)</c:v>
                </c:pt>
              </c:strCache>
            </c:strRef>
          </c:tx>
          <c:spPr>
            <a:ln w="19050">
              <a:solidFill>
                <a:srgbClr val="C62828"/>
              </a:solidFill>
              <a:prstDash val="dash"/>
            </a:ln>
          </c:spPr>
          <c:marker>
            <c:symbol val="none"/>
          </c:marker>
          <c:dLbls>
            <c:dLbl>
              <c:idx val="1"/>
              <c:tx>
                <c:rich>
                  <a:bodyPr/>
                  <a:lstStyle/>
                  <a:p>
                    <a:pPr>
                      <a:defRPr sz="900" b="1">
                        <a:solidFill>
                          <a:srgbClr val="C62828"/>
                        </a:solidFill>
                      </a:defRPr>
                    </a:pPr>
                    <a:r>
                      <a:rPr lang="en-US" dirty="0"/>
                      <a:t>2.35 (3</a:t>
                    </a:r>
                    <a:r>
                      <a:rPr lang="en-US" baseline="0" dirty="0"/>
                      <a:t> events)</a:t>
                    </a:r>
                  </a:p>
                </c:rich>
              </c:tx>
              <c:numFmt formatCode="0.##" sourceLinked="0"/>
              <c:spPr>
                <a:noFill/>
              </c:spPr>
              <c:dLblPos val="t"/>
              <c:showLegendKey val="0"/>
              <c:showVal val="1"/>
              <c:showCatName val="0"/>
              <c:showSerName val="0"/>
              <c:showPercent val="0"/>
              <c:showBubbleSize val="0"/>
              <c:extLst>
                <c:ext xmlns:c15="http://schemas.microsoft.com/office/drawing/2012/chart" uri="{CE6537A1-D6FC-4f65-9D91-7224C49458BB}">
                  <c15:layout>
                    <c:manualLayout>
                      <c:w val="0.19353864734299517"/>
                      <c:h val="0.11771918661682439"/>
                    </c:manualLayout>
                  </c15:layout>
                  <c15:showDataLabelsRange val="0"/>
                </c:ext>
                <c:ext xmlns:c16="http://schemas.microsoft.com/office/drawing/2014/chart" uri="{C3380CC4-5D6E-409C-BE32-E72D297353CC}">
                  <c16:uniqueId val="{00000002-F34F-4ACD-BA87-51A8DBE43DB7}"/>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Sheet1!$A$2:$A$4</c:f>
              <c:strCache>
                <c:ptCount val="3"/>
                <c:pt idx="0">
                  <c:v>August · 0 cases</c:v>
                </c:pt>
                <c:pt idx="1">
                  <c:v>September · 0 cases</c:v>
                </c:pt>
                <c:pt idx="2">
                  <c:v>October </c:v>
                </c:pt>
              </c:strCache>
            </c:strRef>
          </c:cat>
          <c:val>
            <c:numRef>
              <c:f>Sheet1!$D$2:$D$4</c:f>
              <c:numCache>
                <c:formatCode>General</c:formatCode>
                <c:ptCount val="3"/>
                <c:pt idx="0">
                  <c:v>2.35</c:v>
                </c:pt>
                <c:pt idx="1">
                  <c:v>2.35</c:v>
                </c:pt>
                <c:pt idx="2">
                  <c:v>2.35</c:v>
                </c:pt>
              </c:numCache>
            </c:numRef>
          </c:val>
          <c:smooth val="0"/>
          <c:extLst>
            <c:ext xmlns:c16="http://schemas.microsoft.com/office/drawing/2014/chart" uri="{C3380CC4-5D6E-409C-BE32-E72D297353CC}">
              <c16:uniqueId val="{00000003-F34F-4ACD-BA87-51A8DBE43DB7}"/>
            </c:ext>
          </c:extLst>
        </c:ser>
        <c:dLbls>
          <c:showLegendKey val="0"/>
          <c:showVal val="0"/>
          <c:showCatName val="0"/>
          <c:showSerName val="0"/>
          <c:showPercent val="0"/>
          <c:showBubbleSize val="0"/>
        </c:dLbls>
        <c:marker val="1"/>
        <c:smooth val="0"/>
        <c:axId val="50010"/>
        <c:axId val="50020"/>
      </c:lineChart>
      <c:catAx>
        <c:axId val="-2068027336"/>
        <c:scaling>
          <c:orientation val="minMax"/>
        </c:scaling>
        <c:delete val="0"/>
        <c:axPos val="b"/>
        <c:numFmt formatCode="General" sourceLinked="0"/>
        <c:majorTickMark val="out"/>
        <c:minorTickMark val="none"/>
        <c:tickLblPos val="nextTo"/>
        <c:txPr>
          <a:bodyPr/>
          <a:lstStyle/>
          <a:p>
            <a:pPr>
              <a:defRPr sz="800"/>
            </a:pPr>
            <a:endParaRPr lang="es-AR"/>
          </a:p>
        </c:txPr>
        <c:crossAx val="-2113994440"/>
        <c:crosses val="autoZero"/>
        <c:auto val="1"/>
        <c:lblAlgn val="ctr"/>
        <c:lblOffset val="100"/>
        <c:noMultiLvlLbl val="0"/>
      </c:catAx>
      <c:valAx>
        <c:axId val="-2113994440"/>
        <c:scaling>
          <c:orientation val="minMax"/>
          <c:min val="0"/>
        </c:scaling>
        <c:delete val="0"/>
        <c:axPos val="l"/>
        <c:title>
          <c:tx>
            <c:rich>
              <a:bodyPr/>
              <a:lstStyle/>
              <a:p>
                <a:r>
                  <a:rPr lang="en-GB" sz="700" b="0" noProof="0" dirty="0">
                    <a:latin typeface="Aptos"/>
                  </a:rPr>
                  <a:t>Cases</a:t>
                </a:r>
              </a:p>
            </c:rich>
          </c:tx>
          <c:overlay val="0"/>
        </c:title>
        <c:numFmt formatCode="0" sourceLinked="0"/>
        <c:majorTickMark val="out"/>
        <c:minorTickMark val="none"/>
        <c:tickLblPos val="nextTo"/>
        <c:txPr>
          <a:bodyPr/>
          <a:lstStyle/>
          <a:p>
            <a:pPr>
              <a:defRPr sz="750"/>
            </a:pPr>
            <a:endParaRPr lang="es-AR"/>
          </a:p>
        </c:txPr>
        <c:crossAx val="-2068027336"/>
        <c:crosses val="autoZero"/>
        <c:crossBetween val="between"/>
        <c:majorUnit val="1"/>
      </c:valAx>
      <c:catAx>
        <c:axId val="50010"/>
        <c:scaling>
          <c:orientation val="minMax"/>
        </c:scaling>
        <c:delete val="1"/>
        <c:axPos val="b"/>
        <c:numFmt formatCode="General" sourceLinked="1"/>
        <c:majorTickMark val="none"/>
        <c:minorTickMark val="none"/>
        <c:tickLblPos val="nextTo"/>
        <c:crossAx val="50020"/>
        <c:crosses val="autoZero"/>
        <c:auto val="1"/>
        <c:lblAlgn val="ctr"/>
        <c:lblOffset val="100"/>
        <c:noMultiLvlLbl val="0"/>
      </c:catAx>
      <c:valAx>
        <c:axId val="50020"/>
        <c:scaling>
          <c:orientation val="minMax"/>
          <c:max val="3"/>
          <c:min val="0"/>
        </c:scaling>
        <c:delete val="0"/>
        <c:axPos val="r"/>
        <c:title>
          <c:tx>
            <c:rich>
              <a:bodyPr rot="-5400000" vert="horz"/>
              <a:lstStyle/>
              <a:p>
                <a:pPr>
                  <a:defRPr sz="700" b="0"/>
                </a:pPr>
                <a:r>
                  <a:rPr lang="en-GB" sz="700" b="0" noProof="0" dirty="0"/>
                  <a:t>Frequency</a:t>
                </a:r>
              </a:p>
            </c:rich>
          </c:tx>
          <c:overlay val="0"/>
        </c:title>
        <c:numFmt formatCode="0.##" sourceLinked="0"/>
        <c:majorTickMark val="out"/>
        <c:minorTickMark val="none"/>
        <c:tickLblPos val="nextTo"/>
        <c:txPr>
          <a:bodyPr/>
          <a:lstStyle/>
          <a:p>
            <a:pPr>
              <a:defRPr sz="750"/>
            </a:pPr>
            <a:endParaRPr lang="es-AR"/>
          </a:p>
        </c:txPr>
        <c:crossAx val="50010"/>
        <c:crosses val="max"/>
        <c:crossBetween val="between"/>
      </c:valAx>
    </c:plotArea>
    <c:legend>
      <c:legendPos val="b"/>
      <c:overlay val="0"/>
      <c:txPr>
        <a:bodyPr/>
        <a:lstStyle/>
        <a:p>
          <a:pPr>
            <a:defRPr sz="700">
              <a:latin typeface="Aptos"/>
            </a:defRPr>
          </a:pPr>
          <a:endParaRPr lang="es-AR"/>
        </a:p>
      </c:txPr>
    </c:legend>
    <c:plotVisOnly val="1"/>
    <c:dispBlanksAs val="gap"/>
    <c:showDLblsOverMax val="1"/>
  </c:chart>
  <c:txPr>
    <a:bodyPr/>
    <a:lstStyle/>
    <a:p>
      <a:pPr>
        <a:defRPr sz="1800"/>
      </a:pPr>
      <a:endParaRPr lang="es-A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1"/>
        <c:ser>
          <c:idx val="0"/>
          <c:order val="0"/>
          <c:tx>
            <c:strRef>
              <c:f>Sheet1!$B$1</c:f>
              <c:strCache>
                <c:ptCount val="1"/>
                <c:pt idx="0">
                  <c:v>Cases (left axis)</c:v>
                </c:pt>
              </c:strCache>
            </c:strRef>
          </c:tx>
          <c:spPr>
            <a:solidFill>
              <a:srgbClr val="013EF5"/>
            </a:solidFill>
          </c:spPr>
          <c:invertIfNegative val="1"/>
          <c:cat>
            <c:strRef>
              <c:f>Sheet1!$A$2:$A$4</c:f>
              <c:strCache>
                <c:ptCount val="3"/>
                <c:pt idx="0">
                  <c:v>August · 0 cases</c:v>
                </c:pt>
                <c:pt idx="1">
                  <c:v>September · 0 cases</c:v>
                </c:pt>
                <c:pt idx="2">
                  <c:v>October </c:v>
                </c:pt>
              </c:strCache>
            </c:strRef>
          </c:cat>
          <c:val>
            <c:numRef>
              <c:f>Sheet1!$B$2:$B$4</c:f>
              <c:numCache>
                <c:formatCode>General</c:formatCode>
                <c:ptCount val="3"/>
                <c:pt idx="0">
                  <c:v>0</c:v>
                </c:pt>
                <c:pt idx="1">
                  <c:v>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8A61-4E28-A2BE-F9C63FFCAA86}"/>
            </c:ext>
          </c:extLst>
        </c:ser>
        <c:dLbls>
          <c:showLegendKey val="0"/>
          <c:showVal val="0"/>
          <c:showCatName val="0"/>
          <c:showSerName val="0"/>
          <c:showPercent val="0"/>
          <c:showBubbleSize val="0"/>
        </c:dLbls>
        <c:gapWidth val="90"/>
        <c:axId val="-2068027336"/>
        <c:axId val="-2113994440"/>
      </c:barChart>
      <c:lineChart>
        <c:grouping val="standard"/>
        <c:varyColors val="0"/>
        <c:ser>
          <c:idx val="1"/>
          <c:order val="1"/>
          <c:tx>
            <c:strRef>
              <c:f>Sheet1!$C$1</c:f>
              <c:strCache>
                <c:ptCount val="1"/>
                <c:pt idx="0">
                  <c:v>Frequency (right axis)</c:v>
                </c:pt>
              </c:strCache>
            </c:strRef>
          </c:tx>
          <c:spPr>
            <a:ln w="28575">
              <a:solidFill>
                <a:srgbClr val="2E7D32"/>
              </a:solidFill>
            </a:ln>
          </c:spPr>
          <c:marker>
            <c:symbol val="circle"/>
            <c:size val="6"/>
            <c:spPr>
              <a:solidFill>
                <a:srgbClr val="2E7D32"/>
              </a:solidFill>
            </c:spPr>
          </c:marker>
          <c:dLbls>
            <c:numFmt formatCode="0.##" sourceLinked="0"/>
            <c:spPr>
              <a:noFill/>
            </c:spPr>
            <c:txPr>
              <a:bodyPr/>
              <a:lstStyle/>
              <a:p>
                <a:pPr>
                  <a:defRPr sz="800" b="1">
                    <a:solidFill>
                      <a:srgbClr val="2E7D32"/>
                    </a:solidFill>
                  </a:defRPr>
                </a:pPr>
                <a:endParaRPr lang="es-AR"/>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August · 0 cases</c:v>
                </c:pt>
                <c:pt idx="1">
                  <c:v>September · 0 cases</c:v>
                </c:pt>
                <c:pt idx="2">
                  <c:v>October </c:v>
                </c:pt>
              </c:strCache>
            </c:strRef>
          </c:cat>
          <c:val>
            <c:numRef>
              <c:f>Sheet1!$C$2:$C$4</c:f>
              <c:numCache>
                <c:formatCode>General</c:formatCode>
                <c:ptCount val="3"/>
                <c:pt idx="0">
                  <c:v>0</c:v>
                </c:pt>
                <c:pt idx="1">
                  <c:v>0</c:v>
                </c:pt>
              </c:numCache>
            </c:numRef>
          </c:val>
          <c:smooth val="0"/>
          <c:extLst>
            <c:ext xmlns:c16="http://schemas.microsoft.com/office/drawing/2014/chart" uri="{C3380CC4-5D6E-409C-BE32-E72D297353CC}">
              <c16:uniqueId val="{00000001-8A61-4E28-A2BE-F9C63FFCAA86}"/>
            </c:ext>
          </c:extLst>
        </c:ser>
        <c:ser>
          <c:idx val="2"/>
          <c:order val="2"/>
          <c:tx>
            <c:strRef>
              <c:f>Sheet1!$D$1</c:f>
              <c:strCache>
                <c:ptCount val="1"/>
                <c:pt idx="0">
                  <c:v>Target (right axis)</c:v>
                </c:pt>
              </c:strCache>
            </c:strRef>
          </c:tx>
          <c:spPr>
            <a:ln w="19050">
              <a:solidFill>
                <a:srgbClr val="C62828"/>
              </a:solidFill>
              <a:prstDash val="dash"/>
            </a:ln>
          </c:spPr>
          <c:marker>
            <c:symbol val="none"/>
          </c:marker>
          <c:dLbls>
            <c:dLbl>
              <c:idx val="1"/>
              <c:tx>
                <c:rich>
                  <a:bodyPr/>
                  <a:lstStyle/>
                  <a:p>
                    <a:pPr>
                      <a:defRPr sz="900" b="1">
                        <a:solidFill>
                          <a:srgbClr val="C62828"/>
                        </a:solidFill>
                      </a:defRPr>
                    </a:pPr>
                    <a:r>
                      <a:rPr lang="en-US" dirty="0"/>
                      <a:t>0.79 (2</a:t>
                    </a:r>
                    <a:r>
                      <a:rPr lang="en-US" baseline="0" dirty="0"/>
                      <a:t> events)</a:t>
                    </a:r>
                    <a:endParaRPr lang="en-US" dirty="0"/>
                  </a:p>
                </c:rich>
              </c:tx>
              <c:numFmt formatCode="0.##" sourceLinked="0"/>
              <c:spPr>
                <a:noFill/>
              </c:spPr>
              <c:dLblPos val="t"/>
              <c:showLegendKey val="0"/>
              <c:showVal val="1"/>
              <c:showCatName val="0"/>
              <c:showSerName val="0"/>
              <c:showPercent val="0"/>
              <c:showBubbleSize val="0"/>
              <c:extLst>
                <c:ext xmlns:c15="http://schemas.microsoft.com/office/drawing/2012/chart" uri="{CE6537A1-D6FC-4f65-9D91-7224C49458BB}">
                  <c15:layout>
                    <c:manualLayout>
                      <c:w val="0.22675120772946858"/>
                      <c:h val="7.5631644529282324E-2"/>
                    </c:manualLayout>
                  </c15:layout>
                  <c15:showDataLabelsRange val="0"/>
                </c:ext>
                <c:ext xmlns:c16="http://schemas.microsoft.com/office/drawing/2014/chart" uri="{C3380CC4-5D6E-409C-BE32-E72D297353CC}">
                  <c16:uniqueId val="{00000002-8A61-4E28-A2BE-F9C63FFCAA86}"/>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Sheet1!$A$2:$A$4</c:f>
              <c:strCache>
                <c:ptCount val="3"/>
                <c:pt idx="0">
                  <c:v>August · 0 cases</c:v>
                </c:pt>
                <c:pt idx="1">
                  <c:v>September · 0 cases</c:v>
                </c:pt>
                <c:pt idx="2">
                  <c:v>October </c:v>
                </c:pt>
              </c:strCache>
            </c:strRef>
          </c:cat>
          <c:val>
            <c:numRef>
              <c:f>Sheet1!$D$2:$D$4</c:f>
              <c:numCache>
                <c:formatCode>General</c:formatCode>
                <c:ptCount val="3"/>
                <c:pt idx="0">
                  <c:v>0.79</c:v>
                </c:pt>
                <c:pt idx="1">
                  <c:v>0.79</c:v>
                </c:pt>
                <c:pt idx="2">
                  <c:v>0.79</c:v>
                </c:pt>
              </c:numCache>
            </c:numRef>
          </c:val>
          <c:smooth val="0"/>
          <c:extLst>
            <c:ext xmlns:c16="http://schemas.microsoft.com/office/drawing/2014/chart" uri="{C3380CC4-5D6E-409C-BE32-E72D297353CC}">
              <c16:uniqueId val="{00000003-8A61-4E28-A2BE-F9C63FFCAA86}"/>
            </c:ext>
          </c:extLst>
        </c:ser>
        <c:dLbls>
          <c:showLegendKey val="0"/>
          <c:showVal val="0"/>
          <c:showCatName val="0"/>
          <c:showSerName val="0"/>
          <c:showPercent val="0"/>
          <c:showBubbleSize val="0"/>
        </c:dLbls>
        <c:marker val="1"/>
        <c:smooth val="0"/>
        <c:axId val="50010"/>
        <c:axId val="50020"/>
      </c:lineChart>
      <c:catAx>
        <c:axId val="-2068027336"/>
        <c:scaling>
          <c:orientation val="minMax"/>
        </c:scaling>
        <c:delete val="0"/>
        <c:axPos val="b"/>
        <c:numFmt formatCode="General" sourceLinked="0"/>
        <c:majorTickMark val="out"/>
        <c:minorTickMark val="none"/>
        <c:tickLblPos val="nextTo"/>
        <c:txPr>
          <a:bodyPr/>
          <a:lstStyle/>
          <a:p>
            <a:pPr>
              <a:defRPr sz="800"/>
            </a:pPr>
            <a:endParaRPr lang="es-AR"/>
          </a:p>
        </c:txPr>
        <c:crossAx val="-2113994440"/>
        <c:crosses val="autoZero"/>
        <c:auto val="1"/>
        <c:lblAlgn val="ctr"/>
        <c:lblOffset val="100"/>
        <c:noMultiLvlLbl val="0"/>
      </c:catAx>
      <c:valAx>
        <c:axId val="-2113994440"/>
        <c:scaling>
          <c:orientation val="minMax"/>
          <c:min val="0"/>
        </c:scaling>
        <c:delete val="0"/>
        <c:axPos val="l"/>
        <c:title>
          <c:tx>
            <c:rich>
              <a:bodyPr/>
              <a:lstStyle/>
              <a:p>
                <a:r>
                  <a:rPr lang="en-GB" sz="700" b="0" noProof="0" dirty="0">
                    <a:latin typeface="Aptos"/>
                  </a:rPr>
                  <a:t>Cases</a:t>
                </a:r>
              </a:p>
            </c:rich>
          </c:tx>
          <c:overlay val="0"/>
        </c:title>
        <c:numFmt formatCode="0" sourceLinked="0"/>
        <c:majorTickMark val="out"/>
        <c:minorTickMark val="none"/>
        <c:tickLblPos val="nextTo"/>
        <c:txPr>
          <a:bodyPr/>
          <a:lstStyle/>
          <a:p>
            <a:pPr>
              <a:defRPr sz="750"/>
            </a:pPr>
            <a:endParaRPr lang="es-AR"/>
          </a:p>
        </c:txPr>
        <c:crossAx val="-2068027336"/>
        <c:crosses val="autoZero"/>
        <c:crossBetween val="between"/>
        <c:majorUnit val="1"/>
      </c:valAx>
      <c:catAx>
        <c:axId val="50010"/>
        <c:scaling>
          <c:orientation val="minMax"/>
        </c:scaling>
        <c:delete val="1"/>
        <c:axPos val="b"/>
        <c:numFmt formatCode="General" sourceLinked="1"/>
        <c:majorTickMark val="none"/>
        <c:minorTickMark val="none"/>
        <c:tickLblPos val="nextTo"/>
        <c:crossAx val="50020"/>
        <c:crosses val="autoZero"/>
        <c:auto val="1"/>
        <c:lblAlgn val="ctr"/>
        <c:lblOffset val="100"/>
        <c:noMultiLvlLbl val="0"/>
      </c:catAx>
      <c:valAx>
        <c:axId val="50020"/>
        <c:scaling>
          <c:orientation val="minMax"/>
          <c:max val="1"/>
          <c:min val="0"/>
        </c:scaling>
        <c:delete val="0"/>
        <c:axPos val="r"/>
        <c:title>
          <c:tx>
            <c:rich>
              <a:bodyPr rot="-5400000" vert="horz"/>
              <a:lstStyle/>
              <a:p>
                <a:pPr>
                  <a:defRPr sz="700" b="0"/>
                </a:pPr>
                <a:r>
                  <a:rPr lang="en-GB" sz="700" b="0" noProof="0" dirty="0"/>
                  <a:t>Frequency</a:t>
                </a:r>
              </a:p>
            </c:rich>
          </c:tx>
          <c:overlay val="0"/>
        </c:title>
        <c:numFmt formatCode="0.##" sourceLinked="0"/>
        <c:majorTickMark val="out"/>
        <c:minorTickMark val="none"/>
        <c:tickLblPos val="nextTo"/>
        <c:txPr>
          <a:bodyPr/>
          <a:lstStyle/>
          <a:p>
            <a:pPr>
              <a:defRPr sz="750"/>
            </a:pPr>
            <a:endParaRPr lang="es-AR"/>
          </a:p>
        </c:txPr>
        <c:crossAx val="50010"/>
        <c:crosses val="max"/>
        <c:crossBetween val="between"/>
      </c:valAx>
    </c:plotArea>
    <c:legend>
      <c:legendPos val="b"/>
      <c:overlay val="0"/>
      <c:txPr>
        <a:bodyPr/>
        <a:lstStyle/>
        <a:p>
          <a:pPr>
            <a:defRPr sz="700">
              <a:latin typeface="Aptos"/>
            </a:defRPr>
          </a:pPr>
          <a:endParaRPr lang="es-AR"/>
        </a:p>
      </c:txPr>
    </c:legend>
    <c:plotVisOnly val="1"/>
    <c:dispBlanksAs val="gap"/>
    <c:showDLblsOverMax val="1"/>
  </c:chart>
  <c:txPr>
    <a:bodyPr/>
    <a:lstStyle/>
    <a:p>
      <a:pPr>
        <a:defRPr sz="1800"/>
      </a:pPr>
      <a:endParaRPr lang="es-AR"/>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1"/>
        <c:ser>
          <c:idx val="0"/>
          <c:order val="0"/>
          <c:tx>
            <c:strRef>
              <c:f>Sheet1!$B$1</c:f>
              <c:strCache>
                <c:ptCount val="1"/>
                <c:pt idx="0">
                  <c:v>Monthly total</c:v>
                </c:pt>
              </c:strCache>
            </c:strRef>
          </c:tx>
          <c:spPr>
            <a:solidFill>
              <a:srgbClr val="013EF5"/>
            </a:solidFill>
          </c:spPr>
          <c:invertIfNegative val="1"/>
          <c:dLbls>
            <c:numFmt formatCode="#,##0;\-#,##0;;" sourceLinked="0"/>
            <c:spPr>
              <a:noFill/>
              <a:ln>
                <a:noFill/>
              </a:ln>
              <a:effectLst/>
            </c:spPr>
            <c:txPr>
              <a:bodyPr/>
              <a:lstStyle/>
              <a:p>
                <a:pPr>
                  <a:defRPr sz="900" b="1">
                    <a:solidFill>
                      <a:srgbClr val="FFFFFF"/>
                    </a:solidFill>
                  </a:defRPr>
                </a:pPr>
                <a:endParaRPr lang="es-AR"/>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Aug · total 2</c:v>
                </c:pt>
                <c:pt idx="1">
                  <c:v>Sep · total 7</c:v>
                </c:pt>
              </c:strCache>
            </c:strRef>
          </c:cat>
          <c:val>
            <c:numRef>
              <c:f>Sheet1!$B$2:$B$3</c:f>
              <c:numCache>
                <c:formatCode>General</c:formatCode>
                <c:ptCount val="2"/>
                <c:pt idx="0">
                  <c:v>2.0</c:v>
                </c:pt>
                <c:pt idx="1">
                  <c:v>7.0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7102-4594-AC15-0581E82D7D69}"/>
            </c:ext>
          </c:extLst>
        </c:ser>
        <c:dLbls>
          <c:showLegendKey val="0"/>
          <c:showVal val="0"/>
          <c:showCatName val="0"/>
          <c:showSerName val="0"/>
          <c:showPercent val="0"/>
          <c:showBubbleSize val="0"/>
        </c:dLbls>
        <c:gapWidth val="70"/>
        <c:overlap val="100"/>
        <c:axId val="-2068027336"/>
        <c:axId val="-2113994440"/>
      </c:barChart>
      <c:lineChart>
        <c:grouping val="standard"/>
        <c:varyColors val="0"/>
        <c:ser>
          <c:idx val="1"/>
          <c:order val="1"/>
          <c:tx>
            <c:strRef>
              <c:f>Sheet1!$C$1</c:f>
              <c:strCache>
                <c:ptCount val="1"/>
                <c:pt idx="0">
                  <c:v>Cumulative total</c:v>
                </c:pt>
              </c:strCache>
            </c:strRef>
          </c:tx>
          <c:spPr>
            <a:ln w="28575">
              <a:solidFill>
                <a:srgbClr val="2E7D32"/>
              </a:solidFill>
            </a:ln>
          </c:spPr>
          <c:marker>
            <c:symbol val="circle"/>
            <c:size val="6"/>
            <c:spPr>
              <a:solidFill>
                <a:srgbClr val="2E7D32"/>
              </a:solidFill>
            </c:spPr>
          </c:marker>
          <c:dLbls>
            <c:numFmt formatCode="#,##0" sourceLinked="0"/>
            <c:spPr>
              <a:noFill/>
              <a:ln>
                <a:noFill/>
              </a:ln>
              <a:effectLst/>
            </c:spPr>
            <c:txPr>
              <a:bodyPr/>
              <a:lstStyle/>
              <a:p>
                <a:pPr>
                  <a:defRPr sz="900" b="1">
                    <a:solidFill>
                      <a:srgbClr val="2E7D32"/>
                    </a:solidFill>
                  </a:defRPr>
                </a:pPr>
                <a:endParaRPr lang="es-AR"/>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Aug · total 2</c:v>
                </c:pt>
                <c:pt idx="1">
                  <c:v>Sep · total 7</c:v>
                </c:pt>
              </c:strCache>
            </c:strRef>
          </c:cat>
          <c:val>
            <c:numRef>
              <c:f>Sheet1!$C$2:$C$3</c:f>
              <c:numCache>
                <c:formatCode>General</c:formatCode>
                <c:ptCount val="2"/>
                <c:pt idx="0">
                  <c:v>2.0</c:v>
                </c:pt>
                <c:pt idx="1">
                  <c:v>9.0</c:v>
                </c:pt>
              </c:numCache>
            </c:numRef>
          </c:val>
          <c:smooth val="1"/>
          <c:extLst>
            <c:ext xmlns:c16="http://schemas.microsoft.com/office/drawing/2014/chart" uri="{C3380CC4-5D6E-409C-BE32-E72D297353CC}">
              <c16:uniqueId val="{00000001-7102-4594-AC15-0581E82D7D69}"/>
            </c:ext>
          </c:extLst>
        </c:ser>
        <c:dLbls>
          <c:showLegendKey val="0"/>
          <c:showVal val="0"/>
          <c:showCatName val="0"/>
          <c:showSerName val="0"/>
          <c:showPercent val="0"/>
          <c:showBubbleSize val="0"/>
        </c:dLbls>
        <c:marker val="1"/>
        <c:smooth val="0"/>
        <c:axId val="-2068027336"/>
        <c:axId val="-2113994440"/>
      </c:lineChart>
      <c:catAx>
        <c:axId val="-2068027336"/>
        <c:scaling>
          <c:orientation val="minMax"/>
        </c:scaling>
        <c:delete val="0"/>
        <c:axPos val="b"/>
        <c:numFmt formatCode="General" sourceLinked="0"/>
        <c:majorTickMark val="out"/>
        <c:minorTickMark val="none"/>
        <c:tickLblPos val="nextTo"/>
        <c:txPr>
          <a:bodyPr/>
          <a:lstStyle/>
          <a:p>
            <a:pPr>
              <a:defRPr sz="850"/>
            </a:pPr>
            <a:endParaRPr lang="es-AR"/>
          </a:p>
        </c:txPr>
        <c:crossAx val="-2113994440"/>
        <c:crosses val="autoZero"/>
        <c:auto val="1"/>
        <c:lblAlgn val="ctr"/>
        <c:lblOffset val="100"/>
        <c:noMultiLvlLbl val="0"/>
      </c:catAx>
      <c:valAx>
        <c:axId val="-2113994440"/>
        <c:scaling>
          <c:orientation val="minMax"/>
          <c:min val="0"/>
        </c:scaling>
        <c:delete val="0"/>
        <c:axPos val="l"/>
        <c:numFmt formatCode="#,##0" sourceLinked="0"/>
        <c:majorTickMark val="out"/>
        <c:minorTickMark val="none"/>
        <c:tickLblPos val="nextTo"/>
        <c:txPr>
          <a:bodyPr/>
          <a:lstStyle/>
          <a:p>
            <a:pPr>
              <a:defRPr sz="800"/>
            </a:pPr>
            <a:endParaRPr lang="es-AR"/>
          </a:p>
        </c:txPr>
        <c:crossAx val="-2068027336"/>
        <c:crosses val="autoZero"/>
        <c:crossBetween val="between"/>
      </c:valAx>
    </c:plotArea>
    <c:legend>
      <c:legendPos val="b"/>
      <c:overlay val="0"/>
      <c:txPr>
        <a:bodyPr/>
        <a:lstStyle/>
        <a:p>
          <a:pPr>
            <a:defRPr sz="750"/>
          </a:pPr>
          <a:endParaRPr lang="es-AR"/>
        </a:p>
      </c:txPr>
    </c:legend>
    <c:plotVisOnly val="1"/>
    <c:dispBlanksAs val="gap"/>
    <c:showDLblsOverMax val="1"/>
  </c:chart>
  <c:txPr>
    <a:bodyPr/>
    <a:lstStyle/>
    <a:p>
      <a:pPr>
        <a:defRPr sz="1800"/>
      </a:pPr>
      <a:endParaRPr lang="es-AR"/>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1"/>
        <c:ser>
          <c:idx val="0"/>
          <c:order val="0"/>
          <c:tx>
            <c:strRef>
              <c:f>Sheet1!$B$1</c:f>
              <c:strCache>
                <c:ptCount val="1"/>
                <c:pt idx="0">
                  <c:v>Monthly total</c:v>
                </c:pt>
              </c:strCache>
            </c:strRef>
          </c:tx>
          <c:spPr>
            <a:solidFill>
              <a:srgbClr val="013EF5"/>
            </a:solidFill>
          </c:spPr>
          <c:invertIfNegative val="1"/>
          <c:dLbls>
            <c:numFmt formatCode="#,##0;\-#,##0;;" sourceLinked="0"/>
            <c:spPr>
              <a:noFill/>
              <a:ln>
                <a:noFill/>
              </a:ln>
              <a:effectLst/>
            </c:spPr>
            <c:txPr>
              <a:bodyPr/>
              <a:lstStyle/>
              <a:p>
                <a:pPr>
                  <a:defRPr sz="900" b="1">
                    <a:solidFill>
                      <a:srgbClr val="FFFFFF"/>
                    </a:solidFill>
                  </a:defRPr>
                </a:pPr>
                <a:endParaRPr lang="es-AR"/>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Aug · total 2</c:v>
                </c:pt>
                <c:pt idx="1">
                  <c:v>Sep · total 4</c:v>
                </c:pt>
              </c:strCache>
            </c:strRef>
          </c:cat>
          <c:val>
            <c:numRef>
              <c:f>Sheet1!$B$2:$B$3</c:f>
              <c:numCache>
                <c:formatCode>General</c:formatCode>
                <c:ptCount val="2"/>
                <c:pt idx="0">
                  <c:v>2.0</c:v>
                </c:pt>
                <c:pt idx="1">
                  <c:v>4.0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D4F4-4233-BA4E-FB86BD9944D4}"/>
            </c:ext>
          </c:extLst>
        </c:ser>
        <c:dLbls>
          <c:showLegendKey val="0"/>
          <c:showVal val="0"/>
          <c:showCatName val="0"/>
          <c:showSerName val="0"/>
          <c:showPercent val="0"/>
          <c:showBubbleSize val="0"/>
        </c:dLbls>
        <c:gapWidth val="70"/>
        <c:overlap val="100"/>
        <c:axId val="-2068027336"/>
        <c:axId val="-2113994440"/>
      </c:barChart>
      <c:lineChart>
        <c:grouping val="standard"/>
        <c:varyColors val="0"/>
        <c:ser>
          <c:idx val="1"/>
          <c:order val="1"/>
          <c:tx>
            <c:strRef>
              <c:f>Sheet1!$C$1</c:f>
              <c:strCache>
                <c:ptCount val="1"/>
                <c:pt idx="0">
                  <c:v>Cumulative total</c:v>
                </c:pt>
              </c:strCache>
            </c:strRef>
          </c:tx>
          <c:spPr>
            <a:ln w="28575">
              <a:solidFill>
                <a:srgbClr val="2E7D32"/>
              </a:solidFill>
            </a:ln>
          </c:spPr>
          <c:marker>
            <c:symbol val="circle"/>
            <c:size val="6"/>
            <c:spPr>
              <a:solidFill>
                <a:srgbClr val="2E7D32"/>
              </a:solidFill>
            </c:spPr>
          </c:marker>
          <c:dLbls>
            <c:numFmt formatCode="#,##0" sourceLinked="0"/>
            <c:spPr>
              <a:noFill/>
              <a:ln>
                <a:noFill/>
              </a:ln>
              <a:effectLst/>
            </c:spPr>
            <c:txPr>
              <a:bodyPr/>
              <a:lstStyle/>
              <a:p>
                <a:pPr>
                  <a:defRPr sz="900" b="1">
                    <a:solidFill>
                      <a:srgbClr val="2E7D32"/>
                    </a:solidFill>
                  </a:defRPr>
                </a:pPr>
                <a:endParaRPr lang="es-AR"/>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Aug · total 2</c:v>
                </c:pt>
                <c:pt idx="1">
                  <c:v>Sep · total 4</c:v>
                </c:pt>
              </c:strCache>
            </c:strRef>
          </c:cat>
          <c:val>
            <c:numRef>
              <c:f>Sheet1!$C$2:$C$3</c:f>
              <c:numCache>
                <c:formatCode>General</c:formatCode>
                <c:ptCount val="2"/>
                <c:pt idx="0">
                  <c:v>2.0</c:v>
                </c:pt>
                <c:pt idx="1">
                  <c:v>6.0</c:v>
                </c:pt>
              </c:numCache>
            </c:numRef>
          </c:val>
          <c:smooth val="1"/>
          <c:extLst>
            <c:ext xmlns:c16="http://schemas.microsoft.com/office/drawing/2014/chart" uri="{C3380CC4-5D6E-409C-BE32-E72D297353CC}">
              <c16:uniqueId val="{00000001-D4F4-4233-BA4E-FB86BD9944D4}"/>
            </c:ext>
          </c:extLst>
        </c:ser>
        <c:dLbls>
          <c:showLegendKey val="0"/>
          <c:showVal val="0"/>
          <c:showCatName val="0"/>
          <c:showSerName val="0"/>
          <c:showPercent val="0"/>
          <c:showBubbleSize val="0"/>
        </c:dLbls>
        <c:marker val="1"/>
        <c:smooth val="0"/>
        <c:axId val="-2068027336"/>
        <c:axId val="-2113994440"/>
      </c:lineChart>
      <c:catAx>
        <c:axId val="-2068027336"/>
        <c:scaling>
          <c:orientation val="minMax"/>
        </c:scaling>
        <c:delete val="0"/>
        <c:axPos val="b"/>
        <c:numFmt formatCode="General" sourceLinked="0"/>
        <c:majorTickMark val="out"/>
        <c:minorTickMark val="none"/>
        <c:tickLblPos val="nextTo"/>
        <c:txPr>
          <a:bodyPr/>
          <a:lstStyle/>
          <a:p>
            <a:pPr>
              <a:defRPr sz="850"/>
            </a:pPr>
            <a:endParaRPr lang="es-AR"/>
          </a:p>
        </c:txPr>
        <c:crossAx val="-2113994440"/>
        <c:crosses val="autoZero"/>
        <c:auto val="1"/>
        <c:lblAlgn val="ctr"/>
        <c:lblOffset val="100"/>
        <c:noMultiLvlLbl val="0"/>
      </c:catAx>
      <c:valAx>
        <c:axId val="-2113994440"/>
        <c:scaling>
          <c:orientation val="minMax"/>
          <c:min val="0"/>
        </c:scaling>
        <c:delete val="0"/>
        <c:axPos val="l"/>
        <c:numFmt formatCode="#,##0" sourceLinked="0"/>
        <c:majorTickMark val="out"/>
        <c:minorTickMark val="none"/>
        <c:tickLblPos val="nextTo"/>
        <c:txPr>
          <a:bodyPr/>
          <a:lstStyle/>
          <a:p>
            <a:pPr>
              <a:defRPr sz="800"/>
            </a:pPr>
            <a:endParaRPr lang="es-AR"/>
          </a:p>
        </c:txPr>
        <c:crossAx val="-2068027336"/>
        <c:crosses val="autoZero"/>
        <c:crossBetween val="between"/>
      </c:valAx>
    </c:plotArea>
    <c:legend>
      <c:legendPos val="b"/>
      <c:overlay val="0"/>
      <c:txPr>
        <a:bodyPr/>
        <a:lstStyle/>
        <a:p>
          <a:pPr>
            <a:defRPr sz="750"/>
          </a:pPr>
          <a:endParaRPr lang="es-AR"/>
        </a:p>
      </c:txPr>
    </c:legend>
    <c:plotVisOnly val="1"/>
    <c:dispBlanksAs val="gap"/>
    <c:showDLblsOverMax val="1"/>
  </c:chart>
  <c:txPr>
    <a:bodyPr/>
    <a:lstStyle/>
    <a:p>
      <a:pPr>
        <a:defRPr sz="1800"/>
      </a:pPr>
      <a:endParaRPr lang="es-AR"/>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1"/>
        <c:ser>
          <c:idx val="0"/>
          <c:order val="0"/>
          <c:tx>
            <c:strRef>
              <c:f>Sheet1!$B$1</c:f>
              <c:strCache>
                <c:ptCount val="1"/>
                <c:pt idx="0">
                  <c:v>Monthly total</c:v>
                </c:pt>
              </c:strCache>
            </c:strRef>
          </c:tx>
          <c:spPr>
            <a:solidFill>
              <a:srgbClr val="013EF5"/>
            </a:solidFill>
          </c:spPr>
          <c:invertIfNegative val="1"/>
          <c:dLbls>
            <c:numFmt formatCode="#,##0;\-#,##0;;" sourceLinked="0"/>
            <c:spPr>
              <a:noFill/>
              <a:ln>
                <a:noFill/>
              </a:ln>
              <a:effectLst/>
            </c:spPr>
            <c:txPr>
              <a:bodyPr/>
              <a:lstStyle/>
              <a:p>
                <a:pPr>
                  <a:defRPr sz="900" b="1">
                    <a:solidFill>
                      <a:srgbClr val="FFFFFF"/>
                    </a:solidFill>
                  </a:defRPr>
                </a:pPr>
                <a:endParaRPr lang="es-AR"/>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Aug · total 2</c:v>
                </c:pt>
                <c:pt idx="1">
                  <c:v>Sep · total 2</c:v>
                </c:pt>
              </c:strCache>
            </c:strRef>
          </c:cat>
          <c:val>
            <c:numRef>
              <c:f>Sheet1!$B$2:$B$3</c:f>
              <c:numCache>
                <c:formatCode>General</c:formatCode>
                <c:ptCount val="2"/>
                <c:pt idx="0">
                  <c:v>2.0</c:v>
                </c:pt>
                <c:pt idx="1">
                  <c:v>2.0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7983-4333-8C7B-1929538D009B}"/>
            </c:ext>
          </c:extLst>
        </c:ser>
        <c:dLbls>
          <c:showLegendKey val="0"/>
          <c:showVal val="0"/>
          <c:showCatName val="0"/>
          <c:showSerName val="0"/>
          <c:showPercent val="0"/>
          <c:showBubbleSize val="0"/>
        </c:dLbls>
        <c:gapWidth val="70"/>
        <c:overlap val="100"/>
        <c:axId val="-2068027336"/>
        <c:axId val="-2113994440"/>
      </c:barChart>
      <c:lineChart>
        <c:grouping val="standard"/>
        <c:varyColors val="0"/>
        <c:ser>
          <c:idx val="1"/>
          <c:order val="1"/>
          <c:tx>
            <c:strRef>
              <c:f>Sheet1!$C$1</c:f>
              <c:strCache>
                <c:ptCount val="1"/>
                <c:pt idx="0">
                  <c:v>Cumulative total</c:v>
                </c:pt>
              </c:strCache>
            </c:strRef>
          </c:tx>
          <c:spPr>
            <a:ln w="28575">
              <a:solidFill>
                <a:srgbClr val="2E7D32"/>
              </a:solidFill>
            </a:ln>
          </c:spPr>
          <c:marker>
            <c:symbol val="circle"/>
            <c:size val="6"/>
            <c:spPr>
              <a:solidFill>
                <a:srgbClr val="2E7D32"/>
              </a:solidFill>
            </c:spPr>
          </c:marker>
          <c:dLbls>
            <c:numFmt formatCode="#,##0" sourceLinked="0"/>
            <c:spPr>
              <a:noFill/>
              <a:ln>
                <a:noFill/>
              </a:ln>
              <a:effectLst/>
            </c:spPr>
            <c:txPr>
              <a:bodyPr/>
              <a:lstStyle/>
              <a:p>
                <a:pPr>
                  <a:defRPr sz="900" b="1">
                    <a:solidFill>
                      <a:srgbClr val="2E7D32"/>
                    </a:solidFill>
                  </a:defRPr>
                </a:pPr>
                <a:endParaRPr lang="es-AR"/>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Aug · total 2</c:v>
                </c:pt>
                <c:pt idx="1">
                  <c:v>Sep · total 2</c:v>
                </c:pt>
              </c:strCache>
            </c:strRef>
          </c:cat>
          <c:val>
            <c:numRef>
              <c:f>Sheet1!$C$2:$C$3</c:f>
              <c:numCache>
                <c:formatCode>General</c:formatCode>
                <c:ptCount val="2"/>
                <c:pt idx="0">
                  <c:v>2.0</c:v>
                </c:pt>
                <c:pt idx="1">
                  <c:v>4.0</c:v>
                </c:pt>
              </c:numCache>
            </c:numRef>
          </c:val>
          <c:smooth val="1"/>
          <c:extLst>
            <c:ext xmlns:c16="http://schemas.microsoft.com/office/drawing/2014/chart" uri="{C3380CC4-5D6E-409C-BE32-E72D297353CC}">
              <c16:uniqueId val="{00000001-7983-4333-8C7B-1929538D009B}"/>
            </c:ext>
          </c:extLst>
        </c:ser>
        <c:dLbls>
          <c:showLegendKey val="0"/>
          <c:showVal val="0"/>
          <c:showCatName val="0"/>
          <c:showSerName val="0"/>
          <c:showPercent val="0"/>
          <c:showBubbleSize val="0"/>
        </c:dLbls>
        <c:marker val="1"/>
        <c:smooth val="0"/>
        <c:axId val="-2068027336"/>
        <c:axId val="-2113994440"/>
      </c:lineChart>
      <c:catAx>
        <c:axId val="-2068027336"/>
        <c:scaling>
          <c:orientation val="minMax"/>
        </c:scaling>
        <c:delete val="0"/>
        <c:axPos val="b"/>
        <c:numFmt formatCode="General" sourceLinked="0"/>
        <c:majorTickMark val="out"/>
        <c:minorTickMark val="none"/>
        <c:tickLblPos val="nextTo"/>
        <c:txPr>
          <a:bodyPr/>
          <a:lstStyle/>
          <a:p>
            <a:pPr>
              <a:defRPr sz="850"/>
            </a:pPr>
            <a:endParaRPr lang="es-AR"/>
          </a:p>
        </c:txPr>
        <c:crossAx val="-2113994440"/>
        <c:crosses val="autoZero"/>
        <c:auto val="1"/>
        <c:lblAlgn val="ctr"/>
        <c:lblOffset val="100"/>
        <c:noMultiLvlLbl val="0"/>
      </c:catAx>
      <c:valAx>
        <c:axId val="-2113994440"/>
        <c:scaling>
          <c:orientation val="minMax"/>
          <c:min val="0"/>
        </c:scaling>
        <c:delete val="0"/>
        <c:axPos val="l"/>
        <c:numFmt formatCode="#,##0" sourceLinked="0"/>
        <c:majorTickMark val="out"/>
        <c:minorTickMark val="none"/>
        <c:tickLblPos val="nextTo"/>
        <c:txPr>
          <a:bodyPr/>
          <a:lstStyle/>
          <a:p>
            <a:pPr>
              <a:defRPr sz="800"/>
            </a:pPr>
            <a:endParaRPr lang="es-AR"/>
          </a:p>
        </c:txPr>
        <c:crossAx val="-2068027336"/>
        <c:crosses val="autoZero"/>
        <c:crossBetween val="between"/>
      </c:valAx>
    </c:plotArea>
    <c:legend>
      <c:legendPos val="b"/>
      <c:overlay val="0"/>
      <c:txPr>
        <a:bodyPr/>
        <a:lstStyle/>
        <a:p>
          <a:pPr>
            <a:defRPr sz="750"/>
          </a:pPr>
          <a:endParaRPr lang="es-AR"/>
        </a:p>
      </c:txPr>
    </c:legend>
    <c:plotVisOnly val="1"/>
    <c:dispBlanksAs val="gap"/>
    <c:showDLblsOverMax val="1"/>
  </c:chart>
  <c:txPr>
    <a:bodyPr/>
    <a:lstStyle/>
    <a:p>
      <a:pPr>
        <a:defRPr sz="1800"/>
      </a:pPr>
      <a:endParaRPr lang="es-AR"/>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1"/>
        <c:ser>
          <c:idx val="0"/>
          <c:order val="0"/>
          <c:tx>
            <c:strRef>
              <c:f>Sheet1!$B$1</c:f>
              <c:strCache>
                <c:ptCount val="1"/>
                <c:pt idx="0">
                  <c:v>Monthly total</c:v>
                </c:pt>
              </c:strCache>
            </c:strRef>
          </c:tx>
          <c:spPr>
            <a:solidFill>
              <a:srgbClr val="013EF5"/>
            </a:solidFill>
          </c:spPr>
          <c:invertIfNegative val="1"/>
          <c:dLbls>
            <c:numFmt formatCode="#,##0;\-#,##0;;" sourceLinked="0"/>
            <c:spPr>
              <a:noFill/>
              <a:ln>
                <a:noFill/>
              </a:ln>
              <a:effectLst/>
            </c:spPr>
            <c:txPr>
              <a:bodyPr/>
              <a:lstStyle/>
              <a:p>
                <a:pPr>
                  <a:defRPr sz="900" b="1">
                    <a:solidFill>
                      <a:srgbClr val="FFFFFF"/>
                    </a:solidFill>
                  </a:defRPr>
                </a:pPr>
                <a:endParaRPr lang="es-AR"/>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Aug · total 167</c:v>
                </c:pt>
                <c:pt idx="1">
                  <c:v>Sep · total 295</c:v>
                </c:pt>
              </c:strCache>
            </c:strRef>
          </c:cat>
          <c:val>
            <c:numRef>
              <c:f>Sheet1!$B$2:$B$3</c:f>
              <c:numCache>
                <c:formatCode>General</c:formatCode>
                <c:ptCount val="2"/>
                <c:pt idx="0">
                  <c:v>167.0</c:v>
                </c:pt>
                <c:pt idx="1">
                  <c:v>295.0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269E-4574-8138-D3BA43F1EBCD}"/>
            </c:ext>
          </c:extLst>
        </c:ser>
        <c:dLbls>
          <c:showLegendKey val="0"/>
          <c:showVal val="0"/>
          <c:showCatName val="0"/>
          <c:showSerName val="0"/>
          <c:showPercent val="0"/>
          <c:showBubbleSize val="0"/>
        </c:dLbls>
        <c:gapWidth val="70"/>
        <c:overlap val="100"/>
        <c:axId val="-2068027336"/>
        <c:axId val="-2113994440"/>
      </c:barChart>
      <c:lineChart>
        <c:grouping val="standard"/>
        <c:varyColors val="0"/>
        <c:ser>
          <c:idx val="1"/>
          <c:order val="1"/>
          <c:tx>
            <c:strRef>
              <c:f>Sheet1!$C$1</c:f>
              <c:strCache>
                <c:ptCount val="1"/>
                <c:pt idx="0">
                  <c:v>Cumulative total</c:v>
                </c:pt>
              </c:strCache>
            </c:strRef>
          </c:tx>
          <c:spPr>
            <a:ln w="28575">
              <a:solidFill>
                <a:srgbClr val="2E7D32"/>
              </a:solidFill>
            </a:ln>
          </c:spPr>
          <c:marker>
            <c:symbol val="circle"/>
            <c:size val="6"/>
            <c:spPr>
              <a:solidFill>
                <a:srgbClr val="2E7D32"/>
              </a:solidFill>
            </c:spPr>
          </c:marker>
          <c:dLbls>
            <c:numFmt formatCode="#,##0" sourceLinked="0"/>
            <c:spPr>
              <a:noFill/>
              <a:ln>
                <a:noFill/>
              </a:ln>
              <a:effectLst/>
            </c:spPr>
            <c:txPr>
              <a:bodyPr/>
              <a:lstStyle/>
              <a:p>
                <a:pPr>
                  <a:defRPr sz="900" b="1">
                    <a:solidFill>
                      <a:srgbClr val="2E7D32"/>
                    </a:solidFill>
                  </a:defRPr>
                </a:pPr>
                <a:endParaRPr lang="es-AR"/>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Aug · total 167</c:v>
                </c:pt>
                <c:pt idx="1">
                  <c:v>Sep · total 295</c:v>
                </c:pt>
              </c:strCache>
            </c:strRef>
          </c:cat>
          <c:val>
            <c:numRef>
              <c:f>Sheet1!$C$2:$C$3</c:f>
              <c:numCache>
                <c:formatCode>General</c:formatCode>
                <c:ptCount val="2"/>
                <c:pt idx="0">
                  <c:v>167.0</c:v>
                </c:pt>
                <c:pt idx="1">
                  <c:v>462.0</c:v>
                </c:pt>
              </c:numCache>
            </c:numRef>
          </c:val>
          <c:smooth val="1"/>
          <c:extLst>
            <c:ext xmlns:c16="http://schemas.microsoft.com/office/drawing/2014/chart" uri="{C3380CC4-5D6E-409C-BE32-E72D297353CC}">
              <c16:uniqueId val="{00000001-269E-4574-8138-D3BA43F1EBCD}"/>
            </c:ext>
          </c:extLst>
        </c:ser>
        <c:dLbls>
          <c:showLegendKey val="0"/>
          <c:showVal val="0"/>
          <c:showCatName val="0"/>
          <c:showSerName val="0"/>
          <c:showPercent val="0"/>
          <c:showBubbleSize val="0"/>
        </c:dLbls>
        <c:marker val="1"/>
        <c:smooth val="0"/>
        <c:axId val="-2068027336"/>
        <c:axId val="-2113994440"/>
      </c:lineChart>
      <c:catAx>
        <c:axId val="-2068027336"/>
        <c:scaling>
          <c:orientation val="minMax"/>
        </c:scaling>
        <c:delete val="0"/>
        <c:axPos val="b"/>
        <c:numFmt formatCode="General" sourceLinked="0"/>
        <c:majorTickMark val="out"/>
        <c:minorTickMark val="none"/>
        <c:tickLblPos val="nextTo"/>
        <c:txPr>
          <a:bodyPr/>
          <a:lstStyle/>
          <a:p>
            <a:pPr>
              <a:defRPr sz="850"/>
            </a:pPr>
            <a:endParaRPr lang="es-AR"/>
          </a:p>
        </c:txPr>
        <c:crossAx val="-2113994440"/>
        <c:crosses val="autoZero"/>
        <c:auto val="1"/>
        <c:lblAlgn val="ctr"/>
        <c:lblOffset val="100"/>
        <c:noMultiLvlLbl val="0"/>
      </c:catAx>
      <c:valAx>
        <c:axId val="-2113994440"/>
        <c:scaling>
          <c:orientation val="minMax"/>
          <c:min val="0"/>
        </c:scaling>
        <c:delete val="0"/>
        <c:axPos val="l"/>
        <c:numFmt formatCode="#,##0" sourceLinked="0"/>
        <c:majorTickMark val="out"/>
        <c:minorTickMark val="none"/>
        <c:tickLblPos val="nextTo"/>
        <c:txPr>
          <a:bodyPr/>
          <a:lstStyle/>
          <a:p>
            <a:pPr>
              <a:defRPr sz="800"/>
            </a:pPr>
            <a:endParaRPr lang="es-AR"/>
          </a:p>
        </c:txPr>
        <c:crossAx val="-2068027336"/>
        <c:crosses val="autoZero"/>
        <c:crossBetween val="between"/>
      </c:valAx>
    </c:plotArea>
    <c:legend>
      <c:legendPos val="b"/>
      <c:overlay val="0"/>
      <c:txPr>
        <a:bodyPr/>
        <a:lstStyle/>
        <a:p>
          <a:pPr>
            <a:defRPr sz="750"/>
          </a:pPr>
          <a:endParaRPr lang="es-AR"/>
        </a:p>
      </c:txPr>
    </c:legend>
    <c:plotVisOnly val="1"/>
    <c:dispBlanksAs val="gap"/>
    <c:showDLblsOverMax val="1"/>
  </c:chart>
  <c:txPr>
    <a:bodyPr/>
    <a:lstStyle/>
    <a:p>
      <a:pPr>
        <a:defRPr sz="1800"/>
      </a:pPr>
      <a:endParaRPr lang="es-AR"/>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1"/>
        <c:ser>
          <c:idx val="0"/>
          <c:order val="0"/>
          <c:tx>
            <c:strRef>
              <c:f>Sheet1!$B$1</c:f>
              <c:strCache>
                <c:ptCount val="1"/>
                <c:pt idx="0">
                  <c:v>Monthly total</c:v>
                </c:pt>
              </c:strCache>
            </c:strRef>
          </c:tx>
          <c:spPr>
            <a:solidFill>
              <a:srgbClr val="013EF5"/>
            </a:solidFill>
          </c:spPr>
          <c:invertIfNegative val="1"/>
          <c:dLbls>
            <c:numFmt formatCode="#,##0;\-#,##0;;" sourceLinked="0"/>
            <c:spPr>
              <a:noFill/>
              <a:ln>
                <a:noFill/>
              </a:ln>
              <a:effectLst/>
            </c:spPr>
            <c:txPr>
              <a:bodyPr/>
              <a:lstStyle/>
              <a:p>
                <a:pPr>
                  <a:defRPr sz="900" b="1">
                    <a:solidFill>
                      <a:srgbClr val="FFFFFF"/>
                    </a:solidFill>
                  </a:defRPr>
                </a:pPr>
                <a:endParaRPr lang="es-AR"/>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Aug · total 1,853</c:v>
                </c:pt>
                <c:pt idx="1">
                  <c:v>Sep · total 1,796</c:v>
                </c:pt>
              </c:strCache>
            </c:strRef>
          </c:cat>
          <c:val>
            <c:numRef>
              <c:f>Sheet1!$B$2:$B$3</c:f>
              <c:numCache>
                <c:formatCode>General</c:formatCode>
                <c:ptCount val="2"/>
                <c:pt idx="0">
                  <c:v>1853.0</c:v>
                </c:pt>
                <c:pt idx="1">
                  <c:v>1796.0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7447-4A6C-84B6-55D9C8C76B30}"/>
            </c:ext>
          </c:extLst>
        </c:ser>
        <c:dLbls>
          <c:showLegendKey val="0"/>
          <c:showVal val="0"/>
          <c:showCatName val="0"/>
          <c:showSerName val="0"/>
          <c:showPercent val="0"/>
          <c:showBubbleSize val="0"/>
        </c:dLbls>
        <c:gapWidth val="70"/>
        <c:overlap val="100"/>
        <c:axId val="-2068027336"/>
        <c:axId val="-2113994440"/>
      </c:barChart>
      <c:lineChart>
        <c:grouping val="standard"/>
        <c:varyColors val="0"/>
        <c:ser>
          <c:idx val="1"/>
          <c:order val="1"/>
          <c:tx>
            <c:strRef>
              <c:f>Sheet1!$C$1</c:f>
              <c:strCache>
                <c:ptCount val="1"/>
                <c:pt idx="0">
                  <c:v>Cumulative total</c:v>
                </c:pt>
              </c:strCache>
            </c:strRef>
          </c:tx>
          <c:spPr>
            <a:ln w="28575">
              <a:solidFill>
                <a:srgbClr val="2E7D32"/>
              </a:solidFill>
            </a:ln>
          </c:spPr>
          <c:marker>
            <c:symbol val="circle"/>
            <c:size val="6"/>
            <c:spPr>
              <a:solidFill>
                <a:srgbClr val="2E7D32"/>
              </a:solidFill>
            </c:spPr>
          </c:marker>
          <c:dLbls>
            <c:numFmt formatCode="#,##0" sourceLinked="0"/>
            <c:spPr>
              <a:noFill/>
              <a:ln>
                <a:noFill/>
              </a:ln>
              <a:effectLst/>
            </c:spPr>
            <c:txPr>
              <a:bodyPr/>
              <a:lstStyle/>
              <a:p>
                <a:pPr>
                  <a:defRPr sz="900" b="1">
                    <a:solidFill>
                      <a:srgbClr val="2E7D32"/>
                    </a:solidFill>
                  </a:defRPr>
                </a:pPr>
                <a:endParaRPr lang="es-AR"/>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Aug · total 1,853</c:v>
                </c:pt>
                <c:pt idx="1">
                  <c:v>Sep · total 1,796</c:v>
                </c:pt>
              </c:strCache>
            </c:strRef>
          </c:cat>
          <c:val>
            <c:numRef>
              <c:f>Sheet1!$C$2:$C$3</c:f>
              <c:numCache>
                <c:formatCode>General</c:formatCode>
                <c:ptCount val="2"/>
                <c:pt idx="0">
                  <c:v>1853.0</c:v>
                </c:pt>
                <c:pt idx="1">
                  <c:v>3649.0</c:v>
                </c:pt>
              </c:numCache>
            </c:numRef>
          </c:val>
          <c:smooth val="1"/>
          <c:extLst>
            <c:ext xmlns:c16="http://schemas.microsoft.com/office/drawing/2014/chart" uri="{C3380CC4-5D6E-409C-BE32-E72D297353CC}">
              <c16:uniqueId val="{00000001-7447-4A6C-84B6-55D9C8C76B30}"/>
            </c:ext>
          </c:extLst>
        </c:ser>
        <c:dLbls>
          <c:showLegendKey val="0"/>
          <c:showVal val="0"/>
          <c:showCatName val="0"/>
          <c:showSerName val="0"/>
          <c:showPercent val="0"/>
          <c:showBubbleSize val="0"/>
        </c:dLbls>
        <c:marker val="1"/>
        <c:smooth val="0"/>
        <c:axId val="-2068027336"/>
        <c:axId val="-2113994440"/>
      </c:lineChart>
      <c:catAx>
        <c:axId val="-2068027336"/>
        <c:scaling>
          <c:orientation val="minMax"/>
        </c:scaling>
        <c:delete val="0"/>
        <c:axPos val="b"/>
        <c:numFmt formatCode="General" sourceLinked="0"/>
        <c:majorTickMark val="out"/>
        <c:minorTickMark val="none"/>
        <c:tickLblPos val="nextTo"/>
        <c:txPr>
          <a:bodyPr/>
          <a:lstStyle/>
          <a:p>
            <a:pPr>
              <a:defRPr sz="850"/>
            </a:pPr>
            <a:endParaRPr lang="es-AR"/>
          </a:p>
        </c:txPr>
        <c:crossAx val="-2113994440"/>
        <c:crosses val="autoZero"/>
        <c:auto val="1"/>
        <c:lblAlgn val="ctr"/>
        <c:lblOffset val="100"/>
        <c:noMultiLvlLbl val="0"/>
      </c:catAx>
      <c:valAx>
        <c:axId val="-2113994440"/>
        <c:scaling>
          <c:orientation val="minMax"/>
          <c:min val="0"/>
        </c:scaling>
        <c:delete val="0"/>
        <c:axPos val="l"/>
        <c:numFmt formatCode="#,##0" sourceLinked="0"/>
        <c:majorTickMark val="out"/>
        <c:minorTickMark val="none"/>
        <c:tickLblPos val="nextTo"/>
        <c:txPr>
          <a:bodyPr/>
          <a:lstStyle/>
          <a:p>
            <a:pPr>
              <a:defRPr sz="800"/>
            </a:pPr>
            <a:endParaRPr lang="es-AR"/>
          </a:p>
        </c:txPr>
        <c:crossAx val="-2068027336"/>
        <c:crosses val="autoZero"/>
        <c:crossBetween val="between"/>
      </c:valAx>
    </c:plotArea>
    <c:legend>
      <c:legendPos val="b"/>
      <c:overlay val="0"/>
      <c:txPr>
        <a:bodyPr/>
        <a:lstStyle/>
        <a:p>
          <a:pPr>
            <a:defRPr sz="750"/>
          </a:pPr>
          <a:endParaRPr lang="es-AR"/>
        </a:p>
      </c:txPr>
    </c:legend>
    <c:plotVisOnly val="1"/>
    <c:dispBlanksAs val="gap"/>
    <c:showDLblsOverMax val="1"/>
  </c:chart>
  <c:txPr>
    <a:bodyPr/>
    <a:lstStyle/>
    <a:p>
      <a:pPr>
        <a:defRPr sz="1800"/>
      </a:pPr>
      <a:endParaRPr lang="es-AR"/>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1"/>
            <a:ext cx="2971800" cy="458788"/>
          </a:xfrm>
          <a:prstGeom prst="rect">
            <a:avLst/>
          </a:prstGeom>
        </p:spPr>
        <p:txBody>
          <a:bodyPr vert="horz" lIns="91440" tIns="45720" rIns="91440" bIns="45720" rtlCol="0"/>
          <a:lstStyle>
            <a:lvl1pPr algn="l">
              <a:defRPr sz="1200"/>
            </a:lvl1pPr>
          </a:lstStyle>
          <a:p>
            <a:endParaRPr lang="es-AR"/>
          </a:p>
        </p:txBody>
      </p:sp>
      <p:sp>
        <p:nvSpPr>
          <p:cNvPr id="3" name="Marcador de fecha 2"/>
          <p:cNvSpPr>
            <a:spLocks noGrp="1"/>
          </p:cNvSpPr>
          <p:nvPr>
            <p:ph type="dt" idx="1"/>
          </p:nvPr>
        </p:nvSpPr>
        <p:spPr>
          <a:xfrm>
            <a:off x="3884613" y="1"/>
            <a:ext cx="2971800" cy="458788"/>
          </a:xfrm>
          <a:prstGeom prst="rect">
            <a:avLst/>
          </a:prstGeom>
        </p:spPr>
        <p:txBody>
          <a:bodyPr vert="horz" lIns="91440" tIns="45720" rIns="91440" bIns="45720" rtlCol="0"/>
          <a:lstStyle>
            <a:lvl1pPr algn="r">
              <a:defRPr sz="1200"/>
            </a:lvl1pPr>
          </a:lstStyle>
          <a:p>
            <a:fld id="{66A27EAB-02EC-DF49-A3ED-D6B7405E2758}" type="datetimeFigureOut">
              <a:rPr lang="es-AR" smtClean="0"/>
              <a:t>27/10/2026</a:t>
            </a:fld>
            <a:endParaRPr lang="es-AR"/>
          </a:p>
        </p:txBody>
      </p:sp>
      <p:sp>
        <p:nvSpPr>
          <p:cNvPr id="4" name="Marcador de imagen de diapositiva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s-AR"/>
          </a:p>
        </p:txBody>
      </p:sp>
      <p:sp>
        <p:nvSpPr>
          <p:cNvPr id="5" name="Marcador de notas 4"/>
          <p:cNvSpPr>
            <a:spLocks noGrp="1"/>
          </p:cNvSpPr>
          <p:nvPr>
            <p:ph type="body" sz="quarter" idx="3"/>
          </p:nvPr>
        </p:nvSpPr>
        <p:spPr>
          <a:xfrm>
            <a:off x="685800" y="4400549"/>
            <a:ext cx="5486400" cy="3600451"/>
          </a:xfrm>
          <a:prstGeom prst="rect">
            <a:avLst/>
          </a:prstGeom>
        </p:spPr>
        <p:txBody>
          <a:bodyPr vert="horz" lIns="91440" tIns="45720" rIns="91440" bIns="45720" rtlCol="0"/>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AR"/>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4B5ED3D-3D81-8B44-9A44-D30D8C104DB9}" type="slidenum">
              <a:rPr lang="es-AR" smtClean="0"/>
              <a:t>‹Nº›</a:t>
            </a:fld>
            <a:endParaRPr lang="es-AR"/>
          </a:p>
        </p:txBody>
      </p:sp>
    </p:spTree>
    <p:extLst>
      <p:ext uri="{BB962C8B-B14F-4D97-AF65-F5344CB8AC3E}">
        <p14:creationId xmlns:p14="http://schemas.microsoft.com/office/powerpoint/2010/main" val="38571866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REVISIÓN v02 — 27/10/2026. Se vuelve a la PPT original conservando sus gráficos y series. La v02 sustituye al borrador temático v01 como base vigente. El usuario confirma datos iguales y nuevas láminas de fotos/temas relevantes. Novedades pendientes de Leandro Doglio; no se recibieron fotografías reales. Fecha del comité conservada del original: 28/10/2026. No se ha emitido el informe.</a:t>
            </a:r>
          </a:p>
          <a:p>
            <a:endParaRPr/>
          </a:p>
          <a:p>
            <a:r>
              <a:t>ENTREGA VIGENTE v05: basada en el archivo que el usuario volvió a adjuntar. Orden: seguridad gráficos, seguridad novedades, ambiente gráficos, ambiente novedades. Se conserva el 2.87% y todos los datos de gráficos. La lámina ambiental se completa sin recuadros de fotos. Esta entrega sigue siendo borrador: faltan novedades de seguridad, fotos de esa sección y actualización del helicóptero.</a:t>
            </a:r>
          </a:p>
          <a:p>
            <a:endParaRPr/>
          </a:p>
          <a:p>
            <a:r>
              <a:t>CAMBIO VIGENTE v07: a pedido del usuario se retiran de esta PPT general los dos temas de permisos ambientales citados en su último mensaje. Se elimina la lámina narrativa que los contenía; se conservan los gráficos ambientales y todos sus valores. La presentación general queda en 8 láminas. Este cambio no modifica el estado real de los trámites ni implica aprobación o cierre de los temas omitidos.</a:t>
            </a:r>
          </a:p>
          <a:p>
            <a:endParaRPr/>
          </a:p>
          <a:p>
            <a:r>
              <a:t>CAMBIO VIGENTE v08: el usuario también solicita omitir la lámina de indicadores ambientales de residuos y agua. Se elimina la antigua posición 6, además de la lámina narrativa ambiental retirada en v07. La entrega general actual tiene 7 láminas; conserva seguridad, capacitación 2.87%, novedades de seguridad pendientes y helicóptero.</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HSE INDICATORS - TALKING POINTS (cut-off Oct 27, 2026; Oct figures pending data load)</a:t>
            </a:r>
          </a:p>
          <a:p>
            <a:endParaRPr/>
          </a:p>
          <a:p>
            <a:r>
              <a:t>DAFWCF - Lost-time case frequency. Lost-time cases (DAFWC) x 10^6 / man-hours worked (HHT). Target 0. Aug-Sep: 0.</a:t>
            </a:r>
          </a:p>
          <a:p>
            <a:r>
              <a:t>TRICF - Total recordable case frequency. (FAT + DAFWC + MTC + RWC) x 10^6 / HHT. Target 2.35 (range 2.35-3.00). Aug-Sep: 0.00, within target.</a:t>
            </a:r>
          </a:p>
          <a:p>
            <a:r>
              <a:t>TVCR - Total vehicle accident rate. Work-related vehicle accidents x 10^6 / km travelled. Target 0.79 (range 0.79-2.00). Aug-Sep: 0.00, within target.</a:t>
            </a:r>
          </a:p>
          <a:p>
            <a:r>
              <a:t>FAC - First aid cases. Reported for visibility, no target. Aug-Sep: 0.</a:t>
            </a:r>
          </a:p>
          <a:p>
            <a:r>
              <a:t>HHT - Man-hours worked (denominator of TRICF/DAFWCF). Km driven - denominator of TVCR. Total workers - headcount in the month.</a:t>
            </a:r>
          </a:p>
          <a:p>
            <a:endParaRPr/>
          </a:p>
          <a:p>
            <a:r>
              <a:t>How to read the charts: bars = number of cases (left axis); green line = frequency (right axis); red dashed line = target (right axis). Frequency below the dashed line means the indicator is within target.</a:t>
            </a:r>
          </a:p>
          <a:p>
            <a:r>
              <a:t>Pyramid (cumulative since Aug-26): FAT / DAFWC (top), MTC / RWC, FAC, incidents, and safety observations at the base. A wide base with an empty top is the expected profile: many proactive observations, no injuries.</a:t>
            </a:r>
          </a:p>
          <a:p>
            <a:r>
              <a:t>The user confirms unchanged zero values for DAFWCF, TRICF, TVCR and FAC in the KPI table, with cut-off 26 October 2026. Historical graph data remain unchanged.</a:t>
            </a:r>
          </a:p>
          <a:p>
            <a:endParaRPr/>
          </a:p>
          <a:p>
            <a:r>
              <a:t>ANTECEDENTES SIN FECHA (texto original trasladado por legibilidad):</a:t>
            </a:r>
          </a:p>
          <a:p>
            <a:r>
              <a:t>Road Traffic Accident Drill conducted on National Route N3.</a:t>
            </a:r>
          </a:p>
          <a:p>
            <a:r>
              <a:t>Work Programs implemented for the transportation of pipelines from the port to the construction site.</a:t>
            </a:r>
          </a:p>
          <a:p>
            <a:r>
              <a:t>No atribuir estos hechos a octubre sin confirmación de fecha y alcance.</a:t>
            </a:r>
          </a:p>
          <a:p>
            <a:endParaRPr/>
          </a:p>
          <a:p>
            <a:r>
              <a:t>FORMATO: 3.00 se muestra como 3; 2.00 como 2; 0.00 como 0. 2.35 y 0.79 se conservan porque son valores fraccionarios, no ceros de formato. No cambian las metas ni los datos. Se mantiene pendiente aclarar los rangos 2.35–3 y 0.79–2 frente a las metas de línea 2.35 y 0.79. Los históricos agosto–septiembre no pasan a ser resultados de octubre. Guion: DAFWCF = casos con días perdidos × 10^6/HHT; TRICF = casos registrables × 10^6/HHT; TVCR = accidentes vehiculares laborales × 10^6/km. FAC es conteo de primeros auxilios. Consolidar sumando numeradores y exposición; no promediar tasas.</a:t>
            </a:r>
          </a:p>
          <a:p>
            <a:endParaRPr/>
          </a:p>
          <a:p>
            <a:r>
              <a:t>ACLARACIÓN VIGENTE: estadísticas al 30/09; novedades de octubre en láminas separadas. No se exige cargar nuevas cifras de octubre para esta etapa. Se conserva 2.87% de capacitación. Los campos de octubre vacíos de la estructura no son cero ni permiten inferir ausencia de incidentes.</a:t>
            </a:r>
          </a:p>
          <a:p>
            <a:endParaRPr/>
          </a:p>
          <a:p>
            <a:r>
              <a:t>ACTUALIZACIÓN v10 solicitada por el usuario: incorporar la tabla de referencia con DAFWCF 0, TRICF 0, TVCR 0 y FAC 0; mantener los valores e indicar corte al 26/10/2026 en lugar de septiembre. Los cuatro ceros fueron confirmados expresamente por el usuario como sin cambios, no se deducen de campos vacíos. Se mantiene la eliminación previa de .00 innecesarios en las metas: 2.35–3 y 0.79–2, sin cambiar esos valores. El corte al 26/10 aplica a esta tabla; las series históricas de gráficos no se recalculan ni se redatan.</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PROACTIVE ACTIONS — HISTORICAL DATA THROUGH SEPTEMBER 2026.</a:t>
            </a:r>
          </a:p>
          <a:p>
            <a:r>
              <a:t>Bars represent monthly totals; the green line represents cumulative totals since August 2026. Only August and September are shown because October values are not available.</a:t>
            </a:r>
          </a:p>
          <a:p>
            <a:r>
              <a:t>The user explicitly requested removal of the empty Oct · pending category from the five charts on this slide. The categories and numbers for August and September remain unchanged. October is not shown as zero and is not estimated.</a:t>
            </a:r>
          </a:p>
          <a:p>
            <a:r>
              <a:t>Management safety walks: August 2, September 7; cumulative 2 and 9.</a:t>
            </a:r>
          </a:p>
          <a:p>
            <a:r>
              <a:t>Safety campaigns: August 2, September 4; cumulative 2 and 6.</a:t>
            </a:r>
          </a:p>
          <a:p>
            <a:r>
              <a:t>Drills: August 2, September 2; cumulative 2 and 4. The target is 100% of scheduled drills; counts alone do not establish compliance.</a:t>
            </a:r>
          </a:p>
          <a:p>
            <a:r>
              <a:t>Observations (OCS): August 167, September 295; cumulative 167 and 462.</a:t>
            </a:r>
          </a:p>
          <a:p>
            <a:r>
              <a:t>Training hours (HHS): August 1853, September 1796; cumulative 1853 and 3649.</a:t>
            </a:r>
          </a:p>
          <a:p>
            <a:r>
              <a:t>The training card remains 2.87%, as previously confirmed by the user; its target remains ≥1%.</a:t>
            </a:r>
          </a:p>
          <a:p>
            <a:r>
              <a:t>Alcance de esta edición: únicamente los cinco gráficos de esta lámina y sus libros incrustados; se conservan las demás láminas del archivo adjunto, sus ediciones y The End como cierre. Los gráficos de frecuencia de otra lámina no están incluidos en este pedido específico.</a:t>
            </a:r>
          </a:p>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ACTUALIZACIÓN ÚNICAMENTE DE LA LÁMINA 5 — TEMAS GENERALES DE SEGURIDAD.</a:t>
            </a:r>
          </a:p>
          <a:p>
            <a:r>
              <a:t>El usuario indica retirar todos los espacios para fotos y sustituirlos solo por tres ítems generales, sin enfocarlos exclusivamente en la planta. Se mantiene inglés para continuidad con el resto de la presentación.</a:t>
            </a:r>
          </a:p>
          <a:p>
            <a:r>
              <a:t>Fuente: mensaje transcrito por el usuario: (1) se recibió en obra todo el equipamiento de rescate en espacios confinados; (2) se realizó el entrenamiento con el citado equipamiento; (3) se realizaron las caminatas gerenciales al 100% de lo que va del mes.</a:t>
            </a:r>
          </a:p>
          <a:p>
            <a:r>
              <a:t>Redacción en español de referencia:</a:t>
            </a:r>
          </a:p>
          <a:p>
            <a:r>
              <a:t>• Se recibió en obra la totalidad del equipamiento de rescate en espacios confinados.</a:t>
            </a:r>
          </a:p>
          <a:p>
            <a:r>
              <a:t>• Se realizó el entrenamiento para el uso de este equipamiento.</a:t>
            </a:r>
          </a:p>
          <a:p>
            <a:r>
              <a:t>• Se completó el 100% de las caminatas gerenciales programadas a la fecha de corte.</a:t>
            </a:r>
          </a:p>
          <a:p>
            <a:r>
              <a:t>El 100% corresponde a lo programado hasta el corte del informe, no a todo el mes de octubre. No se agregan cantidades, participantes, certificaciones, fechas de ejecución ni alcance de frentes que no fueron informados. No se necesitan fotos para esta lámina. El resto de la PPT se mantiene sin cambios, incluidas las omisiones ambientales y el 2.87% de capacitación.</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REEMPLAZO DE LA ANTIGUA PROPUESTA DE HELICÓPTERO — LÁMINA 6.</a:t>
            </a:r>
          </a:p>
          <a:p>
            <a:r>
              <a:t>El usuario pide sustituir esta diapositiva por los siguientes dos temas, traducidos al inglés y con emojis como la lámina 5. Se reemplaza el contenido completo, incluidos los iconos y notas del helicóptero; no se agrega una lámina adicional.</a:t>
            </a:r>
          </a:p>
          <a:p>
            <a:r>
              <a:t>Fuente: texto que el usuario transcribió de los correos.</a:t>
            </a:r>
          </a:p>
          <a:p>
            <a:r>
              <a:t>1. Tramo Neuquén | Permiso hídrico: pendiente responder las observaciones del Estudio de Riesgo Hídrico y presentar ante SsRH, en coordinación con Serman, para avanzar en la obtención del permiso.</a:t>
            </a:r>
          </a:p>
          <a:p>
            <a:r>
              <a:t>2. Planta Compresora Allen | Adenda ambiental: adenda de actualización aprobada; definición sobre Stack Frío pendiente; SMP debe presentar ante la autoridad competente un análisis comparativo entre antorcha y venteo frío.</a:t>
            </a:r>
          </a:p>
          <a:p>
            <a:r>
              <a:t>Las frases en inglés reproducen esos estados. No se afirma que el permiso hídrico esté aprobado ni que la aprobación de la adenda resuelva el Stack Frío. No se añaden fechas o números de resolución no incluidos en este pedido. SSRH conserva las siglas del organismo de la fuente. Se incluyen emojis de agua y planta industrial como recursos ilustrativos, no fotografías.</a:t>
            </a:r>
          </a:p>
          <a:p>
            <a:r>
              <a:t>Este pedido restituye específicamente los dos temas ambientales en reemplazo de la propuesta de helicóptero, y prevalece sobre su omisión anterior. No se reincorporan las estadísticas ambientales. El resto de la presentación y las correcciones de agenda se conservan.</a:t>
            </a:r>
          </a:p>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Lámina final de cierre solicitada por el usuario a partir del segundo pantallazo. Diseño editable con el fondo y patrón gráfico de la portada original, texto The End y nombre del proyecto. Se agrega al final de la PPT general; no sustituye otras láminas.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REGISTRO FOTOGRÁFICO INSERTADO POR PEDIDO DEL USUARIO.</a:t>
            </a:r>
          </a:p>
          <a:p>
            <a:r>
              <a:t>Fuente: Monthly_HSE_Partners_Report_September_2026_EN 1.pptx, lámina Updates &amp; Photo Log. Se importan las seis fotografías JPEG originales, sus recortes, posiciones y leyendas, sin generar imágenes ni recapturar la pantalla.</a:t>
            </a:r>
          </a:p>
          <a:p>
            <a:r>
              <a:t>Se conserva septiembre de 2026 como fecha del material. No se presentan estas fotografías como novedades de octubre ni se les asignan fechas de toma no aportadas.</a:t>
            </a:r>
          </a:p>
          <a:p>
            <a:r>
              <a:t>Distribución: dos fotos de Planta Compresora, dos de Gasoducto y dos de Pipeline · SAE Port. La lámina es antepenúltima (6 de 8), seguida por permisos ambientales y The End. La numeración del índice refleja 1.1 indicadores, 1.2 Safety Highlights y 1.3 Updates &amp; Photo Log, más 2.0 Environmental Update.</a:t>
            </a:r>
          </a:p>
          <a:p>
            <a:r>
              <a:t>Las otras dos láminas del archivo adjunto no se incorporan: el pedido se refiere únicamente al registro fotográfico mostrado.</a:t>
            </a:r>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257DCE62-483B-394E-B72D-EEF7967B97F0}" type="datetimeFigureOut">
              <a:rPr lang="es-AR" smtClean="0"/>
              <a:t>27/10/2026</a:t>
            </a:fld>
            <a:endParaRPr lang="es-AR"/>
          </a:p>
        </p:txBody>
      </p:sp>
      <p:sp>
        <p:nvSpPr>
          <p:cNvPr id="5" name="Footer Placeholder 4"/>
          <p:cNvSpPr>
            <a:spLocks noGrp="1"/>
          </p:cNvSpPr>
          <p:nvPr>
            <p:ph type="ftr" sz="quarter" idx="11"/>
          </p:nvPr>
        </p:nvSpPr>
        <p:spPr/>
        <p:txBody>
          <a:bodyPr/>
          <a:lstStyle/>
          <a:p>
            <a:endParaRPr lang="es-AR"/>
          </a:p>
        </p:txBody>
      </p:sp>
      <p:sp>
        <p:nvSpPr>
          <p:cNvPr id="6" name="Slide Number Placeholder 5"/>
          <p:cNvSpPr>
            <a:spLocks noGrp="1"/>
          </p:cNvSpPr>
          <p:nvPr>
            <p:ph type="sldNum" sz="quarter" idx="12"/>
          </p:nvPr>
        </p:nvSpPr>
        <p:spPr/>
        <p:txBody>
          <a:bodyPr/>
          <a:lstStyle/>
          <a:p>
            <a:fld id="{1EB75163-B7E5-054B-94F5-D3F78F046D59}" type="slidenum">
              <a:rPr lang="es-AR" smtClean="0"/>
              <a:t>‹Nº›</a:t>
            </a:fld>
            <a:endParaRPr lang="es-AR"/>
          </a:p>
        </p:txBody>
      </p:sp>
    </p:spTree>
    <p:extLst>
      <p:ext uri="{BB962C8B-B14F-4D97-AF65-F5344CB8AC3E}">
        <p14:creationId xmlns:p14="http://schemas.microsoft.com/office/powerpoint/2010/main" val="22331139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Editar los estilos de texto del patrón
Segundo nivel
Tercer nivel
Cuarto nivel
Quinto nivel</a:t>
            </a:r>
            <a:endParaRPr lang="en-US" dirty="0"/>
          </a:p>
        </p:txBody>
      </p:sp>
      <p:sp>
        <p:nvSpPr>
          <p:cNvPr id="4" name="Date Placeholder 3"/>
          <p:cNvSpPr>
            <a:spLocks noGrp="1"/>
          </p:cNvSpPr>
          <p:nvPr>
            <p:ph type="dt" sz="half" idx="10"/>
          </p:nvPr>
        </p:nvSpPr>
        <p:spPr/>
        <p:txBody>
          <a:bodyPr/>
          <a:lstStyle/>
          <a:p>
            <a:fld id="{257DCE62-483B-394E-B72D-EEF7967B97F0}" type="datetimeFigureOut">
              <a:rPr lang="es-AR" smtClean="0"/>
              <a:t>27/10/2026</a:t>
            </a:fld>
            <a:endParaRPr lang="es-AR"/>
          </a:p>
        </p:txBody>
      </p:sp>
      <p:sp>
        <p:nvSpPr>
          <p:cNvPr id="5" name="Footer Placeholder 4"/>
          <p:cNvSpPr>
            <a:spLocks noGrp="1"/>
          </p:cNvSpPr>
          <p:nvPr>
            <p:ph type="ftr" sz="quarter" idx="11"/>
          </p:nvPr>
        </p:nvSpPr>
        <p:spPr/>
        <p:txBody>
          <a:bodyPr/>
          <a:lstStyle/>
          <a:p>
            <a:endParaRPr lang="es-AR"/>
          </a:p>
        </p:txBody>
      </p:sp>
      <p:sp>
        <p:nvSpPr>
          <p:cNvPr id="6" name="Slide Number Placeholder 5"/>
          <p:cNvSpPr>
            <a:spLocks noGrp="1"/>
          </p:cNvSpPr>
          <p:nvPr>
            <p:ph type="sldNum" sz="quarter" idx="12"/>
          </p:nvPr>
        </p:nvSpPr>
        <p:spPr/>
        <p:txBody>
          <a:bodyPr/>
          <a:lstStyle/>
          <a:p>
            <a:fld id="{1EB75163-B7E5-054B-94F5-D3F78F046D59}" type="slidenum">
              <a:rPr lang="es-AR" smtClean="0"/>
              <a:t>‹Nº›</a:t>
            </a:fld>
            <a:endParaRPr lang="es-AR"/>
          </a:p>
        </p:txBody>
      </p:sp>
    </p:spTree>
    <p:extLst>
      <p:ext uri="{BB962C8B-B14F-4D97-AF65-F5344CB8AC3E}">
        <p14:creationId xmlns:p14="http://schemas.microsoft.com/office/powerpoint/2010/main" val="14703550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Editar los estilos de texto del patrón
Segundo nivel
Tercer nivel
Cuarto nivel
Quinto nivel</a:t>
            </a:r>
            <a:endParaRPr lang="en-US" dirty="0"/>
          </a:p>
        </p:txBody>
      </p:sp>
      <p:sp>
        <p:nvSpPr>
          <p:cNvPr id="4" name="Date Placeholder 3"/>
          <p:cNvSpPr>
            <a:spLocks noGrp="1"/>
          </p:cNvSpPr>
          <p:nvPr>
            <p:ph type="dt" sz="half" idx="10"/>
          </p:nvPr>
        </p:nvSpPr>
        <p:spPr/>
        <p:txBody>
          <a:bodyPr/>
          <a:lstStyle/>
          <a:p>
            <a:fld id="{257DCE62-483B-394E-B72D-EEF7967B97F0}" type="datetimeFigureOut">
              <a:rPr lang="es-AR" smtClean="0"/>
              <a:t>27/10/2026</a:t>
            </a:fld>
            <a:endParaRPr lang="es-AR"/>
          </a:p>
        </p:txBody>
      </p:sp>
      <p:sp>
        <p:nvSpPr>
          <p:cNvPr id="5" name="Footer Placeholder 4"/>
          <p:cNvSpPr>
            <a:spLocks noGrp="1"/>
          </p:cNvSpPr>
          <p:nvPr>
            <p:ph type="ftr" sz="quarter" idx="11"/>
          </p:nvPr>
        </p:nvSpPr>
        <p:spPr/>
        <p:txBody>
          <a:bodyPr/>
          <a:lstStyle/>
          <a:p>
            <a:endParaRPr lang="es-AR"/>
          </a:p>
        </p:txBody>
      </p:sp>
      <p:sp>
        <p:nvSpPr>
          <p:cNvPr id="6" name="Slide Number Placeholder 5"/>
          <p:cNvSpPr>
            <a:spLocks noGrp="1"/>
          </p:cNvSpPr>
          <p:nvPr>
            <p:ph type="sldNum" sz="quarter" idx="12"/>
          </p:nvPr>
        </p:nvSpPr>
        <p:spPr/>
        <p:txBody>
          <a:bodyPr/>
          <a:lstStyle/>
          <a:p>
            <a:fld id="{1EB75163-B7E5-054B-94F5-D3F78F046D59}" type="slidenum">
              <a:rPr lang="es-AR" smtClean="0"/>
              <a:t>‹Nº›</a:t>
            </a:fld>
            <a:endParaRPr lang="es-AR"/>
          </a:p>
        </p:txBody>
      </p:sp>
    </p:spTree>
    <p:extLst>
      <p:ext uri="{BB962C8B-B14F-4D97-AF65-F5344CB8AC3E}">
        <p14:creationId xmlns:p14="http://schemas.microsoft.com/office/powerpoint/2010/main" val="11449834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s-ES"/>
              <a:t>Editar los estilos de texto del patrón
Segundo nivel
Tercer nivel
Cuarto nivel
Quinto nivel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s-ES"/>
              <a:t>Editar los estilos de texto del patrón
Segundo nivel
Tercer nivel
Cuarto nivel
Quinto nivel</a:t>
            </a:r>
            <a:endParaRPr lang="en-US" dirty="0"/>
          </a:p>
        </p:txBody>
      </p:sp>
      <p:sp>
        <p:nvSpPr>
          <p:cNvPr id="5" name="Date Placeholder 4"/>
          <p:cNvSpPr>
            <a:spLocks noGrp="1"/>
          </p:cNvSpPr>
          <p:nvPr>
            <p:ph type="dt" sz="half" idx="10"/>
          </p:nvPr>
        </p:nvSpPr>
        <p:spPr/>
        <p:txBody>
          <a:bodyPr/>
          <a:lstStyle/>
          <a:p>
            <a:fld id="{257DCE62-483B-394E-B72D-EEF7967B97F0}" type="datetimeFigureOut">
              <a:rPr lang="es-AR" smtClean="0"/>
              <a:t>27/10/2026</a:t>
            </a:fld>
            <a:endParaRPr lang="es-AR"/>
          </a:p>
        </p:txBody>
      </p:sp>
      <p:sp>
        <p:nvSpPr>
          <p:cNvPr id="6" name="Footer Placeholder 5"/>
          <p:cNvSpPr>
            <a:spLocks noGrp="1"/>
          </p:cNvSpPr>
          <p:nvPr>
            <p:ph type="ftr" sz="quarter" idx="11"/>
          </p:nvPr>
        </p:nvSpPr>
        <p:spPr/>
        <p:txBody>
          <a:bodyPr/>
          <a:lstStyle/>
          <a:p>
            <a:endParaRPr lang="es-AR"/>
          </a:p>
        </p:txBody>
      </p:sp>
      <p:sp>
        <p:nvSpPr>
          <p:cNvPr id="7" name="Slide Number Placeholder 6"/>
          <p:cNvSpPr>
            <a:spLocks noGrp="1"/>
          </p:cNvSpPr>
          <p:nvPr>
            <p:ph type="sldNum" sz="quarter" idx="12"/>
          </p:nvPr>
        </p:nvSpPr>
        <p:spPr/>
        <p:txBody>
          <a:bodyPr/>
          <a:lstStyle/>
          <a:p>
            <a:fld id="{1EB75163-B7E5-054B-94F5-D3F78F046D59}" type="slidenum">
              <a:rPr lang="es-AR" smtClean="0"/>
              <a:t>‹Nº›</a:t>
            </a:fld>
            <a:endParaRPr lang="es-AR"/>
          </a:p>
        </p:txBody>
      </p:sp>
    </p:spTree>
    <p:extLst>
      <p:ext uri="{BB962C8B-B14F-4D97-AF65-F5344CB8AC3E}">
        <p14:creationId xmlns:p14="http://schemas.microsoft.com/office/powerpoint/2010/main" val="41654065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los estilos de texto del patrón
Segundo nivel
Tercer nivel
Cuarto nivel
Quinto nivel</a:t>
            </a:r>
            <a:endParaRPr lang="en-US" dirty="0"/>
          </a:p>
        </p:txBody>
      </p:sp>
      <p:sp>
        <p:nvSpPr>
          <p:cNvPr id="4" name="Content Placeholder 3"/>
          <p:cNvSpPr>
            <a:spLocks noGrp="1"/>
          </p:cNvSpPr>
          <p:nvPr>
            <p:ph sz="half" idx="2"/>
          </p:nvPr>
        </p:nvSpPr>
        <p:spPr>
          <a:xfrm>
            <a:off x="629842" y="2505075"/>
            <a:ext cx="3868340" cy="3684588"/>
          </a:xfrm>
        </p:spPr>
        <p:txBody>
          <a:bodyPr/>
          <a:lstStyle/>
          <a:p>
            <a:pPr lvl="0"/>
            <a:r>
              <a:rPr lang="es-ES"/>
              <a:t>Editar los estilos de texto del patrón
Segundo nivel
Tercer nivel
Cuarto nivel
Quinto nivel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los estilos de texto del patrón
Segundo nivel
Tercer nivel
Cuarto nivel
Quinto nivel</a:t>
            </a:r>
            <a:endParaRPr lang="en-US" dirty="0"/>
          </a:p>
        </p:txBody>
      </p:sp>
      <p:sp>
        <p:nvSpPr>
          <p:cNvPr id="6" name="Content Placeholder 5"/>
          <p:cNvSpPr>
            <a:spLocks noGrp="1"/>
          </p:cNvSpPr>
          <p:nvPr>
            <p:ph sz="quarter" idx="4"/>
          </p:nvPr>
        </p:nvSpPr>
        <p:spPr>
          <a:xfrm>
            <a:off x="4629150" y="2505075"/>
            <a:ext cx="3887391" cy="3684588"/>
          </a:xfrm>
        </p:spPr>
        <p:txBody>
          <a:bodyPr/>
          <a:lstStyle/>
          <a:p>
            <a:pPr lvl="0"/>
            <a:r>
              <a:rPr lang="es-ES"/>
              <a:t>Editar los estilos de texto del patrón
Segundo nivel
Tercer nivel
Cuarto nivel
Quinto nivel</a:t>
            </a:r>
            <a:endParaRPr lang="en-US" dirty="0"/>
          </a:p>
        </p:txBody>
      </p:sp>
      <p:sp>
        <p:nvSpPr>
          <p:cNvPr id="7" name="Date Placeholder 6"/>
          <p:cNvSpPr>
            <a:spLocks noGrp="1"/>
          </p:cNvSpPr>
          <p:nvPr>
            <p:ph type="dt" sz="half" idx="10"/>
          </p:nvPr>
        </p:nvSpPr>
        <p:spPr/>
        <p:txBody>
          <a:bodyPr/>
          <a:lstStyle/>
          <a:p>
            <a:fld id="{257DCE62-483B-394E-B72D-EEF7967B97F0}" type="datetimeFigureOut">
              <a:rPr lang="es-AR" smtClean="0"/>
              <a:t>27/10/2026</a:t>
            </a:fld>
            <a:endParaRPr lang="es-AR"/>
          </a:p>
        </p:txBody>
      </p:sp>
      <p:sp>
        <p:nvSpPr>
          <p:cNvPr id="8" name="Footer Placeholder 7"/>
          <p:cNvSpPr>
            <a:spLocks noGrp="1"/>
          </p:cNvSpPr>
          <p:nvPr>
            <p:ph type="ftr" sz="quarter" idx="11"/>
          </p:nvPr>
        </p:nvSpPr>
        <p:spPr/>
        <p:txBody>
          <a:bodyPr/>
          <a:lstStyle/>
          <a:p>
            <a:endParaRPr lang="es-AR"/>
          </a:p>
        </p:txBody>
      </p:sp>
      <p:sp>
        <p:nvSpPr>
          <p:cNvPr id="9" name="Slide Number Placeholder 8"/>
          <p:cNvSpPr>
            <a:spLocks noGrp="1"/>
          </p:cNvSpPr>
          <p:nvPr>
            <p:ph type="sldNum" sz="quarter" idx="12"/>
          </p:nvPr>
        </p:nvSpPr>
        <p:spPr/>
        <p:txBody>
          <a:bodyPr/>
          <a:lstStyle/>
          <a:p>
            <a:fld id="{1EB75163-B7E5-054B-94F5-D3F78F046D59}" type="slidenum">
              <a:rPr lang="es-AR" smtClean="0"/>
              <a:t>‹Nº›</a:t>
            </a:fld>
            <a:endParaRPr lang="es-AR"/>
          </a:p>
        </p:txBody>
      </p:sp>
    </p:spTree>
    <p:extLst>
      <p:ext uri="{BB962C8B-B14F-4D97-AF65-F5344CB8AC3E}">
        <p14:creationId xmlns:p14="http://schemas.microsoft.com/office/powerpoint/2010/main" val="29154791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257DCE62-483B-394E-B72D-EEF7967B97F0}" type="datetimeFigureOut">
              <a:rPr lang="es-AR" smtClean="0"/>
              <a:t>27/10/2026</a:t>
            </a:fld>
            <a:endParaRPr lang="es-AR"/>
          </a:p>
        </p:txBody>
      </p:sp>
      <p:sp>
        <p:nvSpPr>
          <p:cNvPr id="4" name="Footer Placeholder 3"/>
          <p:cNvSpPr>
            <a:spLocks noGrp="1"/>
          </p:cNvSpPr>
          <p:nvPr>
            <p:ph type="ftr" sz="quarter" idx="11"/>
          </p:nvPr>
        </p:nvSpPr>
        <p:spPr/>
        <p:txBody>
          <a:bodyPr/>
          <a:lstStyle/>
          <a:p>
            <a:endParaRPr lang="es-AR"/>
          </a:p>
        </p:txBody>
      </p:sp>
      <p:sp>
        <p:nvSpPr>
          <p:cNvPr id="5" name="Slide Number Placeholder 4"/>
          <p:cNvSpPr>
            <a:spLocks noGrp="1"/>
          </p:cNvSpPr>
          <p:nvPr>
            <p:ph type="sldNum" sz="quarter" idx="12"/>
          </p:nvPr>
        </p:nvSpPr>
        <p:spPr/>
        <p:txBody>
          <a:bodyPr/>
          <a:lstStyle/>
          <a:p>
            <a:fld id="{1EB75163-B7E5-054B-94F5-D3F78F046D59}" type="slidenum">
              <a:rPr lang="es-AR" smtClean="0"/>
              <a:t>‹Nº›</a:t>
            </a:fld>
            <a:endParaRPr lang="es-AR"/>
          </a:p>
        </p:txBody>
      </p:sp>
    </p:spTree>
    <p:extLst>
      <p:ext uri="{BB962C8B-B14F-4D97-AF65-F5344CB8AC3E}">
        <p14:creationId xmlns:p14="http://schemas.microsoft.com/office/powerpoint/2010/main" val="1598212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57DCE62-483B-394E-B72D-EEF7967B97F0}" type="datetimeFigureOut">
              <a:rPr lang="es-AR" smtClean="0"/>
              <a:t>27/10/2026</a:t>
            </a:fld>
            <a:endParaRPr lang="es-AR"/>
          </a:p>
        </p:txBody>
      </p:sp>
      <p:sp>
        <p:nvSpPr>
          <p:cNvPr id="3" name="Footer Placeholder 2"/>
          <p:cNvSpPr>
            <a:spLocks noGrp="1"/>
          </p:cNvSpPr>
          <p:nvPr>
            <p:ph type="ftr" sz="quarter" idx="11"/>
          </p:nvPr>
        </p:nvSpPr>
        <p:spPr/>
        <p:txBody>
          <a:bodyPr/>
          <a:lstStyle/>
          <a:p>
            <a:endParaRPr lang="es-AR"/>
          </a:p>
        </p:txBody>
      </p:sp>
      <p:sp>
        <p:nvSpPr>
          <p:cNvPr id="4" name="Slide Number Placeholder 3"/>
          <p:cNvSpPr>
            <a:spLocks noGrp="1"/>
          </p:cNvSpPr>
          <p:nvPr>
            <p:ph type="sldNum" sz="quarter" idx="12"/>
          </p:nvPr>
        </p:nvSpPr>
        <p:spPr/>
        <p:txBody>
          <a:bodyPr/>
          <a:lstStyle/>
          <a:p>
            <a:fld id="{1EB75163-B7E5-054B-94F5-D3F78F046D59}" type="slidenum">
              <a:rPr lang="es-AR" smtClean="0"/>
              <a:t>‹Nº›</a:t>
            </a:fld>
            <a:endParaRPr lang="es-AR"/>
          </a:p>
        </p:txBody>
      </p:sp>
    </p:spTree>
    <p:extLst>
      <p:ext uri="{BB962C8B-B14F-4D97-AF65-F5344CB8AC3E}">
        <p14:creationId xmlns:p14="http://schemas.microsoft.com/office/powerpoint/2010/main" val="37927895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s-ES"/>
              <a:t>Haga clic para modificar el estilo de título del patrón</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Editar los estilos de texto del patrón
Segundo nivel
Tercer nivel
Cuarto nivel
Quinto nivel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los estilos de texto del patrón
Segundo nivel
Tercer nivel
Cuarto nivel
Quinto nivel</a:t>
            </a:r>
            <a:endParaRPr lang="en-US" dirty="0"/>
          </a:p>
        </p:txBody>
      </p:sp>
      <p:sp>
        <p:nvSpPr>
          <p:cNvPr id="5" name="Date Placeholder 4"/>
          <p:cNvSpPr>
            <a:spLocks noGrp="1"/>
          </p:cNvSpPr>
          <p:nvPr>
            <p:ph type="dt" sz="half" idx="10"/>
          </p:nvPr>
        </p:nvSpPr>
        <p:spPr/>
        <p:txBody>
          <a:bodyPr/>
          <a:lstStyle/>
          <a:p>
            <a:fld id="{257DCE62-483B-394E-B72D-EEF7967B97F0}" type="datetimeFigureOut">
              <a:rPr lang="es-AR" smtClean="0"/>
              <a:t>27/10/2026</a:t>
            </a:fld>
            <a:endParaRPr lang="es-AR"/>
          </a:p>
        </p:txBody>
      </p:sp>
      <p:sp>
        <p:nvSpPr>
          <p:cNvPr id="6" name="Footer Placeholder 5"/>
          <p:cNvSpPr>
            <a:spLocks noGrp="1"/>
          </p:cNvSpPr>
          <p:nvPr>
            <p:ph type="ftr" sz="quarter" idx="11"/>
          </p:nvPr>
        </p:nvSpPr>
        <p:spPr/>
        <p:txBody>
          <a:bodyPr/>
          <a:lstStyle/>
          <a:p>
            <a:endParaRPr lang="es-AR"/>
          </a:p>
        </p:txBody>
      </p:sp>
      <p:sp>
        <p:nvSpPr>
          <p:cNvPr id="7" name="Slide Number Placeholder 6"/>
          <p:cNvSpPr>
            <a:spLocks noGrp="1"/>
          </p:cNvSpPr>
          <p:nvPr>
            <p:ph type="sldNum" sz="quarter" idx="12"/>
          </p:nvPr>
        </p:nvSpPr>
        <p:spPr/>
        <p:txBody>
          <a:bodyPr/>
          <a:lstStyle/>
          <a:p>
            <a:fld id="{1EB75163-B7E5-054B-94F5-D3F78F046D59}" type="slidenum">
              <a:rPr lang="es-AR" smtClean="0"/>
              <a:t>‹Nº›</a:t>
            </a:fld>
            <a:endParaRPr lang="es-AR"/>
          </a:p>
        </p:txBody>
      </p:sp>
    </p:spTree>
    <p:extLst>
      <p:ext uri="{BB962C8B-B14F-4D97-AF65-F5344CB8AC3E}">
        <p14:creationId xmlns:p14="http://schemas.microsoft.com/office/powerpoint/2010/main" val="39738145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los estilos de texto del patrón
Segundo nivel
Tercer nivel
Cuarto nivel
Quinto nivel</a:t>
            </a:r>
            <a:endParaRPr lang="en-US" dirty="0"/>
          </a:p>
        </p:txBody>
      </p:sp>
      <p:sp>
        <p:nvSpPr>
          <p:cNvPr id="5" name="Date Placeholder 4"/>
          <p:cNvSpPr>
            <a:spLocks noGrp="1"/>
          </p:cNvSpPr>
          <p:nvPr>
            <p:ph type="dt" sz="half" idx="10"/>
          </p:nvPr>
        </p:nvSpPr>
        <p:spPr/>
        <p:txBody>
          <a:bodyPr/>
          <a:lstStyle/>
          <a:p>
            <a:fld id="{257DCE62-483B-394E-B72D-EEF7967B97F0}" type="datetimeFigureOut">
              <a:rPr lang="es-AR" smtClean="0"/>
              <a:t>27/10/2026</a:t>
            </a:fld>
            <a:endParaRPr lang="es-AR"/>
          </a:p>
        </p:txBody>
      </p:sp>
      <p:sp>
        <p:nvSpPr>
          <p:cNvPr id="6" name="Footer Placeholder 5"/>
          <p:cNvSpPr>
            <a:spLocks noGrp="1"/>
          </p:cNvSpPr>
          <p:nvPr>
            <p:ph type="ftr" sz="quarter" idx="11"/>
          </p:nvPr>
        </p:nvSpPr>
        <p:spPr/>
        <p:txBody>
          <a:bodyPr/>
          <a:lstStyle/>
          <a:p>
            <a:endParaRPr lang="es-AR"/>
          </a:p>
        </p:txBody>
      </p:sp>
      <p:sp>
        <p:nvSpPr>
          <p:cNvPr id="7" name="Slide Number Placeholder 6"/>
          <p:cNvSpPr>
            <a:spLocks noGrp="1"/>
          </p:cNvSpPr>
          <p:nvPr>
            <p:ph type="sldNum" sz="quarter" idx="12"/>
          </p:nvPr>
        </p:nvSpPr>
        <p:spPr/>
        <p:txBody>
          <a:bodyPr/>
          <a:lstStyle/>
          <a:p>
            <a:fld id="{1EB75163-B7E5-054B-94F5-D3F78F046D59}" type="slidenum">
              <a:rPr lang="es-AR" smtClean="0"/>
              <a:t>‹Nº›</a:t>
            </a:fld>
            <a:endParaRPr lang="es-AR"/>
          </a:p>
        </p:txBody>
      </p:sp>
    </p:spTree>
    <p:extLst>
      <p:ext uri="{BB962C8B-B14F-4D97-AF65-F5344CB8AC3E}">
        <p14:creationId xmlns:p14="http://schemas.microsoft.com/office/powerpoint/2010/main" val="12364792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Editar los estilos de texto del patrón
Segundo nivel
Tercer nivel
Cuarto nivel
Quinto nivel</a:t>
            </a:r>
            <a:endParaRPr lang="en-US" dirty="0"/>
          </a:p>
        </p:txBody>
      </p:sp>
      <p:sp>
        <p:nvSpPr>
          <p:cNvPr id="4" name="Date Placeholder 3"/>
          <p:cNvSpPr>
            <a:spLocks noGrp="1"/>
          </p:cNvSpPr>
          <p:nvPr>
            <p:ph type="dt" sz="half" idx="10"/>
          </p:nvPr>
        </p:nvSpPr>
        <p:spPr/>
        <p:txBody>
          <a:bodyPr/>
          <a:lstStyle/>
          <a:p>
            <a:fld id="{257DCE62-483B-394E-B72D-EEF7967B97F0}" type="datetimeFigureOut">
              <a:rPr lang="es-AR" smtClean="0"/>
              <a:t>27/10/2026</a:t>
            </a:fld>
            <a:endParaRPr lang="es-AR"/>
          </a:p>
        </p:txBody>
      </p:sp>
      <p:sp>
        <p:nvSpPr>
          <p:cNvPr id="5" name="Footer Placeholder 4"/>
          <p:cNvSpPr>
            <a:spLocks noGrp="1"/>
          </p:cNvSpPr>
          <p:nvPr>
            <p:ph type="ftr" sz="quarter" idx="11"/>
          </p:nvPr>
        </p:nvSpPr>
        <p:spPr/>
        <p:txBody>
          <a:bodyPr/>
          <a:lstStyle/>
          <a:p>
            <a:endParaRPr lang="es-AR"/>
          </a:p>
        </p:txBody>
      </p:sp>
      <p:sp>
        <p:nvSpPr>
          <p:cNvPr id="6" name="Slide Number Placeholder 5"/>
          <p:cNvSpPr>
            <a:spLocks noGrp="1"/>
          </p:cNvSpPr>
          <p:nvPr>
            <p:ph type="sldNum" sz="quarter" idx="12"/>
          </p:nvPr>
        </p:nvSpPr>
        <p:spPr/>
        <p:txBody>
          <a:bodyPr/>
          <a:lstStyle/>
          <a:p>
            <a:fld id="{1EB75163-B7E5-054B-94F5-D3F78F046D59}" type="slidenum">
              <a:rPr lang="es-AR" smtClean="0"/>
              <a:t>‹Nº›</a:t>
            </a:fld>
            <a:endParaRPr lang="es-AR"/>
          </a:p>
        </p:txBody>
      </p:sp>
    </p:spTree>
    <p:extLst>
      <p:ext uri="{BB962C8B-B14F-4D97-AF65-F5344CB8AC3E}">
        <p14:creationId xmlns:p14="http://schemas.microsoft.com/office/powerpoint/2010/main" val="21697737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s-ES"/>
              <a:t>Editar los estilos de texto del patrón
Segundo nivel
Tercer nivel
Cuarto nivel
Quinto nivel</a:t>
            </a:r>
            <a:endParaRPr lang="en-US" dirty="0"/>
          </a:p>
        </p:txBody>
      </p:sp>
      <p:sp>
        <p:nvSpPr>
          <p:cNvPr id="4" name="Date Placeholder 3"/>
          <p:cNvSpPr>
            <a:spLocks noGrp="1"/>
          </p:cNvSpPr>
          <p:nvPr>
            <p:ph type="dt" sz="half" idx="10"/>
          </p:nvPr>
        </p:nvSpPr>
        <p:spPr/>
        <p:txBody>
          <a:bodyPr/>
          <a:lstStyle/>
          <a:p>
            <a:fld id="{257DCE62-483B-394E-B72D-EEF7967B97F0}" type="datetimeFigureOut">
              <a:rPr lang="es-AR" smtClean="0"/>
              <a:t>27/10/2026</a:t>
            </a:fld>
            <a:endParaRPr lang="es-AR"/>
          </a:p>
        </p:txBody>
      </p:sp>
      <p:sp>
        <p:nvSpPr>
          <p:cNvPr id="5" name="Footer Placeholder 4"/>
          <p:cNvSpPr>
            <a:spLocks noGrp="1"/>
          </p:cNvSpPr>
          <p:nvPr>
            <p:ph type="ftr" sz="quarter" idx="11"/>
          </p:nvPr>
        </p:nvSpPr>
        <p:spPr/>
        <p:txBody>
          <a:bodyPr/>
          <a:lstStyle/>
          <a:p>
            <a:endParaRPr lang="es-AR"/>
          </a:p>
        </p:txBody>
      </p:sp>
      <p:sp>
        <p:nvSpPr>
          <p:cNvPr id="6" name="Slide Number Placeholder 5"/>
          <p:cNvSpPr>
            <a:spLocks noGrp="1"/>
          </p:cNvSpPr>
          <p:nvPr>
            <p:ph type="sldNum" sz="quarter" idx="12"/>
          </p:nvPr>
        </p:nvSpPr>
        <p:spPr/>
        <p:txBody>
          <a:bodyPr/>
          <a:lstStyle/>
          <a:p>
            <a:fld id="{1EB75163-B7E5-054B-94F5-D3F78F046D59}" type="slidenum">
              <a:rPr lang="es-AR" smtClean="0"/>
              <a:t>‹Nº›</a:t>
            </a:fld>
            <a:endParaRPr lang="es-AR"/>
          </a:p>
        </p:txBody>
      </p:sp>
    </p:spTree>
    <p:extLst>
      <p:ext uri="{BB962C8B-B14F-4D97-AF65-F5344CB8AC3E}">
        <p14:creationId xmlns:p14="http://schemas.microsoft.com/office/powerpoint/2010/main" val="2117538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spTree>
      <p:nvGrpSpPr>
        <p:cNvPr id="1" name=""/>
        <p:cNvGrpSpPr/>
        <p:nvPr/>
      </p:nvGrpSpPr>
      <p:grpSpPr>
        <a:xfrm>
          <a:off x="0" y="0"/>
          <a:ext cx="0" cy="0"/>
          <a:chOff x="0" y="0"/>
          <a:chExt cx="0" cy="0"/>
        </a:xfrm>
      </p:grpSpPr>
    </p:spTree>
    <p:extLst>
      <p:ext uri="{BB962C8B-B14F-4D97-AF65-F5344CB8AC3E}">
        <p14:creationId xmlns:p14="http://schemas.microsoft.com/office/powerpoint/2010/main" val="3177079394"/>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s-ES"/>
              <a:t>Editar los estilos de texto del patrón
Segundo nivel
Tercer nivel
Cuarto nivel
Quinto nivel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57DCE62-483B-394E-B72D-EEF7967B97F0}" type="datetimeFigureOut">
              <a:rPr lang="es-AR" smtClean="0"/>
              <a:t>27/10/2026</a:t>
            </a:fld>
            <a:endParaRPr lang="es-AR"/>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AR"/>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EB75163-B7E5-054B-94F5-D3F78F046D59}" type="slidenum">
              <a:rPr lang="es-AR" smtClean="0"/>
              <a:t>‹Nº›</a:t>
            </a:fld>
            <a:endParaRPr lang="es-AR"/>
          </a:p>
        </p:txBody>
      </p:sp>
      <p:sp>
        <p:nvSpPr>
          <p:cNvPr id="9" name="CuadroTexto 8">
            <a:extLst>
              <a:ext uri="{FF2B5EF4-FFF2-40B4-BE49-F238E27FC236}">
                <a16:creationId xmlns:a16="http://schemas.microsoft.com/office/drawing/2014/main" id="{D9042BED-D80E-F505-2533-9CF540CC603D}"/>
              </a:ext>
            </a:extLst>
          </p:cNvPr>
          <p:cNvSpPr txBox="1"/>
          <p:nvPr userDrawn="1">
            <p:extLst>
              <p:ext uri="{1162E1C5-73C7-4A58-AE30-91384D911F3F}">
                <p184:classification xmlns:p184="http://schemas.microsoft.com/office/powerpoint/2018/4/main" val="hdr"/>
              </p:ext>
            </p:extLst>
          </p:nvPr>
        </p:nvSpPr>
        <p:spPr>
          <a:xfrm>
            <a:off x="7700963" y="63500"/>
            <a:ext cx="1404937" cy="152400"/>
          </a:xfrm>
          <a:prstGeom prst="rect">
            <a:avLst/>
          </a:prstGeom>
        </p:spPr>
        <p:txBody>
          <a:bodyPr horzOverflow="overflow" lIns="0" tIns="0" rIns="0" bIns="0">
            <a:spAutoFit/>
          </a:bodyPr>
          <a:lstStyle/>
          <a:p>
            <a:pPr algn="l"/>
            <a:r>
              <a:rPr lang="es-AR" sz="1000">
                <a:solidFill>
                  <a:srgbClr val="000000">
                    <a:alpha val="50000"/>
                  </a:srgbClr>
                </a:solidFill>
                <a:latin typeface="Aptos" panose="020B0004020202020204" pitchFamily="34" charset="0"/>
              </a:rPr>
              <a:t>Documento: YPF-Público</a:t>
            </a:r>
          </a:p>
        </p:txBody>
      </p:sp>
      <p:sp>
        <p:nvSpPr>
          <p:cNvPr id="10" name="CuadroTexto 9">
            <a:extLst>
              <a:ext uri="{FF2B5EF4-FFF2-40B4-BE49-F238E27FC236}">
                <a16:creationId xmlns:a16="http://schemas.microsoft.com/office/drawing/2014/main" id="{BB26E82E-B60C-0364-A377-5588458FF47A}"/>
              </a:ext>
            </a:extLst>
          </p:cNvPr>
          <p:cNvSpPr txBox="1"/>
          <p:nvPr userDrawn="1">
            <p:extLst>
              <p:ext uri="{1162E1C5-73C7-4A58-AE30-91384D911F3F}">
                <p184:classification xmlns:p184="http://schemas.microsoft.com/office/powerpoint/2018/4/main" val="ftr"/>
              </p:ext>
            </p:extLst>
          </p:nvPr>
        </p:nvSpPr>
        <p:spPr>
          <a:xfrm>
            <a:off x="7700963" y="6642100"/>
            <a:ext cx="1404937" cy="152400"/>
          </a:xfrm>
          <a:prstGeom prst="rect">
            <a:avLst/>
          </a:prstGeom>
        </p:spPr>
        <p:txBody>
          <a:bodyPr horzOverflow="overflow" lIns="0" tIns="0" rIns="0" bIns="0">
            <a:spAutoFit/>
          </a:bodyPr>
          <a:lstStyle/>
          <a:p>
            <a:pPr algn="l"/>
            <a:r>
              <a:rPr lang="es-AR" sz="1000">
                <a:solidFill>
                  <a:srgbClr val="000000">
                    <a:alpha val="50000"/>
                  </a:srgbClr>
                </a:solidFill>
                <a:latin typeface="Aptos" panose="020B0004020202020204" pitchFamily="34" charset="0"/>
              </a:rPr>
              <a:t>Documento: YPF-Público</a:t>
            </a:r>
          </a:p>
        </p:txBody>
      </p:sp>
    </p:spTree>
    <p:extLst>
      <p:ext uri="{BB962C8B-B14F-4D97-AF65-F5344CB8AC3E}">
        <p14:creationId xmlns:p14="http://schemas.microsoft.com/office/powerpoint/2010/main" val="3318153333"/>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 id="2147483696"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emf"/></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emf"/></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4.emf"/><Relationship Id="rId4" Type="http://schemas.openxmlformats.org/officeDocument/2006/relationships/chart" Target="../charts/chart1.xml"/><Relationship Id="rId5" Type="http://schemas.openxmlformats.org/officeDocument/2006/relationships/chart" Target="../charts/chart2.xml"/><Relationship Id="rId6"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4.emf"/><Relationship Id="rId4" Type="http://schemas.openxmlformats.org/officeDocument/2006/relationships/chart" Target="../charts/chart3.xml"/><Relationship Id="rId5" Type="http://schemas.openxmlformats.org/officeDocument/2006/relationships/chart" Target="../charts/chart4.xml"/><Relationship Id="rId6" Type="http://schemas.openxmlformats.org/officeDocument/2006/relationships/chart" Target="../charts/chart5.xml"/><Relationship Id="rId7" Type="http://schemas.openxmlformats.org/officeDocument/2006/relationships/chart" Target="../charts/chart6.xml"/><Relationship Id="rId8" Type="http://schemas.openxmlformats.org/officeDocument/2006/relationships/chart" Target="../charts/char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4.emf"/></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emf"/><Relationship Id="rId3" Type="http://schemas.openxmlformats.org/officeDocument/2006/relationships/image" Target="../media/image8.jpg"/><Relationship Id="rId4" Type="http://schemas.openxmlformats.org/officeDocument/2006/relationships/image" Target="../media/image9.jpg"/><Relationship Id="rId5" Type="http://schemas.openxmlformats.org/officeDocument/2006/relationships/image" Target="../media/image10.jpg"/><Relationship Id="rId6" Type="http://schemas.openxmlformats.org/officeDocument/2006/relationships/image" Target="../media/image11.jpg"/><Relationship Id="rId7" Type="http://schemas.openxmlformats.org/officeDocument/2006/relationships/image" Target="../media/image12.jpg"/><Relationship Id="rId8" Type="http://schemas.openxmlformats.org/officeDocument/2006/relationships/image" Target="../media/image13.jpg"/><Relationship Id="rId9" Type="http://schemas.openxmlformats.org/officeDocument/2006/relationships/notesSlide" Target="../notesSlides/notesSlide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4.emf"/><Relationship Id="rId4" Type="http://schemas.openxmlformats.org/officeDocument/2006/relationships/image" Target="../media/image6.png"/><Relationship Id="rId5"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image" Target="../media/image1.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B77D12DC-A94E-1D48-830B-77CD72222BF6}"/>
              </a:ext>
            </a:extLst>
          </p:cNvPr>
          <p:cNvSpPr/>
          <p:nvPr/>
        </p:nvSpPr>
        <p:spPr>
          <a:xfrm rot="5400000">
            <a:off x="839581" y="-839587"/>
            <a:ext cx="7481455" cy="9160629"/>
          </a:xfrm>
          <a:prstGeom prst="rect">
            <a:avLst/>
          </a:prstGeom>
          <a:solidFill>
            <a:srgbClr val="3709E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solidFill>
                <a:srgbClr val="013EF5"/>
              </a:solidFill>
            </a:endParaRPr>
          </a:p>
        </p:txBody>
      </p:sp>
      <p:pic>
        <p:nvPicPr>
          <p:cNvPr id="4" name="Imagen 3">
            <a:extLst>
              <a:ext uri="{FF2B5EF4-FFF2-40B4-BE49-F238E27FC236}">
                <a16:creationId xmlns:a16="http://schemas.microsoft.com/office/drawing/2014/main" id="{B315D585-FE8E-EA4E-B4EC-ED87EC19A53D}"/>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rot="10800000">
            <a:off x="-6" y="5548744"/>
            <a:ext cx="5685912" cy="2015837"/>
          </a:xfrm>
          <a:prstGeom prst="rect">
            <a:avLst/>
          </a:prstGeom>
        </p:spPr>
      </p:pic>
      <p:pic>
        <p:nvPicPr>
          <p:cNvPr id="11" name="Imagen 10">
            <a:extLst>
              <a:ext uri="{FF2B5EF4-FFF2-40B4-BE49-F238E27FC236}">
                <a16:creationId xmlns:a16="http://schemas.microsoft.com/office/drawing/2014/main" id="{9E2FAC0C-4F42-9344-92EE-79D85E878C72}"/>
              </a:ext>
            </a:extLst>
          </p:cNvPr>
          <p:cNvPicPr>
            <a:picLocks noChangeAspect="1"/>
          </p:cNvPicPr>
          <p:nvPr/>
        </p:nvPicPr>
        <p:blipFill rotWithShape="1">
          <a:blip r:embed="rId4" cstate="email">
            <a:extLst>
              <a:ext uri="{28A0092B-C50C-407E-A947-70E740481C1C}">
                <a14:useLocalDpi xmlns:a14="http://schemas.microsoft.com/office/drawing/2010/main"/>
              </a:ext>
            </a:extLst>
          </a:blip>
          <a:srcRect/>
          <a:stretch/>
        </p:blipFill>
        <p:spPr>
          <a:xfrm rot="10800000">
            <a:off x="5685904" y="5548744"/>
            <a:ext cx="3474717" cy="2015838"/>
          </a:xfrm>
          <a:prstGeom prst="rect">
            <a:avLst/>
          </a:prstGeom>
        </p:spPr>
      </p:pic>
      <p:sp>
        <p:nvSpPr>
          <p:cNvPr id="14" name="TextBox 7">
            <a:extLst>
              <a:ext uri="{FF2B5EF4-FFF2-40B4-BE49-F238E27FC236}">
                <a16:creationId xmlns:a16="http://schemas.microsoft.com/office/drawing/2014/main" id="{9566807F-83FD-1A4D-9424-886300E93201}"/>
              </a:ext>
            </a:extLst>
          </p:cNvPr>
          <p:cNvSpPr txBox="1"/>
          <p:nvPr/>
        </p:nvSpPr>
        <p:spPr>
          <a:xfrm>
            <a:off x="297100" y="472000"/>
            <a:ext cx="2905620" cy="230832"/>
          </a:xfrm>
          <a:prstGeom prst="rect">
            <a:avLst/>
          </a:prstGeom>
          <a:noFill/>
        </p:spPr>
        <p:txBody>
          <a:bodyPr wrap="square" rtlCol="0">
            <a:spAutoFit/>
          </a:bodyPr>
          <a:lstStyle/>
          <a:p>
            <a:r>
              <a:rPr lang="en-GB" sz="900" spc="100" noProof="0" dirty="0">
                <a:solidFill>
                  <a:schemeClr val="bg1"/>
                </a:solidFill>
                <a:latin typeface="Aptos Light" panose="020B0004020202020204" pitchFamily="34" charset="0"/>
                <a:cs typeface="Arial" panose="020B0604020202020204" pitchFamily="34" charset="0"/>
              </a:rPr>
              <a:t>OCTOBER 28</a:t>
            </a:r>
            <a:r>
              <a:rPr lang="en-GB" sz="900" spc="100" baseline="30000" noProof="0" dirty="0">
                <a:solidFill>
                  <a:schemeClr val="bg1"/>
                </a:solidFill>
                <a:latin typeface="Aptos Light" panose="020B0004020202020204" pitchFamily="34" charset="0"/>
                <a:cs typeface="Arial" panose="020B0604020202020204" pitchFamily="34" charset="0"/>
              </a:rPr>
              <a:t>TH</a:t>
            </a:r>
            <a:r>
              <a:rPr lang="en-GB" sz="900" spc="100" noProof="0" dirty="0">
                <a:solidFill>
                  <a:schemeClr val="bg1"/>
                </a:solidFill>
                <a:latin typeface="Aptos Light" panose="020B0004020202020204" pitchFamily="34" charset="0"/>
                <a:cs typeface="Arial" panose="020B0604020202020204" pitchFamily="34" charset="0"/>
              </a:rPr>
              <a:t>, 2026</a:t>
            </a:r>
            <a:endParaRPr lang="en-GB" sz="900" spc="100" baseline="30000" noProof="0" dirty="0">
              <a:solidFill>
                <a:schemeClr val="bg1"/>
              </a:solidFill>
              <a:latin typeface="Aptos Light" panose="020B0004020202020204" pitchFamily="34" charset="0"/>
              <a:cs typeface="Arial" panose="020B0604020202020204" pitchFamily="34" charset="0"/>
            </a:endParaRPr>
          </a:p>
        </p:txBody>
      </p:sp>
      <p:sp>
        <p:nvSpPr>
          <p:cNvPr id="18" name="CuadroTexto 17">
            <a:extLst>
              <a:ext uri="{FF2B5EF4-FFF2-40B4-BE49-F238E27FC236}">
                <a16:creationId xmlns:a16="http://schemas.microsoft.com/office/drawing/2014/main" id="{8F24F8F8-D8EA-2C4A-868E-5B58C994A5EB}"/>
              </a:ext>
            </a:extLst>
          </p:cNvPr>
          <p:cNvSpPr txBox="1"/>
          <p:nvPr/>
        </p:nvSpPr>
        <p:spPr>
          <a:xfrm>
            <a:off x="297099" y="3053186"/>
            <a:ext cx="8566451" cy="1864421"/>
          </a:xfrm>
          <a:prstGeom prst="rect">
            <a:avLst/>
          </a:prstGeom>
          <a:noFill/>
        </p:spPr>
        <p:txBody>
          <a:bodyPr wrap="square" rtlCol="0">
            <a:spAutoFit/>
          </a:bodyPr>
          <a:lstStyle/>
          <a:p>
            <a:pPr>
              <a:lnSpc>
                <a:spcPts val="7220"/>
              </a:lnSpc>
            </a:pPr>
            <a:r>
              <a:rPr lang="en-GB" sz="6600" b="1" noProof="0" dirty="0">
                <a:solidFill>
                  <a:schemeClr val="bg1"/>
                </a:solidFill>
                <a:latin typeface="Aptos ExtraBold" panose="020B0004020202020204" pitchFamily="34" charset="0"/>
              </a:rPr>
              <a:t>San Matías Pipeline</a:t>
            </a:r>
          </a:p>
          <a:p>
            <a:pPr>
              <a:lnSpc>
                <a:spcPts val="7220"/>
              </a:lnSpc>
            </a:pPr>
            <a:r>
              <a:rPr lang="en-GB" sz="4400" noProof="0" dirty="0">
                <a:solidFill>
                  <a:schemeClr val="bg1"/>
                </a:solidFill>
                <a:latin typeface="Aptos Light" panose="020B0004020202020204" pitchFamily="34" charset="0"/>
              </a:rPr>
              <a:t>Technical Committee Meeting N°5</a:t>
            </a:r>
          </a:p>
        </p:txBody>
      </p:sp>
      <p:pic>
        <p:nvPicPr>
          <p:cNvPr id="20" name="Imagen 19">
            <a:extLst>
              <a:ext uri="{FF2B5EF4-FFF2-40B4-BE49-F238E27FC236}">
                <a16:creationId xmlns:a16="http://schemas.microsoft.com/office/drawing/2014/main" id="{643506B7-9DDE-D244-806F-FC02701AA7B8}"/>
              </a:ext>
            </a:extLst>
          </p:cNvPr>
          <p:cNvPicPr>
            <a:picLocks noChangeAspect="1"/>
          </p:cNvPicPr>
          <p:nvPr/>
        </p:nvPicPr>
        <p:blipFill>
          <a:blip r:embed="rId5"/>
          <a:stretch>
            <a:fillRect/>
          </a:stretch>
        </p:blipFill>
        <p:spPr>
          <a:xfrm>
            <a:off x="8026903" y="244233"/>
            <a:ext cx="738436" cy="520537"/>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ángulo 10">
            <a:extLst>
              <a:ext uri="{FF2B5EF4-FFF2-40B4-BE49-F238E27FC236}">
                <a16:creationId xmlns:a16="http://schemas.microsoft.com/office/drawing/2014/main" id="{0A8ADFC4-2BD6-A44C-AE82-EB0B4ECD404D}"/>
              </a:ext>
            </a:extLst>
          </p:cNvPr>
          <p:cNvSpPr/>
          <p:nvPr/>
        </p:nvSpPr>
        <p:spPr>
          <a:xfrm rot="5400000">
            <a:off x="3901637" y="1687949"/>
            <a:ext cx="1419099" cy="9222377"/>
          </a:xfrm>
          <a:prstGeom prst="rect">
            <a:avLst/>
          </a:prstGeom>
          <a:solidFill>
            <a:srgbClr val="3709E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solidFill>
                <a:srgbClr val="013EF5"/>
              </a:solidFill>
            </a:endParaRPr>
          </a:p>
        </p:txBody>
      </p:sp>
      <p:sp>
        <p:nvSpPr>
          <p:cNvPr id="17" name="CuadroTexto 16">
            <a:extLst>
              <a:ext uri="{FF2B5EF4-FFF2-40B4-BE49-F238E27FC236}">
                <a16:creationId xmlns:a16="http://schemas.microsoft.com/office/drawing/2014/main" id="{6AB0C042-B1E3-7643-903A-112B2E707573}"/>
              </a:ext>
            </a:extLst>
          </p:cNvPr>
          <p:cNvSpPr txBox="1"/>
          <p:nvPr/>
        </p:nvSpPr>
        <p:spPr>
          <a:xfrm rot="16200000">
            <a:off x="266486" y="5597901"/>
            <a:ext cx="8482228" cy="1015663"/>
          </a:xfrm>
          <a:prstGeom prst="rect">
            <a:avLst/>
          </a:prstGeom>
          <a:noFill/>
        </p:spPr>
        <p:txBody>
          <a:bodyPr wrap="square" rtlCol="0">
            <a:spAutoFit/>
          </a:bodyPr>
          <a:lstStyle/>
          <a:p>
            <a:pPr>
              <a:lnSpc>
                <a:spcPts val="7220"/>
              </a:lnSpc>
            </a:pPr>
            <a:r>
              <a:rPr lang="en-GB" sz="6000" noProof="0" dirty="0">
                <a:solidFill>
                  <a:schemeClr val="bg1"/>
                </a:solidFill>
                <a:latin typeface="Aptos Light" panose="020B0004020202020204" pitchFamily="34" charset="0"/>
              </a:rPr>
              <a:t>AGENDA</a:t>
            </a:r>
          </a:p>
        </p:txBody>
      </p:sp>
      <p:sp>
        <p:nvSpPr>
          <p:cNvPr id="18" name="CuadroTexto 17">
            <a:extLst>
              <a:ext uri="{FF2B5EF4-FFF2-40B4-BE49-F238E27FC236}">
                <a16:creationId xmlns:a16="http://schemas.microsoft.com/office/drawing/2014/main" id="{93E4F80C-4187-3944-BE79-A449AD251467}"/>
              </a:ext>
            </a:extLst>
          </p:cNvPr>
          <p:cNvSpPr txBox="1"/>
          <p:nvPr/>
        </p:nvSpPr>
        <p:spPr>
          <a:xfrm>
            <a:off x="1210199" y="714256"/>
            <a:ext cx="8305276" cy="898516"/>
          </a:xfrm>
          <a:prstGeom prst="rect">
            <a:avLst/>
          </a:prstGeom>
          <a:noFill/>
        </p:spPr>
        <p:txBody>
          <a:bodyPr wrap="square" rtlCol="0">
            <a:spAutoFit/>
          </a:bodyPr>
          <a:lstStyle>
            <a:defPPr>
              <a:defRPr lang="en-US"/>
            </a:defPPr>
            <a:lvl1pPr>
              <a:lnSpc>
                <a:spcPts val="7220"/>
              </a:lnSpc>
              <a:defRPr sz="3200">
                <a:solidFill>
                  <a:srgbClr val="013EF5"/>
                </a:solidFill>
                <a:latin typeface="Aptos Light" panose="020B0004020202020204" pitchFamily="34" charset="0"/>
              </a:defRPr>
            </a:lvl1pPr>
          </a:lstStyle>
          <a:p>
            <a:r>
              <a:rPr lang="en-GB" noProof="0" dirty="0"/>
              <a:t>1 &gt; DEDICATED GAS PIPELINE UPDATE </a:t>
            </a:r>
          </a:p>
        </p:txBody>
      </p:sp>
      <p:sp>
        <p:nvSpPr>
          <p:cNvPr id="19" name="CuadroTexto 18">
            <a:extLst>
              <a:ext uri="{FF2B5EF4-FFF2-40B4-BE49-F238E27FC236}">
                <a16:creationId xmlns:a16="http://schemas.microsoft.com/office/drawing/2014/main" id="{81CB6108-5EE0-F548-B2F0-8272F7375575}"/>
              </a:ext>
            </a:extLst>
          </p:cNvPr>
          <p:cNvSpPr txBox="1"/>
          <p:nvPr/>
        </p:nvSpPr>
        <p:spPr>
          <a:xfrm>
            <a:off x="1210200" y="2889672"/>
            <a:ext cx="9044868" cy="926857"/>
          </a:xfrm>
          <a:prstGeom prst="rect">
            <a:avLst/>
          </a:prstGeom>
          <a:noFill/>
        </p:spPr>
        <p:txBody>
          <a:bodyPr wrap="square" rtlCol="0">
            <a:spAutoFit/>
          </a:bodyPr>
          <a:lstStyle/>
          <a:p>
            <a:pPr>
              <a:lnSpc>
                <a:spcPts val="7220"/>
              </a:lnSpc>
            </a:pPr>
            <a:r>
              <a:rPr lang="en-GB" sz="3200" noProof="0" dirty="0">
                <a:solidFill>
                  <a:srgbClr val="013EF5"/>
                </a:solidFill>
                <a:latin typeface="Aptos Light" panose="020B0004020202020204" pitchFamily="34" charset="0"/>
              </a:rPr>
              <a:t>2 &gt; PERMITS</a:t>
            </a:r>
          </a:p>
        </p:txBody>
      </p:sp>
      <p:sp>
        <p:nvSpPr>
          <p:cNvPr id="24" name="CuadroTexto 23">
            <a:extLst>
              <a:ext uri="{FF2B5EF4-FFF2-40B4-BE49-F238E27FC236}">
                <a16:creationId xmlns:a16="http://schemas.microsoft.com/office/drawing/2014/main" id="{CE1B56DB-D606-1C4D-8705-3878D31CCD3C}"/>
              </a:ext>
            </a:extLst>
          </p:cNvPr>
          <p:cNvSpPr txBox="1"/>
          <p:nvPr/>
        </p:nvSpPr>
        <p:spPr>
          <a:xfrm>
            <a:off x="2294470" y="1612772"/>
            <a:ext cx="4305515" cy="1508105"/>
          </a:xfrm>
          <a:prstGeom prst="rect">
            <a:avLst/>
          </a:prstGeom>
          <a:noFill/>
        </p:spPr>
        <p:txBody>
          <a:bodyPr wrap="square" rtlCol="0">
            <a:spAutoFit/>
          </a:bodyPr>
          <a:lstStyle/>
          <a:p>
            <a:pPr marL="0" lvl="1">
              <a:lnSpc>
                <a:spcPts val="2400"/>
              </a:lnSpc>
              <a:spcBef>
                <a:spcPts val="0"/>
              </a:spcBef>
              <a:spcAft>
                <a:spcPts val="0"/>
              </a:spcAft>
              <a:buClr>
                <a:srgbClr val="0D49F1"/>
              </a:buClr>
            </a:pPr>
            <a:r>
              <a:rPr sz="2000">
                <a:solidFill>
                  <a:srgbClr val="013EF5"/>
                </a:solidFill>
                <a:latin typeface="Aptos"/>
              </a:rPr>
              <a:t>1.1 &gt; </a:t>
            </a:r>
            <a:r>
              <a:rPr sz="2000">
                <a:solidFill>
                  <a:srgbClr val="000000"/>
                </a:solidFill>
                <a:latin typeface="Aptos"/>
              </a:rPr>
              <a:t>HSE Indicators</a:t>
            </a:r>
          </a:p>
          <a:p>
            <a:pPr>
              <a:lnSpc>
                <a:spcPts val="2400"/>
              </a:lnSpc>
              <a:spcBef>
                <a:spcPts val="0"/>
              </a:spcBef>
              <a:spcAft>
                <a:spcPts val="0"/>
              </a:spcAft>
            </a:pPr>
            <a:r>
              <a:rPr sz="2000">
                <a:solidFill>
                  <a:srgbClr val="013EF5"/>
                </a:solidFill>
                <a:latin typeface="Aptos"/>
              </a:rPr>
              <a:t>1.2 &gt; </a:t>
            </a:r>
            <a:r>
              <a:rPr sz="2000">
                <a:solidFill>
                  <a:srgbClr val="000000"/>
                </a:solidFill>
                <a:latin typeface="Aptos"/>
              </a:rPr>
              <a:t>Safety Highlights</a:t>
            </a:r>
          </a:p>
          <a:p>
            <a:pPr>
              <a:lnSpc>
                <a:spcPts val="2400"/>
              </a:lnSpc>
              <a:spcBef>
                <a:spcPts val="0"/>
              </a:spcBef>
              <a:spcAft>
                <a:spcPts val="0"/>
              </a:spcAft>
            </a:pPr>
            <a:r>
              <a:rPr sz="2000">
                <a:solidFill>
                  <a:srgbClr val="013EF5"/>
                </a:solidFill>
                <a:latin typeface="Aptos"/>
              </a:rPr>
              <a:t>1.3 &gt; </a:t>
            </a:r>
            <a:r>
              <a:rPr sz="2000">
                <a:solidFill>
                  <a:srgbClr val="000000"/>
                </a:solidFill>
                <a:latin typeface="Aptos"/>
              </a:rPr>
              <a:t>Updates &amp; Photo Log</a:t>
            </a:r>
          </a:p>
        </p:txBody>
      </p:sp>
      <p:sp>
        <p:nvSpPr>
          <p:cNvPr id="29" name="CuadroTexto 28">
            <a:extLst>
              <a:ext uri="{FF2B5EF4-FFF2-40B4-BE49-F238E27FC236}">
                <a16:creationId xmlns:a16="http://schemas.microsoft.com/office/drawing/2014/main" id="{4BE374E7-DFC7-F04D-9802-7DFCBBB3972E}"/>
              </a:ext>
            </a:extLst>
          </p:cNvPr>
          <p:cNvSpPr txBox="1"/>
          <p:nvPr/>
        </p:nvSpPr>
        <p:spPr>
          <a:xfrm>
            <a:off x="266485" y="5605269"/>
            <a:ext cx="4806915" cy="923330"/>
          </a:xfrm>
          <a:prstGeom prst="rect">
            <a:avLst/>
          </a:prstGeom>
          <a:noFill/>
        </p:spPr>
        <p:txBody>
          <a:bodyPr wrap="square" rtlCol="0">
            <a:spAutoFit/>
          </a:bodyPr>
          <a:lstStyle/>
          <a:p>
            <a:r>
              <a:rPr lang="en-GB" sz="5200" b="1" noProof="0" dirty="0">
                <a:solidFill>
                  <a:schemeClr val="bg1"/>
                </a:solidFill>
                <a:latin typeface="Aptos ExtraBold" panose="020B0004020202020204" pitchFamily="34" charset="0"/>
              </a:rPr>
              <a:t>Agenda</a:t>
            </a:r>
          </a:p>
        </p:txBody>
      </p:sp>
      <p:pic>
        <p:nvPicPr>
          <p:cNvPr id="5" name="Imagen 4">
            <a:extLst>
              <a:ext uri="{FF2B5EF4-FFF2-40B4-BE49-F238E27FC236}">
                <a16:creationId xmlns:a16="http://schemas.microsoft.com/office/drawing/2014/main" id="{B994889B-C90B-879D-BF18-244A03872AF0}"/>
              </a:ext>
            </a:extLst>
          </p:cNvPr>
          <p:cNvPicPr>
            <a:picLocks noChangeAspect="1"/>
          </p:cNvPicPr>
          <p:nvPr/>
        </p:nvPicPr>
        <p:blipFill rotWithShape="1">
          <a:blip r:embed="rId2"/>
          <a:srcRect t="-1" r="54800" b="49955"/>
          <a:stretch/>
        </p:blipFill>
        <p:spPr>
          <a:xfrm>
            <a:off x="8549908" y="117682"/>
            <a:ext cx="274715" cy="232529"/>
          </a:xfrm>
          <a:prstGeom prst="rect">
            <a:avLst/>
          </a:prstGeom>
        </p:spPr>
      </p:pic>
      <p:sp>
        <p:nvSpPr>
          <p:cNvPr id="6" name="CuadroTexto 5">
            <a:extLst>
              <a:ext uri="{FF2B5EF4-FFF2-40B4-BE49-F238E27FC236}">
                <a16:creationId xmlns:a16="http://schemas.microsoft.com/office/drawing/2014/main" id="{7D2B2C82-6356-8D62-DF13-C7AEF8CCC456}"/>
              </a:ext>
            </a:extLst>
          </p:cNvPr>
          <p:cNvSpPr txBox="1"/>
          <p:nvPr/>
        </p:nvSpPr>
        <p:spPr>
          <a:xfrm>
            <a:off x="8231453" y="321314"/>
            <a:ext cx="1151431" cy="215444"/>
          </a:xfrm>
          <a:prstGeom prst="rect">
            <a:avLst/>
          </a:prstGeom>
          <a:noFill/>
        </p:spPr>
        <p:txBody>
          <a:bodyPr wrap="square" rtlCol="0">
            <a:spAutoFit/>
          </a:bodyPr>
          <a:lstStyle/>
          <a:p>
            <a:r>
              <a:rPr lang="en-GB" sz="800" spc="100" noProof="0" dirty="0">
                <a:solidFill>
                  <a:srgbClr val="FF0000"/>
                </a:solidFill>
                <a:latin typeface="Aptos Display" panose="020B0004020202020204" pitchFamily="34" charset="0"/>
              </a:rPr>
              <a:t>CONFIDENTIAL</a:t>
            </a:r>
          </a:p>
        </p:txBody>
      </p:sp>
      <p:sp>
        <p:nvSpPr>
          <p:cNvPr id="2" name="CuadroTexto 1">
            <a:extLst>
              <a:ext uri="{FF2B5EF4-FFF2-40B4-BE49-F238E27FC236}">
                <a16:creationId xmlns:a16="http://schemas.microsoft.com/office/drawing/2014/main" id="{ED308EA5-F80F-B97B-08A6-F3C0C498FBA6}"/>
              </a:ext>
            </a:extLst>
          </p:cNvPr>
          <p:cNvSpPr txBox="1"/>
          <p:nvPr/>
        </p:nvSpPr>
        <p:spPr>
          <a:xfrm>
            <a:off x="2294470" y="4023360"/>
            <a:ext cx="5669280" cy="420624"/>
          </a:xfrm>
          <a:prstGeom prst="rect">
            <a:avLst/>
          </a:prstGeom>
          <a:noFill/>
        </p:spPr>
        <p:txBody>
          <a:bodyPr wrap="square" rtlCol="0" anchor="t" tIns="0">
            <a:spAutoFit/>
          </a:bodyPr>
          <a:lstStyle/>
          <a:p>
            <a:pPr>
              <a:lnSpc>
                <a:spcPts val="2400"/>
              </a:lnSpc>
              <a:spcBef>
                <a:spcPts val="0"/>
              </a:spcBef>
              <a:spcAft>
                <a:spcPts val="0"/>
              </a:spcAft>
            </a:pPr>
            <a:r>
              <a:rPr sz="2000">
                <a:solidFill>
                  <a:srgbClr val="013EF5"/>
                </a:solidFill>
                <a:latin typeface="Aptos"/>
              </a:rPr>
              <a:t>2.0 &gt; </a:t>
            </a:r>
            <a:r>
              <a:rPr sz="2000">
                <a:solidFill>
                  <a:srgbClr val="000000"/>
                </a:solidFill>
                <a:latin typeface="Aptos"/>
              </a:rPr>
              <a:t>Environmental Update</a:t>
            </a:r>
          </a:p>
        </p:txBody>
      </p:sp>
      <p:sp>
        <p:nvSpPr>
          <p:cNvPr id="30" name="TextBox 29"/>
          <p:cNvSpPr txBox="1"/>
          <p:nvPr/>
        </p:nvSpPr>
        <p:spPr>
          <a:xfrm>
            <a:off x="3474720" y="6601968"/>
            <a:ext cx="4389120" cy="155448"/>
          </a:xfrm>
          <a:prstGeom prst="rect">
            <a:avLst/>
          </a:prstGeom>
          <a:noFill/>
        </p:spPr>
        <p:txBody>
          <a:bodyPr wrap="square" lIns="18288" tIns="0" rIns="18288" bIns="0">
            <a:spAutoFit/>
          </a:bodyPr>
          <a:lstStyle/>
          <a:p>
            <a:pPr>
              <a:spcAft>
                <a:spcPts val="500"/>
              </a:spcAft>
              <a:defRPr sz="650" b="0">
                <a:solidFill>
                  <a:srgbClr val="68717D"/>
                </a:solidFill>
                <a:latin typeface="DejaVu Sans"/>
              </a:defRPr>
            </a:pPr>
            <a:r>
              <a:t>WORKING DRAFT · 27 OCT 2026</a:t>
            </a:r>
          </a:p>
        </p:txBody>
      </p:sp>
      <p:sp>
        <p:nvSpPr>
          <p:cNvPr id="31" name="TextBox 30"/>
          <p:cNvSpPr txBox="1"/>
          <p:nvPr/>
        </p:nvSpPr>
        <p:spPr>
          <a:xfrm>
            <a:off x="8595360" y="6556248"/>
            <a:ext cx="274320" cy="201168"/>
          </a:xfrm>
          <a:prstGeom prst="rect">
            <a:avLst/>
          </a:prstGeom>
          <a:noFill/>
        </p:spPr>
        <p:txBody>
          <a:bodyPr wrap="square" lIns="18288" tIns="0" rIns="18288" bIns="0">
            <a:spAutoFit/>
          </a:bodyPr>
          <a:lstStyle/>
          <a:p>
            <a:pPr algn="r">
              <a:spcAft>
                <a:spcPts val="500"/>
              </a:spcAft>
              <a:defRPr sz="800" b="0">
                <a:solidFill>
                  <a:srgbClr val="68717D"/>
                </a:solidFill>
                <a:latin typeface="DejaVu Sans"/>
              </a:defRPr>
            </a:pPr>
            <a:r>
              <a:t>2</a:t>
            </a:r>
          </a:p>
        </p:txBody>
      </p:sp>
    </p:spTree>
    <p:extLst>
      <p:ext uri="{BB962C8B-B14F-4D97-AF65-F5344CB8AC3E}">
        <p14:creationId xmlns:p14="http://schemas.microsoft.com/office/powerpoint/2010/main" val="14294316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A71B41-9D7A-3C2A-C9D8-0DBFB1207DB8}"/>
            </a:ext>
          </a:extLst>
        </p:cNvPr>
        <p:cNvGrpSpPr/>
        <p:nvPr/>
      </p:nvGrpSpPr>
      <p:grpSpPr>
        <a:xfrm>
          <a:off x="0" y="0"/>
          <a:ext cx="0" cy="0"/>
          <a:chOff x="0" y="0"/>
          <a:chExt cx="0" cy="0"/>
        </a:xfrm>
      </p:grpSpPr>
      <p:sp>
        <p:nvSpPr>
          <p:cNvPr id="8" name="Rectángulo 7">
            <a:extLst>
              <a:ext uri="{FF2B5EF4-FFF2-40B4-BE49-F238E27FC236}">
                <a16:creationId xmlns:a16="http://schemas.microsoft.com/office/drawing/2014/main" id="{3012ED27-D616-13ED-A16A-D47D2DDFDE0B}"/>
              </a:ext>
            </a:extLst>
          </p:cNvPr>
          <p:cNvSpPr/>
          <p:nvPr/>
        </p:nvSpPr>
        <p:spPr>
          <a:xfrm>
            <a:off x="0" y="0"/>
            <a:ext cx="9144000" cy="70658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9" name="Título 1">
            <a:extLst>
              <a:ext uri="{FF2B5EF4-FFF2-40B4-BE49-F238E27FC236}">
                <a16:creationId xmlns:a16="http://schemas.microsoft.com/office/drawing/2014/main" id="{D5BA9931-EC90-D556-037A-524AD3CCAF25}"/>
              </a:ext>
            </a:extLst>
          </p:cNvPr>
          <p:cNvSpPr txBox="1">
            <a:spLocks/>
          </p:cNvSpPr>
          <p:nvPr/>
        </p:nvSpPr>
        <p:spPr>
          <a:xfrm>
            <a:off x="179509" y="142504"/>
            <a:ext cx="7364291" cy="79006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GB" sz="1800" b="1" noProof="0" dirty="0">
                <a:solidFill>
                  <a:srgbClr val="013EF5"/>
                </a:solidFill>
                <a:latin typeface="Aptos" panose="020B0004020202020204" pitchFamily="34" charset="0"/>
              </a:rPr>
              <a:t>1.</a:t>
            </a:r>
            <a:r>
              <a:rPr lang="en-GB" sz="1800" b="1" dirty="0">
                <a:solidFill>
                  <a:srgbClr val="013EF5"/>
                </a:solidFill>
                <a:latin typeface="Aptos" panose="020B0004020202020204" pitchFamily="34" charset="0"/>
              </a:rPr>
              <a:t>1</a:t>
            </a:r>
            <a:r>
              <a:rPr lang="en-GB" sz="1800" b="1" spc="100" noProof="0" dirty="0">
                <a:solidFill>
                  <a:srgbClr val="013EF5"/>
                </a:solidFill>
                <a:latin typeface="Aptos" panose="020B0004020202020204" pitchFamily="34" charset="0"/>
              </a:rPr>
              <a:t> &gt; DEDICATED GAS PIPELINE UPDATE </a:t>
            </a:r>
            <a:r>
              <a:rPr lang="en-GB" sz="1800" spc="100" noProof="0" dirty="0">
                <a:solidFill>
                  <a:srgbClr val="013EF5"/>
                </a:solidFill>
                <a:latin typeface="Aptos Light" panose="020B0004020202020204" pitchFamily="34" charset="0"/>
              </a:rPr>
              <a:t>&gt; HSE Indicators</a:t>
            </a:r>
          </a:p>
          <a:p>
            <a:pPr algn="l"/>
            <a:endParaRPr lang="en-GB" sz="2400" b="1" noProof="0" dirty="0">
              <a:solidFill>
                <a:srgbClr val="789AF8"/>
              </a:solidFill>
              <a:latin typeface="Calibri" pitchFamily="34" charset="0"/>
            </a:endParaRPr>
          </a:p>
        </p:txBody>
      </p:sp>
      <p:pic>
        <p:nvPicPr>
          <p:cNvPr id="11" name="Imagen 10">
            <a:extLst>
              <a:ext uri="{FF2B5EF4-FFF2-40B4-BE49-F238E27FC236}">
                <a16:creationId xmlns:a16="http://schemas.microsoft.com/office/drawing/2014/main" id="{8A05AE7A-7C8D-80CF-214B-A6C328DC4B90}"/>
              </a:ext>
            </a:extLst>
          </p:cNvPr>
          <p:cNvPicPr>
            <a:picLocks noChangeAspect="1"/>
          </p:cNvPicPr>
          <p:nvPr/>
        </p:nvPicPr>
        <p:blipFill rotWithShape="1">
          <a:blip r:embed="rId3"/>
          <a:srcRect t="-1" r="54800" b="49955"/>
          <a:stretch/>
        </p:blipFill>
        <p:spPr>
          <a:xfrm>
            <a:off x="8549908" y="117682"/>
            <a:ext cx="274715" cy="232529"/>
          </a:xfrm>
          <a:prstGeom prst="rect">
            <a:avLst/>
          </a:prstGeom>
        </p:spPr>
      </p:pic>
      <p:sp>
        <p:nvSpPr>
          <p:cNvPr id="12" name="CuadroTexto 11">
            <a:extLst>
              <a:ext uri="{FF2B5EF4-FFF2-40B4-BE49-F238E27FC236}">
                <a16:creationId xmlns:a16="http://schemas.microsoft.com/office/drawing/2014/main" id="{C72DCA57-5DD6-4F16-3B2C-1623E21647ED}"/>
              </a:ext>
            </a:extLst>
          </p:cNvPr>
          <p:cNvSpPr txBox="1"/>
          <p:nvPr/>
        </p:nvSpPr>
        <p:spPr>
          <a:xfrm>
            <a:off x="8231453" y="321314"/>
            <a:ext cx="1151431" cy="215444"/>
          </a:xfrm>
          <a:prstGeom prst="rect">
            <a:avLst/>
          </a:prstGeom>
          <a:noFill/>
        </p:spPr>
        <p:txBody>
          <a:bodyPr wrap="square" rtlCol="0">
            <a:spAutoFit/>
          </a:bodyPr>
          <a:lstStyle/>
          <a:p>
            <a:r>
              <a:rPr lang="en-GB" sz="800" spc="100" noProof="0" dirty="0">
                <a:solidFill>
                  <a:srgbClr val="FF0000"/>
                </a:solidFill>
                <a:latin typeface="Aptos Display" panose="020B0004020202020204" pitchFamily="34" charset="0"/>
              </a:rPr>
              <a:t>CONFIDENTIAL</a:t>
            </a:r>
          </a:p>
        </p:txBody>
      </p:sp>
      <p:sp>
        <p:nvSpPr>
          <p:cNvPr id="309" name="Rectangle 13">
            <a:extLst>
              <a:ext uri="{FF2B5EF4-FFF2-40B4-BE49-F238E27FC236}">
                <a16:creationId xmlns:a16="http://schemas.microsoft.com/office/drawing/2014/main" id="{982F2D75-DF9C-349E-AB75-76AFBBC31524}"/>
              </a:ext>
            </a:extLst>
          </p:cNvPr>
          <p:cNvSpPr/>
          <p:nvPr/>
        </p:nvSpPr>
        <p:spPr>
          <a:xfrm>
            <a:off x="391705" y="1089189"/>
            <a:ext cx="4197680" cy="86868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noProof="0" dirty="0"/>
          </a:p>
        </p:txBody>
      </p:sp>
      <p:sp>
        <p:nvSpPr>
          <p:cNvPr id="310" name="Rectangle 14">
            <a:extLst>
              <a:ext uri="{FF2B5EF4-FFF2-40B4-BE49-F238E27FC236}">
                <a16:creationId xmlns:a16="http://schemas.microsoft.com/office/drawing/2014/main" id="{E261C013-D5E4-0D26-A0A5-06B94D034046}"/>
              </a:ext>
            </a:extLst>
          </p:cNvPr>
          <p:cNvSpPr/>
          <p:nvPr/>
        </p:nvSpPr>
        <p:spPr>
          <a:xfrm>
            <a:off x="391705" y="1089189"/>
            <a:ext cx="54864" cy="868680"/>
          </a:xfrm>
          <a:prstGeom prst="rect">
            <a:avLst/>
          </a:prstGeom>
          <a:solidFill>
            <a:srgbClr val="013E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noProof="0" dirty="0"/>
          </a:p>
        </p:txBody>
      </p:sp>
      <p:sp>
        <p:nvSpPr>
          <p:cNvPr id="311" name="TextBox 15">
            <a:extLst>
              <a:ext uri="{FF2B5EF4-FFF2-40B4-BE49-F238E27FC236}">
                <a16:creationId xmlns:a16="http://schemas.microsoft.com/office/drawing/2014/main" id="{2406B7B1-B4A2-9E0D-A2A3-2FA0CF50D520}"/>
              </a:ext>
            </a:extLst>
          </p:cNvPr>
          <p:cNvSpPr txBox="1"/>
          <p:nvPr/>
        </p:nvSpPr>
        <p:spPr>
          <a:xfrm>
            <a:off x="483145" y="1107477"/>
            <a:ext cx="4087952" cy="201168"/>
          </a:xfrm>
          <a:prstGeom prst="rect">
            <a:avLst/>
          </a:prstGeom>
          <a:noFill/>
        </p:spPr>
        <p:txBody>
          <a:bodyPr wrap="square" lIns="45720" tIns="27432" rIns="45720" bIns="27432" anchor="t">
            <a:spAutoFit/>
          </a:bodyPr>
          <a:lstStyle/>
          <a:p>
            <a:pPr algn="l"/>
            <a:r>
              <a:rPr lang="en-GB" sz="800" b="1" i="0" noProof="0" dirty="0">
                <a:solidFill>
                  <a:srgbClr val="6B7280"/>
                </a:solidFill>
                <a:latin typeface="Aptos"/>
              </a:rPr>
              <a:t>TRICF Frequency</a:t>
            </a:r>
          </a:p>
        </p:txBody>
      </p:sp>
      <p:sp>
        <p:nvSpPr>
          <p:cNvPr id="312" name="TextBox 16">
            <a:extLst>
              <a:ext uri="{FF2B5EF4-FFF2-40B4-BE49-F238E27FC236}">
                <a16:creationId xmlns:a16="http://schemas.microsoft.com/office/drawing/2014/main" id="{A16E4164-D038-E004-A99F-B3F12C72ABC2}"/>
              </a:ext>
            </a:extLst>
          </p:cNvPr>
          <p:cNvSpPr txBox="1"/>
          <p:nvPr/>
        </p:nvSpPr>
        <p:spPr>
          <a:xfrm>
            <a:off x="483145" y="1290357"/>
            <a:ext cx="4087952" cy="365760"/>
          </a:xfrm>
          <a:prstGeom prst="rect">
            <a:avLst/>
          </a:prstGeom>
          <a:noFill/>
        </p:spPr>
        <p:txBody>
          <a:bodyPr wrap="square" lIns="45720" tIns="27432" rIns="45720" bIns="27432" anchor="t">
            <a:spAutoFit/>
          </a:bodyPr>
          <a:lstStyle/>
          <a:p>
            <a:pPr algn="l"/>
            <a:r>
              <a:rPr lang="en-GB" sz="2000" b="1" i="0" noProof="0" dirty="0">
                <a:solidFill>
                  <a:srgbClr val="013EF5"/>
                </a:solidFill>
                <a:latin typeface="Aptos"/>
              </a:rPr>
              <a:t>0</a:t>
            </a:r>
          </a:p>
        </p:txBody>
      </p:sp>
      <p:sp>
        <p:nvSpPr>
          <p:cNvPr id="313" name="TextBox 17">
            <a:extLst>
              <a:ext uri="{FF2B5EF4-FFF2-40B4-BE49-F238E27FC236}">
                <a16:creationId xmlns:a16="http://schemas.microsoft.com/office/drawing/2014/main" id="{FB330628-B996-AACC-C208-E46F35C068E6}"/>
              </a:ext>
            </a:extLst>
          </p:cNvPr>
          <p:cNvSpPr txBox="1"/>
          <p:nvPr/>
        </p:nvSpPr>
        <p:spPr>
          <a:xfrm>
            <a:off x="483145" y="1637829"/>
            <a:ext cx="4087952" cy="286232"/>
          </a:xfrm>
          <a:prstGeom prst="rect">
            <a:avLst/>
          </a:prstGeom>
          <a:noFill/>
        </p:spPr>
        <p:txBody>
          <a:bodyPr wrap="square" lIns="45720" tIns="27432" rIns="45720" bIns="27432" anchor="t">
            <a:spAutoFit/>
          </a:bodyPr>
          <a:lstStyle/>
          <a:p>
            <a:pPr algn="l">
              <a:lnSpc>
                <a:spcPct val="100000"/>
              </a:lnSpc>
              <a:spcBef>
                <a:spcPts val="0"/>
              </a:spcBef>
              <a:spcAft>
                <a:spcPts val="0"/>
              </a:spcAft>
            </a:pPr>
            <a:r>
              <a:rPr sz="750" dirty="0">
                <a:solidFill>
                  <a:srgbClr val="68717D"/>
                </a:solidFill>
                <a:latin typeface="Aptos"/>
              </a:rPr>
              <a:t>Cum. Aug–Sep · target 2.35</a:t>
            </a:r>
            <a:br>
              <a:rPr dirty="0"/>
            </a:br>
            <a:endParaRPr sz="750" dirty="0">
              <a:solidFill>
                <a:srgbClr val="68717D"/>
              </a:solidFill>
              <a:latin typeface="Aptos"/>
            </a:endParaRPr>
          </a:p>
        </p:txBody>
      </p:sp>
      <p:sp>
        <p:nvSpPr>
          <p:cNvPr id="314" name="Rectangle 18">
            <a:extLst>
              <a:ext uri="{FF2B5EF4-FFF2-40B4-BE49-F238E27FC236}">
                <a16:creationId xmlns:a16="http://schemas.microsoft.com/office/drawing/2014/main" id="{AEA93BC8-49B1-34FA-F73E-EED27B06E1DD}"/>
              </a:ext>
            </a:extLst>
          </p:cNvPr>
          <p:cNvSpPr/>
          <p:nvPr/>
        </p:nvSpPr>
        <p:spPr>
          <a:xfrm>
            <a:off x="4789385" y="1089189"/>
            <a:ext cx="4197680" cy="86868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noProof="0" dirty="0"/>
          </a:p>
        </p:txBody>
      </p:sp>
      <p:sp>
        <p:nvSpPr>
          <p:cNvPr id="315" name="Rectangle 19">
            <a:extLst>
              <a:ext uri="{FF2B5EF4-FFF2-40B4-BE49-F238E27FC236}">
                <a16:creationId xmlns:a16="http://schemas.microsoft.com/office/drawing/2014/main" id="{6B4841DD-EE04-D73E-2E33-D1179A9416A1}"/>
              </a:ext>
            </a:extLst>
          </p:cNvPr>
          <p:cNvSpPr/>
          <p:nvPr/>
        </p:nvSpPr>
        <p:spPr>
          <a:xfrm>
            <a:off x="4789385" y="1089189"/>
            <a:ext cx="54864" cy="868680"/>
          </a:xfrm>
          <a:prstGeom prst="rect">
            <a:avLst/>
          </a:prstGeom>
          <a:solidFill>
            <a:srgbClr val="013E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noProof="0" dirty="0"/>
          </a:p>
        </p:txBody>
      </p:sp>
      <p:sp>
        <p:nvSpPr>
          <p:cNvPr id="316" name="TextBox 20">
            <a:extLst>
              <a:ext uri="{FF2B5EF4-FFF2-40B4-BE49-F238E27FC236}">
                <a16:creationId xmlns:a16="http://schemas.microsoft.com/office/drawing/2014/main" id="{3AB03E7B-EF38-90A4-FA99-F82427D1C6E7}"/>
              </a:ext>
            </a:extLst>
          </p:cNvPr>
          <p:cNvSpPr txBox="1"/>
          <p:nvPr/>
        </p:nvSpPr>
        <p:spPr>
          <a:xfrm>
            <a:off x="4880825" y="1107477"/>
            <a:ext cx="4087952" cy="201168"/>
          </a:xfrm>
          <a:prstGeom prst="rect">
            <a:avLst/>
          </a:prstGeom>
          <a:noFill/>
        </p:spPr>
        <p:txBody>
          <a:bodyPr wrap="square" lIns="45720" tIns="27432" rIns="45720" bIns="27432" anchor="t">
            <a:spAutoFit/>
          </a:bodyPr>
          <a:lstStyle/>
          <a:p>
            <a:pPr algn="l"/>
            <a:r>
              <a:rPr lang="en-GB" sz="800" b="1" i="0" noProof="0" dirty="0">
                <a:solidFill>
                  <a:srgbClr val="6B7280"/>
                </a:solidFill>
                <a:latin typeface="Aptos"/>
              </a:rPr>
              <a:t>TVCR Frequency</a:t>
            </a:r>
          </a:p>
        </p:txBody>
      </p:sp>
      <p:sp>
        <p:nvSpPr>
          <p:cNvPr id="317" name="TextBox 21">
            <a:extLst>
              <a:ext uri="{FF2B5EF4-FFF2-40B4-BE49-F238E27FC236}">
                <a16:creationId xmlns:a16="http://schemas.microsoft.com/office/drawing/2014/main" id="{50A78C86-7488-F971-49F4-E1884B229777}"/>
              </a:ext>
            </a:extLst>
          </p:cNvPr>
          <p:cNvSpPr txBox="1"/>
          <p:nvPr/>
        </p:nvSpPr>
        <p:spPr>
          <a:xfrm>
            <a:off x="4880825" y="1290357"/>
            <a:ext cx="4087952" cy="365760"/>
          </a:xfrm>
          <a:prstGeom prst="rect">
            <a:avLst/>
          </a:prstGeom>
          <a:noFill/>
        </p:spPr>
        <p:txBody>
          <a:bodyPr wrap="square" lIns="45720" tIns="27432" rIns="45720" bIns="27432" anchor="t">
            <a:spAutoFit/>
          </a:bodyPr>
          <a:lstStyle/>
          <a:p>
            <a:pPr algn="l"/>
            <a:r>
              <a:rPr lang="en-GB" sz="2000" b="1" i="0" noProof="0" dirty="0">
                <a:solidFill>
                  <a:srgbClr val="013EF5"/>
                </a:solidFill>
                <a:latin typeface="Aptos"/>
              </a:rPr>
              <a:t>0</a:t>
            </a:r>
          </a:p>
        </p:txBody>
      </p:sp>
      <p:sp>
        <p:nvSpPr>
          <p:cNvPr id="318" name="TextBox 22">
            <a:extLst>
              <a:ext uri="{FF2B5EF4-FFF2-40B4-BE49-F238E27FC236}">
                <a16:creationId xmlns:a16="http://schemas.microsoft.com/office/drawing/2014/main" id="{66400441-BD98-14B4-DF79-5611E8E0A851}"/>
              </a:ext>
            </a:extLst>
          </p:cNvPr>
          <p:cNvSpPr txBox="1"/>
          <p:nvPr/>
        </p:nvSpPr>
        <p:spPr>
          <a:xfrm>
            <a:off x="4880825" y="1637829"/>
            <a:ext cx="4087952" cy="286232"/>
          </a:xfrm>
          <a:prstGeom prst="rect">
            <a:avLst/>
          </a:prstGeom>
          <a:noFill/>
        </p:spPr>
        <p:txBody>
          <a:bodyPr wrap="square" lIns="45720" tIns="27432" rIns="45720" bIns="27432" anchor="t">
            <a:spAutoFit/>
          </a:bodyPr>
          <a:lstStyle/>
          <a:p>
            <a:pPr algn="l">
              <a:lnSpc>
                <a:spcPct val="100000"/>
              </a:lnSpc>
              <a:spcBef>
                <a:spcPts val="0"/>
              </a:spcBef>
              <a:spcAft>
                <a:spcPts val="0"/>
              </a:spcAft>
            </a:pPr>
            <a:r>
              <a:rPr sz="750" dirty="0">
                <a:solidFill>
                  <a:srgbClr val="68717D"/>
                </a:solidFill>
                <a:latin typeface="Aptos"/>
              </a:rPr>
              <a:t>Cum. Aug–Sep · target 0.79</a:t>
            </a:r>
            <a:br>
              <a:rPr dirty="0"/>
            </a:br>
            <a:endParaRPr sz="750" dirty="0">
              <a:solidFill>
                <a:srgbClr val="68717D"/>
              </a:solidFill>
              <a:latin typeface="Aptos"/>
            </a:endParaRPr>
          </a:p>
        </p:txBody>
      </p:sp>
      <p:sp>
        <p:nvSpPr>
          <p:cNvPr id="334" name="TextBox 42">
            <a:extLst>
              <a:ext uri="{FF2B5EF4-FFF2-40B4-BE49-F238E27FC236}">
                <a16:creationId xmlns:a16="http://schemas.microsoft.com/office/drawing/2014/main" id="{6ED1FBF3-0714-96CD-28B6-42ABA007D56E}"/>
              </a:ext>
            </a:extLst>
          </p:cNvPr>
          <p:cNvSpPr txBox="1"/>
          <p:nvPr/>
        </p:nvSpPr>
        <p:spPr>
          <a:xfrm>
            <a:off x="1468118" y="2046226"/>
            <a:ext cx="2145920" cy="164592"/>
          </a:xfrm>
          <a:prstGeom prst="rect">
            <a:avLst/>
          </a:prstGeom>
          <a:noFill/>
        </p:spPr>
        <p:txBody>
          <a:bodyPr wrap="square" lIns="45720" tIns="27432" rIns="45720" bIns="27432" anchor="t">
            <a:spAutoFit/>
          </a:bodyPr>
          <a:lstStyle/>
          <a:p>
            <a:pPr algn="ctr"/>
            <a:r>
              <a:rPr lang="en-GB" sz="800" b="1" i="0" noProof="0" dirty="0">
                <a:solidFill>
                  <a:srgbClr val="013EF5"/>
                </a:solidFill>
                <a:latin typeface="Aptos"/>
              </a:rPr>
              <a:t>Cumulative to 30 Sep 2026</a:t>
            </a:r>
          </a:p>
        </p:txBody>
      </p:sp>
      <p:sp>
        <p:nvSpPr>
          <p:cNvPr id="335" name="TextBox 63">
            <a:extLst>
              <a:ext uri="{FF2B5EF4-FFF2-40B4-BE49-F238E27FC236}">
                <a16:creationId xmlns:a16="http://schemas.microsoft.com/office/drawing/2014/main" id="{A118BB3E-616F-ACE6-6BDA-5D3FC3962CA8}"/>
              </a:ext>
            </a:extLst>
          </p:cNvPr>
          <p:cNvSpPr txBox="1"/>
          <p:nvPr/>
        </p:nvSpPr>
        <p:spPr>
          <a:xfrm>
            <a:off x="5603785" y="2220478"/>
            <a:ext cx="2606040" cy="201168"/>
          </a:xfrm>
          <a:prstGeom prst="rect">
            <a:avLst/>
          </a:prstGeom>
          <a:noFill/>
        </p:spPr>
        <p:txBody>
          <a:bodyPr wrap="square" lIns="45720" tIns="27432" rIns="45720" bIns="27432" anchor="t">
            <a:spAutoFit/>
          </a:bodyPr>
          <a:lstStyle/>
          <a:p>
            <a:pPr algn="l"/>
            <a:r>
              <a:rPr lang="en-GB" sz="900" b="1" i="0" noProof="0" dirty="0">
                <a:solidFill>
                  <a:srgbClr val="013EF5"/>
                </a:solidFill>
                <a:latin typeface="Aptos"/>
              </a:rPr>
              <a:t>Other KPIs · </a:t>
            </a:r>
            <a:r>
              <a:rPr lang="en-GB" sz="900" b="1" dirty="0">
                <a:solidFill>
                  <a:srgbClr val="013EF5"/>
                </a:solidFill>
                <a:latin typeface="Aptos"/>
              </a:rPr>
              <a:t>September</a:t>
            </a:r>
            <a:r>
              <a:rPr lang="en-GB" sz="900" b="1" i="0" noProof="0" dirty="0">
                <a:solidFill>
                  <a:srgbClr val="013EF5"/>
                </a:solidFill>
                <a:latin typeface="Aptos"/>
              </a:rPr>
              <a:t> 2026</a:t>
            </a:r>
          </a:p>
        </p:txBody>
      </p:sp>
      <p:graphicFrame>
        <p:nvGraphicFramePr>
          <p:cNvPr id="336" name="Table 64">
            <a:extLst>
              <a:ext uri="{FF2B5EF4-FFF2-40B4-BE49-F238E27FC236}">
                <a16:creationId xmlns:a16="http://schemas.microsoft.com/office/drawing/2014/main" id="{BB9C8609-A565-9F3D-EF97-3EADB3BD7F73}"/>
              </a:ext>
            </a:extLst>
          </p:cNvPr>
          <p:cNvGraphicFramePr>
            <a:graphicFrameLocks noGrp="1"/>
          </p:cNvGraphicFramePr>
          <p:nvPr>
            <p:extLst>
              <p:ext uri="{D42A27DB-BD31-4B8C-83A1-F6EECF244321}">
                <p14:modId xmlns:p14="http://schemas.microsoft.com/office/powerpoint/2010/main" val="2011819814"/>
              </p:ext>
            </p:extLst>
          </p:nvPr>
        </p:nvGraphicFramePr>
        <p:xfrm>
          <a:off x="5603785" y="2439934"/>
          <a:ext cx="2606040" cy="1645920"/>
        </p:xfrm>
        <a:graphic>
          <a:graphicData uri="http://schemas.openxmlformats.org/drawingml/2006/table">
            <a:tbl>
              <a:tblPr>
                <a:tableStyleId>{2D5ABB26-0587-4C30-8999-92F81FD0307C}</a:tableStyleId>
              </a:tblPr>
              <a:tblGrid>
                <a:gridCol w="1737360">
                  <a:extLst>
                    <a:ext uri="{9D8B030D-6E8A-4147-A177-3AD203B41FA5}">
                      <a16:colId xmlns:a16="http://schemas.microsoft.com/office/drawing/2014/main" val="20000"/>
                    </a:ext>
                  </a:extLst>
                </a:gridCol>
                <a:gridCol w="868680">
                  <a:extLst>
                    <a:ext uri="{9D8B030D-6E8A-4147-A177-3AD203B41FA5}">
                      <a16:colId xmlns:a16="http://schemas.microsoft.com/office/drawing/2014/main" val="20001"/>
                    </a:ext>
                  </a:extLst>
                </a:gridCol>
              </a:tblGrid>
              <a:tr h="329184">
                <a:tc>
                  <a:txBody>
                    <a:bodyPr/>
                    <a:lstStyle/>
                    <a:p>
                      <a:pPr algn="l"/>
                      <a:r>
                        <a:rPr lang="en-GB" sz="800" b="1" i="0" noProof="0" dirty="0">
                          <a:solidFill>
                            <a:srgbClr val="FFFFFF"/>
                          </a:solidFill>
                          <a:latin typeface="Aptos"/>
                        </a:rPr>
                        <a:t>KPI</a:t>
                      </a:r>
                    </a:p>
                  </a:txBody>
                  <a:tcPr marL="45720" marR="45720" marT="18288" marB="18288" anchor="ctr">
                    <a:solidFill>
                      <a:srgbClr val="013EF5"/>
                    </a:solidFill>
                  </a:tcPr>
                </a:tc>
                <a:tc>
                  <a:txBody>
                    <a:bodyPr/>
                    <a:lstStyle/>
                    <a:p>
                      <a:pPr algn="ctr"/>
                      <a:r>
                        <a:rPr lang="en-GB" sz="800" b="1" i="0" noProof="0" dirty="0">
                          <a:solidFill>
                            <a:srgbClr val="FFFFFF"/>
                          </a:solidFill>
                          <a:latin typeface="Aptos"/>
                        </a:rPr>
                        <a:t>CP + Pipeline</a:t>
                      </a:r>
                    </a:p>
                  </a:txBody>
                  <a:tcPr marL="45720" marR="45720" marT="18288" marB="18288" anchor="ctr">
                    <a:solidFill>
                      <a:srgbClr val="013EF5"/>
                    </a:solidFill>
                  </a:tcPr>
                </a:tc>
                <a:extLst>
                  <a:ext uri="{0D108BD9-81ED-4DB2-BD59-A6C34878D82A}">
                    <a16:rowId xmlns:a16="http://schemas.microsoft.com/office/drawing/2014/main" val="10000"/>
                  </a:ext>
                </a:extLst>
              </a:tr>
              <a:tr h="329184">
                <a:tc>
                  <a:txBody>
                    <a:bodyPr/>
                    <a:lstStyle/>
                    <a:p>
                      <a:pPr algn="l"/>
                      <a:r>
                        <a:rPr lang="en-GB" sz="800" b="1" i="0" noProof="0" dirty="0">
                          <a:solidFill>
                            <a:srgbClr val="1F2533"/>
                          </a:solidFill>
                          <a:latin typeface="Aptos"/>
                        </a:rPr>
                        <a:t>DAFWCF (target 0)</a:t>
                      </a:r>
                    </a:p>
                  </a:txBody>
                  <a:tcPr marL="45720" marR="45720" marT="18288" marB="18288" anchor="ctr">
                    <a:noFill/>
                  </a:tcPr>
                </a:tc>
                <a:tc>
                  <a:txBody>
                    <a:bodyPr/>
                    <a:lstStyle/>
                    <a:p>
                      <a:pPr algn="ctr"/>
                      <a:r>
                        <a:rPr lang="en-GB" sz="800" b="0" i="0" noProof="0" dirty="0">
                          <a:solidFill>
                            <a:srgbClr val="000000"/>
                          </a:solidFill>
                          <a:latin typeface="Aptos"/>
                        </a:rPr>
                        <a:t>0</a:t>
                      </a:r>
                    </a:p>
                  </a:txBody>
                  <a:tcPr marL="45720" marR="45720" marT="18288" marB="18288" anchor="ctr">
                    <a:noFill/>
                  </a:tcPr>
                </a:tc>
                <a:extLst>
                  <a:ext uri="{0D108BD9-81ED-4DB2-BD59-A6C34878D82A}">
                    <a16:rowId xmlns:a16="http://schemas.microsoft.com/office/drawing/2014/main" val="10001"/>
                  </a:ext>
                </a:extLst>
              </a:tr>
              <a:tr h="329184">
                <a:tc>
                  <a:txBody>
                    <a:bodyPr/>
                    <a:lstStyle/>
                    <a:p>
                      <a:pPr algn="l"/>
                      <a:r>
                        <a:rPr lang="en-GB" sz="800" b="1" i="0" noProof="0" dirty="0">
                          <a:solidFill>
                            <a:srgbClr val="1F2533"/>
                          </a:solidFill>
                          <a:latin typeface="Aptos"/>
                        </a:rPr>
                        <a:t>TRICF (target 2.35 – 3)</a:t>
                      </a:r>
                    </a:p>
                  </a:txBody>
                  <a:tcPr marL="45720" marR="45720" marT="18288" marB="18288" anchor="ctr">
                    <a:solidFill>
                      <a:srgbClr val="F2F2F2"/>
                    </a:solidFill>
                  </a:tcPr>
                </a:tc>
                <a:tc>
                  <a:txBody>
                    <a:bodyPr/>
                    <a:lstStyle/>
                    <a:p>
                      <a:pPr algn="ctr"/>
                      <a:r>
                        <a:rPr lang="en-GB" sz="800" b="0" i="0" noProof="0" dirty="0">
                          <a:solidFill>
                            <a:srgbClr val="000000"/>
                          </a:solidFill>
                          <a:latin typeface="Aptos"/>
                        </a:rPr>
                        <a:t>0</a:t>
                      </a:r>
                    </a:p>
                  </a:txBody>
                  <a:tcPr marL="45720" marR="45720" marT="18288" marB="18288" anchor="ctr">
                    <a:solidFill>
                      <a:srgbClr val="F2F2F2"/>
                    </a:solidFill>
                  </a:tcPr>
                </a:tc>
                <a:extLst>
                  <a:ext uri="{0D108BD9-81ED-4DB2-BD59-A6C34878D82A}">
                    <a16:rowId xmlns:a16="http://schemas.microsoft.com/office/drawing/2014/main" val="262702639"/>
                  </a:ext>
                </a:extLst>
              </a:tr>
              <a:tr h="329184">
                <a:tc>
                  <a:txBody>
                    <a:bodyPr/>
                    <a:lstStyle/>
                    <a:p>
                      <a:pPr algn="l"/>
                      <a:r>
                        <a:rPr lang="en-GB" sz="800" b="1" i="0" noProof="0" dirty="0">
                          <a:solidFill>
                            <a:srgbClr val="1F2533"/>
                          </a:solidFill>
                          <a:latin typeface="Aptos"/>
                        </a:rPr>
                        <a:t>TVCR (Target 0.79 – 2)</a:t>
                      </a:r>
                    </a:p>
                  </a:txBody>
                  <a:tcPr marL="45720" marR="45720" marT="18288" marB="18288" anchor="ctr">
                    <a:solidFill>
                      <a:srgbClr val="F2F2F2"/>
                    </a:solidFill>
                  </a:tcPr>
                </a:tc>
                <a:tc>
                  <a:txBody>
                    <a:bodyPr/>
                    <a:lstStyle/>
                    <a:p>
                      <a:pPr algn="ctr"/>
                      <a:r>
                        <a:rPr lang="en-GB" sz="800" b="0" i="0" noProof="0" dirty="0">
                          <a:solidFill>
                            <a:srgbClr val="000000"/>
                          </a:solidFill>
                          <a:latin typeface="Aptos"/>
                        </a:rPr>
                        <a:t>0</a:t>
                      </a:r>
                    </a:p>
                  </a:txBody>
                  <a:tcPr marL="45720" marR="45720" marT="18288" marB="18288" anchor="ctr">
                    <a:solidFill>
                      <a:srgbClr val="F2F2F2"/>
                    </a:solidFill>
                  </a:tcPr>
                </a:tc>
                <a:extLst>
                  <a:ext uri="{0D108BD9-81ED-4DB2-BD59-A6C34878D82A}">
                    <a16:rowId xmlns:a16="http://schemas.microsoft.com/office/drawing/2014/main" val="3779602750"/>
                  </a:ext>
                </a:extLst>
              </a:tr>
              <a:tr h="329184">
                <a:tc>
                  <a:txBody>
                    <a:bodyPr/>
                    <a:lstStyle/>
                    <a:p>
                      <a:pPr algn="l"/>
                      <a:r>
                        <a:rPr lang="en-GB" sz="800" b="1" i="0" noProof="0" dirty="0">
                          <a:solidFill>
                            <a:srgbClr val="1F2533"/>
                          </a:solidFill>
                          <a:latin typeface="Aptos"/>
                        </a:rPr>
                        <a:t>FAC (reporting)</a:t>
                      </a:r>
                    </a:p>
                  </a:txBody>
                  <a:tcPr marL="45720" marR="45720" marT="18288" marB="18288" anchor="ctr">
                    <a:solidFill>
                      <a:srgbClr val="F2F2F2"/>
                    </a:solidFill>
                  </a:tcPr>
                </a:tc>
                <a:tc>
                  <a:txBody>
                    <a:bodyPr/>
                    <a:lstStyle/>
                    <a:p>
                      <a:pPr algn="ctr"/>
                      <a:r>
                        <a:rPr lang="en-GB" sz="800" b="0" i="0" noProof="0" dirty="0">
                          <a:solidFill>
                            <a:srgbClr val="000000"/>
                          </a:solidFill>
                          <a:latin typeface="Aptos"/>
                        </a:rPr>
                        <a:t>0</a:t>
                      </a:r>
                    </a:p>
                  </a:txBody>
                  <a:tcPr marL="45720" marR="45720" marT="18288" marB="18288" anchor="ctr">
                    <a:solidFill>
                      <a:srgbClr val="F2F2F2"/>
                    </a:solidFill>
                  </a:tcPr>
                </a:tc>
                <a:extLst>
                  <a:ext uri="{0D108BD9-81ED-4DB2-BD59-A6C34878D82A}">
                    <a16:rowId xmlns:a16="http://schemas.microsoft.com/office/drawing/2014/main" val="750315343"/>
                  </a:ext>
                </a:extLst>
              </a:tr>
            </a:tbl>
          </a:graphicData>
        </a:graphic>
      </p:graphicFrame>
      <p:sp>
        <p:nvSpPr>
          <p:cNvPr id="337" name="TextBox 65">
            <a:extLst>
              <a:ext uri="{FF2B5EF4-FFF2-40B4-BE49-F238E27FC236}">
                <a16:creationId xmlns:a16="http://schemas.microsoft.com/office/drawing/2014/main" id="{4B3C5755-964A-AF43-709D-ABD5ED2563F6}"/>
              </a:ext>
            </a:extLst>
          </p:cNvPr>
          <p:cNvSpPr txBox="1"/>
          <p:nvPr/>
        </p:nvSpPr>
        <p:spPr>
          <a:xfrm>
            <a:off x="362072" y="4485606"/>
            <a:ext cx="4206240" cy="228600"/>
          </a:xfrm>
          <a:prstGeom prst="rect">
            <a:avLst/>
          </a:prstGeom>
          <a:noFill/>
        </p:spPr>
        <p:txBody>
          <a:bodyPr wrap="square" lIns="45720" tIns="27432" rIns="45720" bIns="27432" anchor="t">
            <a:spAutoFit/>
          </a:bodyPr>
          <a:lstStyle/>
          <a:p>
            <a:pPr algn="ctr"/>
            <a:r>
              <a:rPr lang="en-GB" sz="1000" b="1" i="0" noProof="0" dirty="0">
                <a:solidFill>
                  <a:srgbClr val="013EF5"/>
                </a:solidFill>
                <a:latin typeface="Aptos"/>
              </a:rPr>
              <a:t>TRICF · cases and frequency × 10^6 /HHT</a:t>
            </a:r>
          </a:p>
        </p:txBody>
      </p:sp>
      <p:graphicFrame>
        <p:nvGraphicFramePr>
          <p:cNvPr id="338" name="Chart 66" descr="Native chart with editable data">
            <a:extLst>
              <a:ext uri="{FF2B5EF4-FFF2-40B4-BE49-F238E27FC236}">
                <a16:creationId xmlns:a16="http://schemas.microsoft.com/office/drawing/2014/main" id="{B032AC3C-22DB-210E-E533-444098BFC0DD}"/>
              </a:ext>
            </a:extLst>
          </p:cNvPr>
          <p:cNvGraphicFramePr>
            <a:graphicFrameLocks noGrp="1"/>
          </p:cNvGraphicFramePr>
          <p:nvPr>
            <p:extLst>
              <p:ext uri="{D42A27DB-BD31-4B8C-83A1-F6EECF244321}">
                <p14:modId xmlns:p14="http://schemas.microsoft.com/office/powerpoint/2010/main" val="1010708143"/>
              </p:ext>
            </p:extLst>
          </p:nvPr>
        </p:nvGraphicFramePr>
        <p:xfrm>
          <a:off x="321366" y="4674884"/>
          <a:ext cx="4206240" cy="1508760"/>
        </p:xfrm>
        <a:graphic>
          <a:graphicData uri="http://schemas.openxmlformats.org/drawingml/2006/chart">
            <c:chart xmlns:c="http://schemas.openxmlformats.org/drawingml/2006/chart" xmlns:r="http://schemas.openxmlformats.org/officeDocument/2006/relationships" r:id="rId4"/>
          </a:graphicData>
        </a:graphic>
      </p:graphicFrame>
      <p:sp>
        <p:nvSpPr>
          <p:cNvPr id="339" name="TextBox 67">
            <a:extLst>
              <a:ext uri="{FF2B5EF4-FFF2-40B4-BE49-F238E27FC236}">
                <a16:creationId xmlns:a16="http://schemas.microsoft.com/office/drawing/2014/main" id="{82D3B747-DD21-081B-3CA9-B7764D5E64E6}"/>
              </a:ext>
            </a:extLst>
          </p:cNvPr>
          <p:cNvSpPr txBox="1"/>
          <p:nvPr/>
        </p:nvSpPr>
        <p:spPr>
          <a:xfrm>
            <a:off x="4806299" y="4467751"/>
            <a:ext cx="4206240" cy="209288"/>
          </a:xfrm>
          <a:prstGeom prst="rect">
            <a:avLst/>
          </a:prstGeom>
          <a:noFill/>
        </p:spPr>
        <p:txBody>
          <a:bodyPr wrap="square" lIns="45720" tIns="27432" rIns="45720" bIns="27432" anchor="t">
            <a:spAutoFit/>
          </a:bodyPr>
          <a:lstStyle/>
          <a:p>
            <a:pPr algn="ctr"/>
            <a:r>
              <a:rPr lang="en-GB" sz="1000" b="1" i="0" noProof="0" dirty="0">
                <a:solidFill>
                  <a:srgbClr val="013EF5"/>
                </a:solidFill>
                <a:latin typeface="Aptos"/>
              </a:rPr>
              <a:t>TVCR · cases and frequency × 10^6 /km travelled</a:t>
            </a:r>
          </a:p>
        </p:txBody>
      </p:sp>
      <p:graphicFrame>
        <p:nvGraphicFramePr>
          <p:cNvPr id="340" name="Chart 68" descr="Native chart with editable data">
            <a:extLst>
              <a:ext uri="{FF2B5EF4-FFF2-40B4-BE49-F238E27FC236}">
                <a16:creationId xmlns:a16="http://schemas.microsoft.com/office/drawing/2014/main" id="{B4C86B4E-0BD1-EFDC-BE11-CDDBC6770510}"/>
              </a:ext>
            </a:extLst>
          </p:cNvPr>
          <p:cNvGraphicFramePr>
            <a:graphicFrameLocks noGrp="1"/>
          </p:cNvGraphicFramePr>
          <p:nvPr>
            <p:extLst>
              <p:ext uri="{D42A27DB-BD31-4B8C-83A1-F6EECF244321}">
                <p14:modId xmlns:p14="http://schemas.microsoft.com/office/powerpoint/2010/main" val="384149333"/>
              </p:ext>
            </p:extLst>
          </p:nvPr>
        </p:nvGraphicFramePr>
        <p:xfrm>
          <a:off x="4806299" y="4606705"/>
          <a:ext cx="4206240" cy="1508760"/>
        </p:xfrm>
        <a:graphic>
          <a:graphicData uri="http://schemas.openxmlformats.org/drawingml/2006/chart">
            <c:chart xmlns:c="http://schemas.openxmlformats.org/drawingml/2006/chart" xmlns:r="http://schemas.openxmlformats.org/officeDocument/2006/relationships" r:id="rId5"/>
          </a:graphicData>
        </a:graphic>
      </p:graphicFrame>
      <p:grpSp>
        <p:nvGrpSpPr>
          <p:cNvPr id="341" name="Grupo 340">
            <a:extLst>
              <a:ext uri="{FF2B5EF4-FFF2-40B4-BE49-F238E27FC236}">
                <a16:creationId xmlns:a16="http://schemas.microsoft.com/office/drawing/2014/main" id="{FD9CCFAD-26B8-CE4D-67CD-F35A3F121424}"/>
              </a:ext>
            </a:extLst>
          </p:cNvPr>
          <p:cNvGrpSpPr/>
          <p:nvPr/>
        </p:nvGrpSpPr>
        <p:grpSpPr>
          <a:xfrm>
            <a:off x="1335156" y="2151164"/>
            <a:ext cx="3354229" cy="2105012"/>
            <a:chOff x="549345" y="2101315"/>
            <a:chExt cx="3354229" cy="2105012"/>
          </a:xfrm>
        </p:grpSpPr>
        <p:pic>
          <p:nvPicPr>
            <p:cNvPr id="342" name="Imagen 341">
              <a:extLst>
                <a:ext uri="{FF2B5EF4-FFF2-40B4-BE49-F238E27FC236}">
                  <a16:creationId xmlns:a16="http://schemas.microsoft.com/office/drawing/2014/main" id="{9236B854-5177-8BC2-3878-0872187F253E}"/>
                </a:ext>
              </a:extLst>
            </p:cNvPr>
            <p:cNvPicPr>
              <a:picLocks noChangeAspect="1"/>
            </p:cNvPicPr>
            <p:nvPr/>
          </p:nvPicPr>
          <p:blipFill>
            <a:blip r:embed="rId6"/>
            <a:stretch>
              <a:fillRect/>
            </a:stretch>
          </p:blipFill>
          <p:spPr>
            <a:xfrm>
              <a:off x="549345" y="2101315"/>
              <a:ext cx="3354229" cy="2105012"/>
            </a:xfrm>
            <a:prstGeom prst="rect">
              <a:avLst/>
            </a:prstGeom>
          </p:spPr>
        </p:pic>
        <p:sp>
          <p:nvSpPr>
            <p:cNvPr id="343" name="Valor piramide 1">
              <a:extLst>
                <a:ext uri="{FF2B5EF4-FFF2-40B4-BE49-F238E27FC236}">
                  <a16:creationId xmlns:a16="http://schemas.microsoft.com/office/drawing/2014/main" id="{9E57BF01-7196-98FF-FD27-5F8BB24D0A92}"/>
                </a:ext>
              </a:extLst>
            </p:cNvPr>
            <p:cNvSpPr/>
            <p:nvPr/>
          </p:nvSpPr>
          <p:spPr>
            <a:xfrm>
              <a:off x="1550639" y="2235448"/>
              <a:ext cx="420624" cy="201168"/>
            </a:xfrm>
            <a:prstGeom prst="roundRect">
              <a:avLst>
                <a:gd name="adj" fmla="val 50000"/>
              </a:avLst>
            </a:prstGeom>
            <a:noFill/>
            <a:ln w="9525">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lang="en-GB" sz="1000" b="1" noProof="0" dirty="0">
                  <a:solidFill>
                    <a:schemeClr val="bg1"/>
                  </a:solidFill>
                </a:rPr>
                <a:t>0</a:t>
              </a:r>
            </a:p>
          </p:txBody>
        </p:sp>
        <p:sp>
          <p:nvSpPr>
            <p:cNvPr id="344" name="Valor piramide 2">
              <a:extLst>
                <a:ext uri="{FF2B5EF4-FFF2-40B4-BE49-F238E27FC236}">
                  <a16:creationId xmlns:a16="http://schemas.microsoft.com/office/drawing/2014/main" id="{0670C830-A77D-B461-3C43-3A5B6A094F0A}"/>
                </a:ext>
              </a:extLst>
            </p:cNvPr>
            <p:cNvSpPr/>
            <p:nvPr/>
          </p:nvSpPr>
          <p:spPr>
            <a:xfrm>
              <a:off x="1550639" y="2537183"/>
              <a:ext cx="420624" cy="201168"/>
            </a:xfrm>
            <a:prstGeom prst="roundRect">
              <a:avLst>
                <a:gd name="adj" fmla="val 50000"/>
              </a:avLst>
            </a:prstGeom>
            <a:noFill/>
            <a:ln w="9525">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lang="en-GB" sz="1000" b="1" noProof="0" dirty="0">
                  <a:solidFill>
                    <a:schemeClr val="bg1"/>
                  </a:solidFill>
                </a:rPr>
                <a:t>0</a:t>
              </a:r>
            </a:p>
          </p:txBody>
        </p:sp>
        <p:sp>
          <p:nvSpPr>
            <p:cNvPr id="345" name="Valor piramide 3">
              <a:extLst>
                <a:ext uri="{FF2B5EF4-FFF2-40B4-BE49-F238E27FC236}">
                  <a16:creationId xmlns:a16="http://schemas.microsoft.com/office/drawing/2014/main" id="{0C243396-8977-A389-A79E-BD4F2D396F8C}"/>
                </a:ext>
              </a:extLst>
            </p:cNvPr>
            <p:cNvSpPr/>
            <p:nvPr/>
          </p:nvSpPr>
          <p:spPr>
            <a:xfrm>
              <a:off x="1544289" y="2879477"/>
              <a:ext cx="420624" cy="201168"/>
            </a:xfrm>
            <a:prstGeom prst="roundRect">
              <a:avLst>
                <a:gd name="adj" fmla="val 50000"/>
              </a:avLst>
            </a:prstGeom>
            <a:noFill/>
            <a:ln w="9525">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lang="en-GB" sz="1050" b="1" noProof="0" dirty="0">
                  <a:solidFill>
                    <a:schemeClr val="bg1"/>
                  </a:solidFill>
                </a:rPr>
                <a:t>0</a:t>
              </a:r>
            </a:p>
          </p:txBody>
        </p:sp>
        <p:sp>
          <p:nvSpPr>
            <p:cNvPr id="346" name="Valor piramide 4">
              <a:extLst>
                <a:ext uri="{FF2B5EF4-FFF2-40B4-BE49-F238E27FC236}">
                  <a16:creationId xmlns:a16="http://schemas.microsoft.com/office/drawing/2014/main" id="{4369CC2D-69F9-AC32-7DC0-990A1B9B6DFD}"/>
                </a:ext>
              </a:extLst>
            </p:cNvPr>
            <p:cNvSpPr/>
            <p:nvPr/>
          </p:nvSpPr>
          <p:spPr>
            <a:xfrm>
              <a:off x="1544955" y="3221771"/>
              <a:ext cx="420624" cy="201168"/>
            </a:xfrm>
            <a:prstGeom prst="roundRect">
              <a:avLst>
                <a:gd name="adj" fmla="val 50000"/>
              </a:avLst>
            </a:prstGeom>
            <a:noFill/>
            <a:ln w="9525">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lang="en-GB" sz="1050" b="1" noProof="0" dirty="0">
                  <a:solidFill>
                    <a:schemeClr val="bg1"/>
                  </a:solidFill>
                </a:rPr>
                <a:t>0</a:t>
              </a:r>
            </a:p>
          </p:txBody>
        </p:sp>
        <p:sp>
          <p:nvSpPr>
            <p:cNvPr id="347" name="Valor piramide 4">
              <a:extLst>
                <a:ext uri="{FF2B5EF4-FFF2-40B4-BE49-F238E27FC236}">
                  <a16:creationId xmlns:a16="http://schemas.microsoft.com/office/drawing/2014/main" id="{7101EF34-A45D-F5B8-E7F8-6E8133B934AD}"/>
                </a:ext>
              </a:extLst>
            </p:cNvPr>
            <p:cNvSpPr/>
            <p:nvPr/>
          </p:nvSpPr>
          <p:spPr>
            <a:xfrm>
              <a:off x="1541114" y="3593592"/>
              <a:ext cx="420624" cy="201168"/>
            </a:xfrm>
            <a:prstGeom prst="roundRect">
              <a:avLst>
                <a:gd name="adj" fmla="val 50000"/>
              </a:avLst>
            </a:prstGeom>
            <a:noFill/>
            <a:ln w="9525">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lang="en-GB" sz="1050" b="1" noProof="0" dirty="0">
                  <a:solidFill>
                    <a:schemeClr val="bg1"/>
                  </a:solidFill>
                </a:rPr>
                <a:t>0</a:t>
              </a:r>
            </a:p>
          </p:txBody>
        </p:sp>
        <p:sp>
          <p:nvSpPr>
            <p:cNvPr id="348" name="Valor piramide 4">
              <a:extLst>
                <a:ext uri="{FF2B5EF4-FFF2-40B4-BE49-F238E27FC236}">
                  <a16:creationId xmlns:a16="http://schemas.microsoft.com/office/drawing/2014/main" id="{E3B7BBED-EE76-14DF-9133-20F9C46E8B3F}"/>
                </a:ext>
              </a:extLst>
            </p:cNvPr>
            <p:cNvSpPr/>
            <p:nvPr/>
          </p:nvSpPr>
          <p:spPr>
            <a:xfrm>
              <a:off x="1538605" y="3935886"/>
              <a:ext cx="420624" cy="201168"/>
            </a:xfrm>
            <a:prstGeom prst="roundRect">
              <a:avLst>
                <a:gd name="adj" fmla="val 50000"/>
              </a:avLst>
            </a:prstGeom>
            <a:noFill/>
            <a:ln w="9525">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lang="en-GB" sz="1050" b="1" noProof="0" dirty="0">
                  <a:solidFill>
                    <a:schemeClr val="bg1"/>
                  </a:solidFill>
                </a:rPr>
                <a:t>462</a:t>
              </a:r>
            </a:p>
          </p:txBody>
        </p:sp>
      </p:grpSp>
      <p:sp>
        <p:nvSpPr>
          <p:cNvPr id="349" name="TextBox 76">
            <a:extLst>
              <a:ext uri="{FF2B5EF4-FFF2-40B4-BE49-F238E27FC236}">
                <a16:creationId xmlns:a16="http://schemas.microsoft.com/office/drawing/2014/main" id="{2CBFD08D-6780-86AD-24F6-A6D8EB85B0BC}"/>
              </a:ext>
            </a:extLst>
          </p:cNvPr>
          <p:cNvSpPr txBox="1"/>
          <p:nvPr/>
        </p:nvSpPr>
        <p:spPr>
          <a:xfrm>
            <a:off x="227529" y="6225887"/>
            <a:ext cx="5467696" cy="470898"/>
          </a:xfrm>
          <a:prstGeom prst="rect">
            <a:avLst/>
          </a:prstGeom>
          <a:noFill/>
        </p:spPr>
        <p:txBody>
          <a:bodyPr wrap="square" lIns="45720" tIns="27432" rIns="45720" bIns="27432"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GB" sz="900" noProof="0" dirty="0">
                <a:solidFill>
                  <a:srgbClr val="6B7280"/>
                </a:solidFill>
                <a:latin typeface="Aptos"/>
              </a:rPr>
              <a:t>DAFWCF: lost-time cases × 10^6/ HHT</a:t>
            </a:r>
            <a:endParaRPr lang="en-GB" sz="900" b="0" i="0" noProof="0" dirty="0">
              <a:solidFill>
                <a:srgbClr val="6B7280"/>
              </a:solidFill>
              <a:latin typeface="Aptos"/>
            </a:endParaRPr>
          </a:p>
          <a:p>
            <a:pPr algn="l"/>
            <a:r>
              <a:rPr lang="en-GB" sz="900" b="0" i="0" noProof="0" dirty="0">
                <a:solidFill>
                  <a:srgbClr val="6B7280"/>
                </a:solidFill>
                <a:latin typeface="Aptos"/>
              </a:rPr>
              <a:t>TRICF: recordable cases (FAT + DAFWC + MTC + RWC) × 10^6 / HHT </a:t>
            </a:r>
            <a:endParaRPr lang="en-GB" sz="900" noProof="0" dirty="0">
              <a:solidFill>
                <a:srgbClr val="6B7280"/>
              </a:solidFill>
              <a:latin typeface="Aptos"/>
            </a:endParaRPr>
          </a:p>
          <a:p>
            <a:pPr algn="l"/>
            <a:r>
              <a:rPr lang="en-GB" sz="900" b="0" i="0" noProof="0" dirty="0">
                <a:solidFill>
                  <a:srgbClr val="6B7280"/>
                </a:solidFill>
                <a:latin typeface="Aptos"/>
              </a:rPr>
              <a:t>TVCR</a:t>
            </a:r>
            <a:r>
              <a:rPr lang="en-GB" sz="900" noProof="0" dirty="0">
                <a:solidFill>
                  <a:srgbClr val="6B7280"/>
                </a:solidFill>
                <a:latin typeface="Aptos"/>
              </a:rPr>
              <a:t>: </a:t>
            </a:r>
            <a:r>
              <a:rPr lang="en-GB" sz="900" b="0" i="0" noProof="0" dirty="0">
                <a:solidFill>
                  <a:srgbClr val="6B7280"/>
                </a:solidFill>
                <a:latin typeface="Aptos"/>
              </a:rPr>
              <a:t>Total Number of Work-Related Vehicle Accidents per Million Kilometres Travelled (× 10^6 / km travelled)</a:t>
            </a:r>
          </a:p>
        </p:txBody>
      </p:sp>
      <p:sp>
        <p:nvSpPr>
          <p:cNvPr id="350" name="TextBox 349"/>
          <p:cNvSpPr txBox="1"/>
          <p:nvPr/>
        </p:nvSpPr>
        <p:spPr>
          <a:xfrm>
            <a:off x="8595360" y="6556248"/>
            <a:ext cx="274320" cy="201168"/>
          </a:xfrm>
          <a:prstGeom prst="rect">
            <a:avLst/>
          </a:prstGeom>
          <a:noFill/>
        </p:spPr>
        <p:txBody>
          <a:bodyPr wrap="square" lIns="18288" tIns="0" rIns="18288" bIns="0">
            <a:spAutoFit/>
          </a:bodyPr>
          <a:lstStyle/>
          <a:p>
            <a:pPr algn="r">
              <a:spcAft>
                <a:spcPts val="500"/>
              </a:spcAft>
              <a:defRPr sz="800" b="0">
                <a:solidFill>
                  <a:srgbClr val="68717D"/>
                </a:solidFill>
                <a:latin typeface="DejaVu Sans"/>
              </a:defRPr>
            </a:pPr>
            <a:r>
              <a:t>3</a:t>
            </a:r>
          </a:p>
        </p:txBody>
      </p:sp>
    </p:spTree>
    <p:extLst>
      <p:ext uri="{BB962C8B-B14F-4D97-AF65-F5344CB8AC3E}">
        <p14:creationId xmlns:p14="http://schemas.microsoft.com/office/powerpoint/2010/main" val="39575924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D38ED5-2A35-C47E-F74B-7BE91112C7E3}"/>
            </a:ext>
          </a:extLst>
        </p:cNvPr>
        <p:cNvGrpSpPr/>
        <p:nvPr/>
      </p:nvGrpSpPr>
      <p:grpSpPr>
        <a:xfrm>
          <a:off x="0" y="0"/>
          <a:ext cx="0" cy="0"/>
          <a:chOff x="0" y="0"/>
          <a:chExt cx="0" cy="0"/>
        </a:xfrm>
      </p:grpSpPr>
      <p:sp>
        <p:nvSpPr>
          <p:cNvPr id="8" name="Rectángulo 7">
            <a:extLst>
              <a:ext uri="{FF2B5EF4-FFF2-40B4-BE49-F238E27FC236}">
                <a16:creationId xmlns:a16="http://schemas.microsoft.com/office/drawing/2014/main" id="{E0F0ACF1-FB3B-891E-E4C9-CEDACE965B70}"/>
              </a:ext>
            </a:extLst>
          </p:cNvPr>
          <p:cNvSpPr/>
          <p:nvPr/>
        </p:nvSpPr>
        <p:spPr>
          <a:xfrm>
            <a:off x="0" y="0"/>
            <a:ext cx="9144000" cy="70658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9" name="Título 1">
            <a:extLst>
              <a:ext uri="{FF2B5EF4-FFF2-40B4-BE49-F238E27FC236}">
                <a16:creationId xmlns:a16="http://schemas.microsoft.com/office/drawing/2014/main" id="{2C399A2C-904E-A0D7-BF10-0536804170B1}"/>
              </a:ext>
            </a:extLst>
          </p:cNvPr>
          <p:cNvSpPr txBox="1">
            <a:spLocks/>
          </p:cNvSpPr>
          <p:nvPr/>
        </p:nvSpPr>
        <p:spPr>
          <a:xfrm>
            <a:off x="179509" y="142504"/>
            <a:ext cx="7364291" cy="79006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GB" sz="1800" b="1" noProof="0" dirty="0">
                <a:solidFill>
                  <a:srgbClr val="013EF5"/>
                </a:solidFill>
                <a:latin typeface="Aptos" panose="020B0004020202020204" pitchFamily="34" charset="0"/>
              </a:rPr>
              <a:t>1.</a:t>
            </a:r>
            <a:r>
              <a:rPr lang="en-GB" sz="1800" b="1" dirty="0">
                <a:solidFill>
                  <a:srgbClr val="013EF5"/>
                </a:solidFill>
                <a:latin typeface="Aptos" panose="020B0004020202020204" pitchFamily="34" charset="0"/>
              </a:rPr>
              <a:t>1</a:t>
            </a:r>
            <a:r>
              <a:rPr lang="en-GB" sz="1800" b="1" spc="100" noProof="0" dirty="0">
                <a:solidFill>
                  <a:srgbClr val="013EF5"/>
                </a:solidFill>
                <a:latin typeface="Aptos" panose="020B0004020202020204" pitchFamily="34" charset="0"/>
              </a:rPr>
              <a:t> &gt; DEDICATED GAS PIPELINE UPDATE </a:t>
            </a:r>
            <a:r>
              <a:rPr lang="en-GB" sz="1800" spc="100" noProof="0" dirty="0">
                <a:solidFill>
                  <a:srgbClr val="013EF5"/>
                </a:solidFill>
                <a:latin typeface="Aptos Light" panose="020B0004020202020204" pitchFamily="34" charset="0"/>
              </a:rPr>
              <a:t>&gt; HSE Indicators</a:t>
            </a:r>
          </a:p>
          <a:p>
            <a:pPr algn="l"/>
            <a:endParaRPr lang="en-GB" sz="2400" b="1" noProof="0" dirty="0">
              <a:solidFill>
                <a:srgbClr val="789AF8"/>
              </a:solidFill>
              <a:latin typeface="Calibri" pitchFamily="34" charset="0"/>
            </a:endParaRPr>
          </a:p>
        </p:txBody>
      </p:sp>
      <p:pic>
        <p:nvPicPr>
          <p:cNvPr id="11" name="Imagen 10">
            <a:extLst>
              <a:ext uri="{FF2B5EF4-FFF2-40B4-BE49-F238E27FC236}">
                <a16:creationId xmlns:a16="http://schemas.microsoft.com/office/drawing/2014/main" id="{B890EEC0-89A1-F0FA-6F0E-CA480F8EF46C}"/>
              </a:ext>
            </a:extLst>
          </p:cNvPr>
          <p:cNvPicPr>
            <a:picLocks noChangeAspect="1"/>
          </p:cNvPicPr>
          <p:nvPr/>
        </p:nvPicPr>
        <p:blipFill rotWithShape="1">
          <a:blip r:embed="rId3"/>
          <a:srcRect t="-1" r="54800" b="49955"/>
          <a:stretch/>
        </p:blipFill>
        <p:spPr>
          <a:xfrm>
            <a:off x="8549908" y="117682"/>
            <a:ext cx="274715" cy="232529"/>
          </a:xfrm>
          <a:prstGeom prst="rect">
            <a:avLst/>
          </a:prstGeom>
        </p:spPr>
      </p:pic>
      <p:sp>
        <p:nvSpPr>
          <p:cNvPr id="12" name="CuadroTexto 11">
            <a:extLst>
              <a:ext uri="{FF2B5EF4-FFF2-40B4-BE49-F238E27FC236}">
                <a16:creationId xmlns:a16="http://schemas.microsoft.com/office/drawing/2014/main" id="{8B51CD8C-DB5F-892A-4B92-E56F0244E354}"/>
              </a:ext>
            </a:extLst>
          </p:cNvPr>
          <p:cNvSpPr txBox="1"/>
          <p:nvPr/>
        </p:nvSpPr>
        <p:spPr>
          <a:xfrm>
            <a:off x="8231453" y="321314"/>
            <a:ext cx="1151431" cy="215444"/>
          </a:xfrm>
          <a:prstGeom prst="rect">
            <a:avLst/>
          </a:prstGeom>
          <a:noFill/>
        </p:spPr>
        <p:txBody>
          <a:bodyPr wrap="square" rtlCol="0">
            <a:spAutoFit/>
          </a:bodyPr>
          <a:lstStyle/>
          <a:p>
            <a:r>
              <a:rPr lang="en-GB" sz="800" spc="100" noProof="0" dirty="0">
                <a:solidFill>
                  <a:srgbClr val="FF0000"/>
                </a:solidFill>
                <a:latin typeface="Aptos Display" panose="020B0004020202020204" pitchFamily="34" charset="0"/>
              </a:rPr>
              <a:t>CONFIDENTIAL</a:t>
            </a:r>
          </a:p>
        </p:txBody>
      </p:sp>
      <p:sp>
        <p:nvSpPr>
          <p:cNvPr id="3" name="TextBox 12">
            <a:extLst>
              <a:ext uri="{FF2B5EF4-FFF2-40B4-BE49-F238E27FC236}">
                <a16:creationId xmlns:a16="http://schemas.microsoft.com/office/drawing/2014/main" id="{D331F57A-9A15-C454-D3CA-8567336261AB}"/>
              </a:ext>
            </a:extLst>
          </p:cNvPr>
          <p:cNvSpPr txBox="1"/>
          <p:nvPr/>
        </p:nvSpPr>
        <p:spPr>
          <a:xfrm>
            <a:off x="381000" y="794689"/>
            <a:ext cx="2788920" cy="274320"/>
          </a:xfrm>
          <a:prstGeom prst="rect">
            <a:avLst/>
          </a:prstGeom>
          <a:noFill/>
        </p:spPr>
        <p:txBody>
          <a:bodyPr wrap="square" lIns="45720" tIns="27432" rIns="45720" bIns="27432" anchor="t">
            <a:spAutoFit/>
          </a:bodyPr>
          <a:lstStyle/>
          <a:p>
            <a:pPr algn="ctr"/>
            <a:r>
              <a:rPr lang="en-GB" sz="1100" b="1" i="0" noProof="0" dirty="0">
                <a:solidFill>
                  <a:srgbClr val="013EF5"/>
                </a:solidFill>
                <a:latin typeface="Aptos"/>
              </a:rPr>
              <a:t>MANAGEMENT SAFETY WALKS</a:t>
            </a:r>
          </a:p>
        </p:txBody>
      </p:sp>
      <p:graphicFrame>
        <p:nvGraphicFramePr>
          <p:cNvPr id="5" name="Chart 13" descr="Native chart with editable data">
            <a:extLst>
              <a:ext uri="{FF2B5EF4-FFF2-40B4-BE49-F238E27FC236}">
                <a16:creationId xmlns:a16="http://schemas.microsoft.com/office/drawing/2014/main" id="{58695AB8-7231-6436-3DC9-A4E24AC3422D}"/>
              </a:ext>
            </a:extLst>
          </p:cNvPr>
          <p:cNvGraphicFramePr>
            <a:graphicFrameLocks noGrp="1"/>
          </p:cNvGraphicFramePr>
          <p:nvPr>
            <p:extLst>
              <p:ext uri="{D42A27DB-BD31-4B8C-83A1-F6EECF244321}">
                <p14:modId xmlns:p14="http://schemas.microsoft.com/office/powerpoint/2010/main" val="2515025762"/>
              </p:ext>
            </p:extLst>
          </p:nvPr>
        </p:nvGraphicFramePr>
        <p:xfrm>
          <a:off x="381000" y="1069009"/>
          <a:ext cx="2788920" cy="2377440"/>
        </p:xfrm>
        <a:graphic>
          <a:graphicData uri="http://schemas.openxmlformats.org/drawingml/2006/chart">
            <c:chart xmlns:c="http://schemas.openxmlformats.org/drawingml/2006/chart" xmlns:r="http://schemas.openxmlformats.org/officeDocument/2006/relationships" r:id="rId4"/>
          </a:graphicData>
        </a:graphic>
      </p:graphicFrame>
      <p:sp>
        <p:nvSpPr>
          <p:cNvPr id="10" name="TextBox 14">
            <a:extLst>
              <a:ext uri="{FF2B5EF4-FFF2-40B4-BE49-F238E27FC236}">
                <a16:creationId xmlns:a16="http://schemas.microsoft.com/office/drawing/2014/main" id="{4E51F267-2167-17BA-09B8-2867DB5CA5C9}"/>
              </a:ext>
            </a:extLst>
          </p:cNvPr>
          <p:cNvSpPr txBox="1"/>
          <p:nvPr/>
        </p:nvSpPr>
        <p:spPr>
          <a:xfrm>
            <a:off x="3307079" y="794689"/>
            <a:ext cx="2788920" cy="274320"/>
          </a:xfrm>
          <a:prstGeom prst="rect">
            <a:avLst/>
          </a:prstGeom>
          <a:noFill/>
        </p:spPr>
        <p:txBody>
          <a:bodyPr wrap="square" lIns="45720" tIns="27432" rIns="45720" bIns="27432" anchor="t">
            <a:spAutoFit/>
          </a:bodyPr>
          <a:lstStyle/>
          <a:p>
            <a:pPr algn="ctr"/>
            <a:r>
              <a:rPr lang="en-GB" sz="1100" b="1" i="0" noProof="0" dirty="0">
                <a:solidFill>
                  <a:srgbClr val="013EF5"/>
                </a:solidFill>
                <a:latin typeface="Aptos"/>
              </a:rPr>
              <a:t>SAFETY CAMPAIGNS</a:t>
            </a:r>
          </a:p>
        </p:txBody>
      </p:sp>
      <p:graphicFrame>
        <p:nvGraphicFramePr>
          <p:cNvPr id="14" name="Chart 15" descr="Native chart with editable data">
            <a:extLst>
              <a:ext uri="{FF2B5EF4-FFF2-40B4-BE49-F238E27FC236}">
                <a16:creationId xmlns:a16="http://schemas.microsoft.com/office/drawing/2014/main" id="{A2C96C3B-8CCB-D124-6DE7-9AAAFF435F4F}"/>
              </a:ext>
            </a:extLst>
          </p:cNvPr>
          <p:cNvGraphicFramePr>
            <a:graphicFrameLocks noGrp="1"/>
          </p:cNvGraphicFramePr>
          <p:nvPr>
            <p:extLst>
              <p:ext uri="{D42A27DB-BD31-4B8C-83A1-F6EECF244321}">
                <p14:modId xmlns:p14="http://schemas.microsoft.com/office/powerpoint/2010/main" val="2970168164"/>
              </p:ext>
            </p:extLst>
          </p:nvPr>
        </p:nvGraphicFramePr>
        <p:xfrm>
          <a:off x="3307079" y="1069009"/>
          <a:ext cx="2788920" cy="2377440"/>
        </p:xfrm>
        <a:graphic>
          <a:graphicData uri="http://schemas.openxmlformats.org/drawingml/2006/chart">
            <c:chart xmlns:c="http://schemas.openxmlformats.org/drawingml/2006/chart" xmlns:r="http://schemas.openxmlformats.org/officeDocument/2006/relationships" r:id="rId5"/>
          </a:graphicData>
        </a:graphic>
      </p:graphicFrame>
      <p:sp>
        <p:nvSpPr>
          <p:cNvPr id="16" name="TextBox 16">
            <a:extLst>
              <a:ext uri="{FF2B5EF4-FFF2-40B4-BE49-F238E27FC236}">
                <a16:creationId xmlns:a16="http://schemas.microsoft.com/office/drawing/2014/main" id="{EC91F0D6-1FA5-AF68-0011-D723FD9AA1E0}"/>
              </a:ext>
            </a:extLst>
          </p:cNvPr>
          <p:cNvSpPr txBox="1"/>
          <p:nvPr/>
        </p:nvSpPr>
        <p:spPr>
          <a:xfrm>
            <a:off x="6233159" y="794689"/>
            <a:ext cx="2788920" cy="274320"/>
          </a:xfrm>
          <a:prstGeom prst="rect">
            <a:avLst/>
          </a:prstGeom>
          <a:noFill/>
        </p:spPr>
        <p:txBody>
          <a:bodyPr wrap="square" lIns="45720" tIns="27432" rIns="45720" bIns="27432" anchor="t">
            <a:spAutoFit/>
          </a:bodyPr>
          <a:lstStyle/>
          <a:p>
            <a:pPr algn="ctr"/>
            <a:r>
              <a:rPr lang="en-GB" sz="1100" b="1" i="0" noProof="0" dirty="0">
                <a:solidFill>
                  <a:srgbClr val="013EF5"/>
                </a:solidFill>
                <a:latin typeface="Aptos"/>
              </a:rPr>
              <a:t>DRILLS · target 100%</a:t>
            </a:r>
          </a:p>
        </p:txBody>
      </p:sp>
      <p:graphicFrame>
        <p:nvGraphicFramePr>
          <p:cNvPr id="18" name="Chart 17" descr="Native chart with editable data">
            <a:extLst>
              <a:ext uri="{FF2B5EF4-FFF2-40B4-BE49-F238E27FC236}">
                <a16:creationId xmlns:a16="http://schemas.microsoft.com/office/drawing/2014/main" id="{7EB08AF2-ABD5-EE61-7AC8-436EB8ACDEB1}"/>
              </a:ext>
            </a:extLst>
          </p:cNvPr>
          <p:cNvGraphicFramePr>
            <a:graphicFrameLocks noGrp="1"/>
          </p:cNvGraphicFramePr>
          <p:nvPr>
            <p:extLst>
              <p:ext uri="{D42A27DB-BD31-4B8C-83A1-F6EECF244321}">
                <p14:modId xmlns:p14="http://schemas.microsoft.com/office/powerpoint/2010/main" val="488043886"/>
              </p:ext>
            </p:extLst>
          </p:nvPr>
        </p:nvGraphicFramePr>
        <p:xfrm>
          <a:off x="6233159" y="1069009"/>
          <a:ext cx="2788920" cy="2377440"/>
        </p:xfrm>
        <a:graphic>
          <a:graphicData uri="http://schemas.openxmlformats.org/drawingml/2006/chart">
            <c:chart xmlns:c="http://schemas.openxmlformats.org/drawingml/2006/chart" xmlns:r="http://schemas.openxmlformats.org/officeDocument/2006/relationships" r:id="rId6"/>
          </a:graphicData>
        </a:graphic>
      </p:graphicFrame>
      <p:sp>
        <p:nvSpPr>
          <p:cNvPr id="20" name="TextBox 18">
            <a:extLst>
              <a:ext uri="{FF2B5EF4-FFF2-40B4-BE49-F238E27FC236}">
                <a16:creationId xmlns:a16="http://schemas.microsoft.com/office/drawing/2014/main" id="{61D18694-D4DC-230D-C61D-8C54A37D213A}"/>
              </a:ext>
            </a:extLst>
          </p:cNvPr>
          <p:cNvSpPr txBox="1"/>
          <p:nvPr/>
        </p:nvSpPr>
        <p:spPr>
          <a:xfrm>
            <a:off x="381000" y="3537889"/>
            <a:ext cx="2788920" cy="274320"/>
          </a:xfrm>
          <a:prstGeom prst="rect">
            <a:avLst/>
          </a:prstGeom>
          <a:noFill/>
        </p:spPr>
        <p:txBody>
          <a:bodyPr wrap="square" lIns="45720" tIns="27432" rIns="45720" bIns="27432" anchor="t">
            <a:spAutoFit/>
          </a:bodyPr>
          <a:lstStyle/>
          <a:p>
            <a:pPr algn="ctr"/>
            <a:r>
              <a:rPr lang="en-GB" sz="1100" b="1" i="0" noProof="0" dirty="0">
                <a:solidFill>
                  <a:srgbClr val="013EF5"/>
                </a:solidFill>
                <a:latin typeface="Aptos"/>
              </a:rPr>
              <a:t>OBSERVATIONS (OCS)</a:t>
            </a:r>
          </a:p>
        </p:txBody>
      </p:sp>
      <p:graphicFrame>
        <p:nvGraphicFramePr>
          <p:cNvPr id="22" name="Chart 19" descr="Native chart with editable data">
            <a:extLst>
              <a:ext uri="{FF2B5EF4-FFF2-40B4-BE49-F238E27FC236}">
                <a16:creationId xmlns:a16="http://schemas.microsoft.com/office/drawing/2014/main" id="{2658C3DD-B27F-8480-D031-139285FA1F4B}"/>
              </a:ext>
            </a:extLst>
          </p:cNvPr>
          <p:cNvGraphicFramePr>
            <a:graphicFrameLocks noGrp="1"/>
          </p:cNvGraphicFramePr>
          <p:nvPr>
            <p:extLst>
              <p:ext uri="{D42A27DB-BD31-4B8C-83A1-F6EECF244321}">
                <p14:modId xmlns:p14="http://schemas.microsoft.com/office/powerpoint/2010/main" val="1923445622"/>
              </p:ext>
            </p:extLst>
          </p:nvPr>
        </p:nvGraphicFramePr>
        <p:xfrm>
          <a:off x="381000" y="3812209"/>
          <a:ext cx="2788920" cy="2377440"/>
        </p:xfrm>
        <a:graphic>
          <a:graphicData uri="http://schemas.openxmlformats.org/drawingml/2006/chart">
            <c:chart xmlns:c="http://schemas.openxmlformats.org/drawingml/2006/chart" xmlns:r="http://schemas.openxmlformats.org/officeDocument/2006/relationships" r:id="rId7"/>
          </a:graphicData>
        </a:graphic>
      </p:graphicFrame>
      <p:sp>
        <p:nvSpPr>
          <p:cNvPr id="24" name="TextBox 20">
            <a:extLst>
              <a:ext uri="{FF2B5EF4-FFF2-40B4-BE49-F238E27FC236}">
                <a16:creationId xmlns:a16="http://schemas.microsoft.com/office/drawing/2014/main" id="{0152E4B8-96E8-1C68-8836-B7FCFFCF783C}"/>
              </a:ext>
            </a:extLst>
          </p:cNvPr>
          <p:cNvSpPr txBox="1"/>
          <p:nvPr/>
        </p:nvSpPr>
        <p:spPr>
          <a:xfrm>
            <a:off x="3307079" y="3537889"/>
            <a:ext cx="2788920" cy="274320"/>
          </a:xfrm>
          <a:prstGeom prst="rect">
            <a:avLst/>
          </a:prstGeom>
          <a:noFill/>
        </p:spPr>
        <p:txBody>
          <a:bodyPr wrap="square" lIns="45720" tIns="27432" rIns="45720" bIns="27432" anchor="t">
            <a:spAutoFit/>
          </a:bodyPr>
          <a:lstStyle/>
          <a:p>
            <a:pPr algn="ctr"/>
            <a:r>
              <a:rPr lang="en-GB" sz="1100" b="1" i="0" noProof="0" dirty="0">
                <a:solidFill>
                  <a:srgbClr val="013EF5"/>
                </a:solidFill>
                <a:latin typeface="Aptos"/>
              </a:rPr>
              <a:t>TRAINING HOURS (HHS)</a:t>
            </a:r>
          </a:p>
        </p:txBody>
      </p:sp>
      <p:graphicFrame>
        <p:nvGraphicFramePr>
          <p:cNvPr id="26" name="Chart 21" descr="Native chart with editable data">
            <a:extLst>
              <a:ext uri="{FF2B5EF4-FFF2-40B4-BE49-F238E27FC236}">
                <a16:creationId xmlns:a16="http://schemas.microsoft.com/office/drawing/2014/main" id="{BCB62A62-0DB2-A0BC-09BE-6982A6BCC40D}"/>
              </a:ext>
            </a:extLst>
          </p:cNvPr>
          <p:cNvGraphicFramePr>
            <a:graphicFrameLocks noGrp="1"/>
          </p:cNvGraphicFramePr>
          <p:nvPr>
            <p:extLst>
              <p:ext uri="{D42A27DB-BD31-4B8C-83A1-F6EECF244321}">
                <p14:modId xmlns:p14="http://schemas.microsoft.com/office/powerpoint/2010/main" val="277859523"/>
              </p:ext>
            </p:extLst>
          </p:nvPr>
        </p:nvGraphicFramePr>
        <p:xfrm>
          <a:off x="3307079" y="3812209"/>
          <a:ext cx="2788920" cy="2377440"/>
        </p:xfrm>
        <a:graphic>
          <a:graphicData uri="http://schemas.openxmlformats.org/drawingml/2006/chart">
            <c:chart xmlns:c="http://schemas.openxmlformats.org/drawingml/2006/chart" xmlns:r="http://schemas.openxmlformats.org/officeDocument/2006/relationships" r:id="rId8"/>
          </a:graphicData>
        </a:graphic>
      </p:graphicFrame>
      <p:sp>
        <p:nvSpPr>
          <p:cNvPr id="28" name="TextBox 22">
            <a:extLst>
              <a:ext uri="{FF2B5EF4-FFF2-40B4-BE49-F238E27FC236}">
                <a16:creationId xmlns:a16="http://schemas.microsoft.com/office/drawing/2014/main" id="{C6961150-A039-40B7-E722-68CC2881593A}"/>
              </a:ext>
            </a:extLst>
          </p:cNvPr>
          <p:cNvSpPr txBox="1"/>
          <p:nvPr/>
        </p:nvSpPr>
        <p:spPr>
          <a:xfrm>
            <a:off x="6233159" y="3537889"/>
            <a:ext cx="2788920" cy="274320"/>
          </a:xfrm>
          <a:prstGeom prst="rect">
            <a:avLst/>
          </a:prstGeom>
          <a:noFill/>
        </p:spPr>
        <p:txBody>
          <a:bodyPr wrap="square" lIns="45720" tIns="27432" rIns="45720" bIns="27432" anchor="t">
            <a:spAutoFit/>
          </a:bodyPr>
          <a:lstStyle/>
          <a:p>
            <a:pPr algn="ctr"/>
            <a:r>
              <a:rPr lang="en-GB" sz="1100" b="1" i="0" noProof="0" dirty="0">
                <a:solidFill>
                  <a:srgbClr val="013EF5"/>
                </a:solidFill>
                <a:latin typeface="Aptos"/>
              </a:rPr>
              <a:t>TRAINING · REPORTED VALUE</a:t>
            </a:r>
          </a:p>
        </p:txBody>
      </p:sp>
      <p:sp>
        <p:nvSpPr>
          <p:cNvPr id="30" name="Rectangle 23">
            <a:extLst>
              <a:ext uri="{FF2B5EF4-FFF2-40B4-BE49-F238E27FC236}">
                <a16:creationId xmlns:a16="http://schemas.microsoft.com/office/drawing/2014/main" id="{C37A13CB-74CB-D27A-FB82-99353280DAC7}"/>
              </a:ext>
            </a:extLst>
          </p:cNvPr>
          <p:cNvSpPr/>
          <p:nvPr/>
        </p:nvSpPr>
        <p:spPr>
          <a:xfrm>
            <a:off x="6233159" y="3949369"/>
            <a:ext cx="2788920" cy="105156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noProof="0" dirty="0"/>
          </a:p>
        </p:txBody>
      </p:sp>
      <p:sp>
        <p:nvSpPr>
          <p:cNvPr id="32" name="Rectangle 24">
            <a:extLst>
              <a:ext uri="{FF2B5EF4-FFF2-40B4-BE49-F238E27FC236}">
                <a16:creationId xmlns:a16="http://schemas.microsoft.com/office/drawing/2014/main" id="{F3BB9DD9-0402-2C9F-53F9-2AC98391C00E}"/>
              </a:ext>
            </a:extLst>
          </p:cNvPr>
          <p:cNvSpPr/>
          <p:nvPr/>
        </p:nvSpPr>
        <p:spPr>
          <a:xfrm>
            <a:off x="6233159" y="3949369"/>
            <a:ext cx="54864" cy="1051560"/>
          </a:xfrm>
          <a:prstGeom prst="rect">
            <a:avLst/>
          </a:prstGeom>
          <a:solidFill>
            <a:srgbClr val="013E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noProof="0" dirty="0"/>
          </a:p>
        </p:txBody>
      </p:sp>
      <p:sp>
        <p:nvSpPr>
          <p:cNvPr id="34" name="TextBox 25">
            <a:extLst>
              <a:ext uri="{FF2B5EF4-FFF2-40B4-BE49-F238E27FC236}">
                <a16:creationId xmlns:a16="http://schemas.microsoft.com/office/drawing/2014/main" id="{1AF1B5D1-3AED-7700-77BB-1A8728F37FC4}"/>
              </a:ext>
            </a:extLst>
          </p:cNvPr>
          <p:cNvSpPr txBox="1"/>
          <p:nvPr/>
        </p:nvSpPr>
        <p:spPr>
          <a:xfrm>
            <a:off x="6324599" y="3976801"/>
            <a:ext cx="2651760" cy="228600"/>
          </a:xfrm>
          <a:prstGeom prst="rect">
            <a:avLst/>
          </a:prstGeom>
          <a:noFill/>
        </p:spPr>
        <p:txBody>
          <a:bodyPr wrap="square" lIns="45720" tIns="27432" rIns="45720" bIns="27432" anchor="t">
            <a:spAutoFit/>
          </a:bodyPr>
          <a:lstStyle/>
          <a:p>
            <a:pPr algn="l"/>
            <a:r>
              <a:rPr lang="en-GB" sz="900" b="1" i="0" noProof="0" dirty="0">
                <a:solidFill>
                  <a:srgbClr val="6B7280"/>
                </a:solidFill>
                <a:latin typeface="Aptos"/>
              </a:rPr>
              <a:t>Training % vs HHT</a:t>
            </a:r>
          </a:p>
        </p:txBody>
      </p:sp>
      <p:sp>
        <p:nvSpPr>
          <p:cNvPr id="36" name="TextBox 26">
            <a:extLst>
              <a:ext uri="{FF2B5EF4-FFF2-40B4-BE49-F238E27FC236}">
                <a16:creationId xmlns:a16="http://schemas.microsoft.com/office/drawing/2014/main" id="{9A268931-9A9F-7C40-6181-4C5A865CFCF7}"/>
              </a:ext>
            </a:extLst>
          </p:cNvPr>
          <p:cNvSpPr txBox="1"/>
          <p:nvPr/>
        </p:nvSpPr>
        <p:spPr>
          <a:xfrm>
            <a:off x="6324599" y="4196257"/>
            <a:ext cx="2651760" cy="457200"/>
          </a:xfrm>
          <a:prstGeom prst="rect">
            <a:avLst/>
          </a:prstGeom>
          <a:noFill/>
        </p:spPr>
        <p:txBody>
          <a:bodyPr wrap="square" lIns="45720" tIns="27432" rIns="45720" bIns="27432" anchor="t">
            <a:spAutoFit/>
          </a:bodyPr>
          <a:lstStyle/>
          <a:p>
            <a:pPr algn="l"/>
            <a:r>
              <a:rPr lang="en-GB" sz="2800" b="1" i="0" noProof="0" dirty="0">
                <a:solidFill>
                  <a:srgbClr val="013EF5"/>
                </a:solidFill>
                <a:latin typeface="Aptos"/>
              </a:rPr>
              <a:t>2.87%</a:t>
            </a:r>
          </a:p>
        </p:txBody>
      </p:sp>
      <p:sp>
        <p:nvSpPr>
          <p:cNvPr id="38" name="TextBox 27">
            <a:extLst>
              <a:ext uri="{FF2B5EF4-FFF2-40B4-BE49-F238E27FC236}">
                <a16:creationId xmlns:a16="http://schemas.microsoft.com/office/drawing/2014/main" id="{82622D5F-AA6B-F48D-A8DA-9A5F4218E01E}"/>
              </a:ext>
            </a:extLst>
          </p:cNvPr>
          <p:cNvSpPr txBox="1"/>
          <p:nvPr/>
        </p:nvSpPr>
        <p:spPr>
          <a:xfrm>
            <a:off x="6324599" y="4635168"/>
            <a:ext cx="2651760" cy="347472"/>
          </a:xfrm>
          <a:prstGeom prst="rect">
            <a:avLst/>
          </a:prstGeom>
          <a:noFill/>
        </p:spPr>
        <p:txBody>
          <a:bodyPr wrap="square" lIns="45720" tIns="27432" rIns="45720" bIns="27432" anchor="t">
            <a:spAutoFit/>
          </a:bodyPr>
          <a:lstStyle/>
          <a:p>
            <a:pPr algn="l"/>
            <a:r>
              <a:rPr lang="en-GB" sz="800" b="0" i="0" noProof="0" dirty="0">
                <a:solidFill>
                  <a:srgbClr val="6B7280"/>
                </a:solidFill>
                <a:latin typeface="Aptos"/>
              </a:rPr>
              <a:t>HHS / HHT · CP + Pipeline · target ≥ 1%</a:t>
            </a:r>
          </a:p>
        </p:txBody>
      </p:sp>
      <p:sp>
        <p:nvSpPr>
          <p:cNvPr id="39" name="TextBox 38"/>
          <p:cNvSpPr txBox="1"/>
          <p:nvPr/>
        </p:nvSpPr>
        <p:spPr>
          <a:xfrm>
            <a:off x="3474720" y="6601968"/>
            <a:ext cx="4389120" cy="155448"/>
          </a:xfrm>
          <a:prstGeom prst="rect">
            <a:avLst/>
          </a:prstGeom>
          <a:noFill/>
        </p:spPr>
        <p:txBody>
          <a:bodyPr wrap="square" lIns="18288" tIns="0" rIns="18288" bIns="0">
            <a:spAutoFit/>
          </a:bodyPr>
          <a:lstStyle/>
          <a:p>
            <a:pPr>
              <a:spcAft>
                <a:spcPts val="500"/>
              </a:spcAft>
              <a:defRPr sz="650" b="0">
                <a:solidFill>
                  <a:srgbClr val="68717D"/>
                </a:solidFill>
                <a:latin typeface="DejaVu Sans"/>
              </a:defRPr>
            </a:pPr>
            <a:r>
              <a:t>WORKING DRAFT · 27 OCT 2026</a:t>
            </a:r>
          </a:p>
        </p:txBody>
      </p:sp>
      <p:sp>
        <p:nvSpPr>
          <p:cNvPr id="40" name="TextBox 39"/>
          <p:cNvSpPr txBox="1"/>
          <p:nvPr/>
        </p:nvSpPr>
        <p:spPr>
          <a:xfrm>
            <a:off x="8595360" y="6556248"/>
            <a:ext cx="274320" cy="201168"/>
          </a:xfrm>
          <a:prstGeom prst="rect">
            <a:avLst/>
          </a:prstGeom>
          <a:noFill/>
        </p:spPr>
        <p:txBody>
          <a:bodyPr wrap="square" lIns="18288" tIns="0" rIns="18288" bIns="0">
            <a:spAutoFit/>
          </a:bodyPr>
          <a:lstStyle/>
          <a:p>
            <a:pPr algn="r">
              <a:spcAft>
                <a:spcPts val="500"/>
              </a:spcAft>
              <a:defRPr sz="800" b="0">
                <a:solidFill>
                  <a:srgbClr val="68717D"/>
                </a:solidFill>
                <a:latin typeface="DejaVu Sans"/>
              </a:defRPr>
            </a:pPr>
            <a:r>
              <a:t>4</a:t>
            </a:r>
          </a:p>
        </p:txBody>
      </p:sp>
    </p:spTree>
    <p:extLst>
      <p:ext uri="{BB962C8B-B14F-4D97-AF65-F5344CB8AC3E}">
        <p14:creationId xmlns:p14="http://schemas.microsoft.com/office/powerpoint/2010/main" val="29715879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E0F0ACF1-FB3B-891E-E4C9-CEDACE965B70}"/>
              </a:ext>
            </a:extLst>
          </p:cNvPr>
          <p:cNvSpPr/>
          <p:nvPr/>
        </p:nvSpPr>
        <p:spPr>
          <a:xfrm>
            <a:off x="0" y="0"/>
            <a:ext cx="9144000" cy="70658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9" name="Título 1">
            <a:extLst>
              <a:ext uri="{FF2B5EF4-FFF2-40B4-BE49-F238E27FC236}">
                <a16:creationId xmlns:a16="http://schemas.microsoft.com/office/drawing/2014/main" id="{2C399A2C-904E-A0D7-BF10-0536804170B1}"/>
              </a:ext>
            </a:extLst>
          </p:cNvPr>
          <p:cNvSpPr txBox="1">
            <a:spLocks/>
          </p:cNvSpPr>
          <p:nvPr/>
        </p:nvSpPr>
        <p:spPr>
          <a:xfrm>
            <a:off x="179509" y="142504"/>
            <a:ext cx="7863840" cy="475488"/>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sz="1400" b="1">
                <a:solidFill>
                  <a:srgbClr val="013EF5"/>
                </a:solidFill>
                <a:latin typeface="DejaVu Sans"/>
              </a:rPr>
              <a:t>1.2 &gt; DEDICATED GAS PIPELINE UPDATE &gt; Safety | October Highlights</a:t>
            </a:r>
          </a:p>
        </p:txBody>
      </p:sp>
      <p:pic>
        <p:nvPicPr>
          <p:cNvPr id="11" name="Imagen 10">
            <a:extLst>
              <a:ext uri="{FF2B5EF4-FFF2-40B4-BE49-F238E27FC236}">
                <a16:creationId xmlns:a16="http://schemas.microsoft.com/office/drawing/2014/main" id="{B890EEC0-89A1-F0FA-6F0E-CA480F8EF46C}"/>
              </a:ext>
            </a:extLst>
          </p:cNvPr>
          <p:cNvPicPr>
            <a:picLocks noChangeAspect="1"/>
          </p:cNvPicPr>
          <p:nvPr/>
        </p:nvPicPr>
        <p:blipFill rotWithShape="1">
          <a:blip r:embed="rId3"/>
          <a:srcRect t="-1" r="54800" b="49955"/>
          <a:stretch/>
        </p:blipFill>
        <p:spPr>
          <a:xfrm>
            <a:off x="8549908" y="117682"/>
            <a:ext cx="274715" cy="232529"/>
          </a:xfrm>
          <a:prstGeom prst="rect">
            <a:avLst/>
          </a:prstGeom>
        </p:spPr>
      </p:pic>
      <p:sp>
        <p:nvSpPr>
          <p:cNvPr id="12" name="CuadroTexto 11">
            <a:extLst>
              <a:ext uri="{FF2B5EF4-FFF2-40B4-BE49-F238E27FC236}">
                <a16:creationId xmlns:a16="http://schemas.microsoft.com/office/drawing/2014/main" id="{8B51CD8C-DB5F-892A-4B92-E56F0244E354}"/>
              </a:ext>
            </a:extLst>
          </p:cNvPr>
          <p:cNvSpPr txBox="1"/>
          <p:nvPr/>
        </p:nvSpPr>
        <p:spPr>
          <a:xfrm>
            <a:off x="8231453" y="321314"/>
            <a:ext cx="1151431" cy="215444"/>
          </a:xfrm>
          <a:prstGeom prst="rect">
            <a:avLst/>
          </a:prstGeom>
          <a:noFill/>
        </p:spPr>
        <p:txBody>
          <a:bodyPr wrap="square" rtlCol="0">
            <a:spAutoFit/>
          </a:bodyPr>
          <a:lstStyle/>
          <a:p>
            <a:r>
              <a:rPr lang="en-GB" sz="800" spc="100" noProof="0" dirty="0">
                <a:solidFill>
                  <a:srgbClr val="FF0000"/>
                </a:solidFill>
                <a:latin typeface="Aptos Display" panose="020B0004020202020204" pitchFamily="34" charset="0"/>
              </a:rPr>
              <a:t>CONFIDENTIAL</a:t>
            </a:r>
          </a:p>
        </p:txBody>
      </p:sp>
      <p:sp>
        <p:nvSpPr>
          <p:cNvPr id="23" name="TextBox 22"/>
          <p:cNvSpPr txBox="1"/>
          <p:nvPr/>
        </p:nvSpPr>
        <p:spPr>
          <a:xfrm>
            <a:off x="3474720" y="6601968"/>
            <a:ext cx="4389120" cy="155448"/>
          </a:xfrm>
          <a:prstGeom prst="rect">
            <a:avLst/>
          </a:prstGeom>
          <a:noFill/>
        </p:spPr>
        <p:txBody>
          <a:bodyPr wrap="square" lIns="18288" tIns="0" rIns="18288" bIns="0">
            <a:spAutoFit/>
          </a:bodyPr>
          <a:lstStyle/>
          <a:p>
            <a:pPr>
              <a:spcAft>
                <a:spcPts val="500"/>
              </a:spcAft>
              <a:defRPr sz="650" b="0">
                <a:solidFill>
                  <a:srgbClr val="68717D"/>
                </a:solidFill>
                <a:latin typeface="DejaVu Sans"/>
              </a:defRPr>
            </a:pPr>
            <a:r>
              <a:t>WORKING DRAFT · 27 OCT 2026</a:t>
            </a:r>
          </a:p>
        </p:txBody>
      </p:sp>
      <p:sp>
        <p:nvSpPr>
          <p:cNvPr id="24" name="TextBox 23"/>
          <p:cNvSpPr txBox="1"/>
          <p:nvPr/>
        </p:nvSpPr>
        <p:spPr>
          <a:xfrm>
            <a:off x="8595360" y="6556248"/>
            <a:ext cx="274320" cy="201168"/>
          </a:xfrm>
          <a:prstGeom prst="rect">
            <a:avLst/>
          </a:prstGeom>
          <a:noFill/>
        </p:spPr>
        <p:txBody>
          <a:bodyPr wrap="square" lIns="18288" tIns="0" rIns="18288" bIns="0">
            <a:spAutoFit/>
          </a:bodyPr>
          <a:lstStyle/>
          <a:p>
            <a:pPr algn="r">
              <a:spcAft>
                <a:spcPts val="500"/>
              </a:spcAft>
              <a:defRPr sz="800" b="0">
                <a:solidFill>
                  <a:srgbClr val="68717D"/>
                </a:solidFill>
                <a:latin typeface="DejaVu Sans"/>
              </a:defRPr>
            </a:pPr>
            <a:r>
              <a:t>5</a:t>
            </a:r>
          </a:p>
        </p:txBody>
      </p:sp>
      <p:sp>
        <p:nvSpPr>
          <p:cNvPr id="25" name="TextBox 24"/>
          <p:cNvSpPr txBox="1"/>
          <p:nvPr/>
        </p:nvSpPr>
        <p:spPr>
          <a:xfrm>
            <a:off x="420624" y="886968"/>
            <a:ext cx="8302752" cy="365760"/>
          </a:xfrm>
          <a:prstGeom prst="rect">
            <a:avLst/>
          </a:prstGeom>
          <a:noFill/>
        </p:spPr>
        <p:txBody>
          <a:bodyPr wrap="square" lIns="13716" tIns="0" rIns="13716" bIns="0">
            <a:spAutoFit/>
          </a:bodyPr>
          <a:lstStyle/>
          <a:p>
            <a:pPr>
              <a:lnSpc>
                <a:spcPct val="112000"/>
              </a:lnSpc>
              <a:spcAft>
                <a:spcPts val="0"/>
              </a:spcAft>
            </a:pPr>
            <a:r>
              <a:rPr sz="1100" b="1">
                <a:solidFill>
                  <a:srgbClr val="013EF5"/>
                </a:solidFill>
                <a:latin typeface="DejaVu Sans"/>
              </a:rPr>
              <a:t>OCTOBER 2026 · GENERAL HSE HIGHLIGHTS · cut-off 27 Oct</a:t>
            </a:r>
          </a:p>
        </p:txBody>
      </p:sp>
      <p:sp>
        <p:nvSpPr>
          <p:cNvPr id="26" name="Rounded Rectangle 25"/>
          <p:cNvSpPr/>
          <p:nvPr/>
        </p:nvSpPr>
        <p:spPr>
          <a:xfrm>
            <a:off x="420624" y="1417320"/>
            <a:ext cx="8302752" cy="1325880"/>
          </a:xfrm>
          <a:prstGeom prst="roundRect">
            <a:avLst>
              <a:gd name="adj" fmla="val 7000"/>
            </a:avLst>
          </a:prstGeom>
          <a:solidFill>
            <a:srgbClr val="F3F6FC"/>
          </a:solidFill>
          <a:ln w="8890">
            <a:solidFill>
              <a:srgbClr val="E6EB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20624" y="1508760"/>
            <a:ext cx="41148" cy="1143000"/>
          </a:xfrm>
          <a:prstGeom prst="rect">
            <a:avLst/>
          </a:prstGeom>
          <a:solidFill>
            <a:srgbClr val="013E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676656" y="1709928"/>
            <a:ext cx="731520" cy="731520"/>
          </a:xfrm>
          <a:prstGeom prst="ellipse">
            <a:avLst/>
          </a:prstGeom>
          <a:solidFill>
            <a:srgbClr val="013E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9" name="Connector 28"/>
          <p:cNvCxnSpPr/>
          <p:nvPr/>
        </p:nvCxnSpPr>
        <p:spPr>
          <a:xfrm flipH="1">
            <a:off x="841247" y="1865376"/>
            <a:ext cx="201169" cy="402336"/>
          </a:xfrm>
          <a:prstGeom prst="line">
            <a:avLst/>
          </a:prstGeom>
          <a:ln w="2159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1042416" y="1865376"/>
            <a:ext cx="201168" cy="402336"/>
          </a:xfrm>
          <a:prstGeom prst="line">
            <a:avLst/>
          </a:prstGeom>
          <a:ln w="2159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1042416" y="1865376"/>
            <a:ext cx="0" cy="429768"/>
          </a:xfrm>
          <a:prstGeom prst="line">
            <a:avLst/>
          </a:prstGeom>
          <a:ln w="2159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886968" y="2212848"/>
            <a:ext cx="310896" cy="0"/>
          </a:xfrm>
          <a:prstGeom prst="line">
            <a:avLst/>
          </a:prstGeom>
          <a:ln w="15240">
            <a:solidFill>
              <a:srgbClr val="FFFFFF"/>
            </a:solidFill>
          </a:ln>
        </p:spPr>
        <p:style>
          <a:lnRef idx="2">
            <a:schemeClr val="accent1"/>
          </a:lnRef>
          <a:fillRef idx="0">
            <a:schemeClr val="accent1"/>
          </a:fillRef>
          <a:effectRef idx="1">
            <a:schemeClr val="accent1"/>
          </a:effectRef>
          <a:fontRef idx="minor">
            <a:schemeClr val="tx1"/>
          </a:fontRef>
        </p:style>
      </p:cxnSp>
      <p:sp>
        <p:nvSpPr>
          <p:cNvPr id="33" name="Oval 32"/>
          <p:cNvSpPr/>
          <p:nvPr/>
        </p:nvSpPr>
        <p:spPr>
          <a:xfrm>
            <a:off x="1005840" y="1819656"/>
            <a:ext cx="73152" cy="7315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664208" y="1581912"/>
            <a:ext cx="6720840" cy="292608"/>
          </a:xfrm>
          <a:prstGeom prst="rect">
            <a:avLst/>
          </a:prstGeom>
          <a:noFill/>
        </p:spPr>
        <p:txBody>
          <a:bodyPr wrap="square" lIns="0" rIns="0" tIns="0" bIns="0">
            <a:spAutoFit/>
          </a:bodyPr>
          <a:lstStyle/>
          <a:p>
            <a:pPr>
              <a:lnSpc>
                <a:spcPct val="113000"/>
              </a:lnSpc>
              <a:spcAft>
                <a:spcPts val="0"/>
              </a:spcAft>
            </a:pPr>
            <a:r>
              <a:rPr sz="1260" b="1">
                <a:solidFill>
                  <a:srgbClr val="013EF5"/>
                </a:solidFill>
                <a:latin typeface="DejaVu Sans"/>
              </a:rPr>
              <a:t>RESCUE EQUIPMENT</a:t>
            </a:r>
          </a:p>
        </p:txBody>
      </p:sp>
      <p:sp>
        <p:nvSpPr>
          <p:cNvPr id="35" name="TextBox 34"/>
          <p:cNvSpPr txBox="1"/>
          <p:nvPr/>
        </p:nvSpPr>
        <p:spPr>
          <a:xfrm>
            <a:off x="1664208" y="2011680"/>
            <a:ext cx="6693408" cy="594360"/>
          </a:xfrm>
          <a:prstGeom prst="rect">
            <a:avLst/>
          </a:prstGeom>
          <a:noFill/>
        </p:spPr>
        <p:txBody>
          <a:bodyPr wrap="square" lIns="0" rIns="0" tIns="0" bIns="0">
            <a:spAutoFit/>
          </a:bodyPr>
          <a:lstStyle/>
          <a:p>
            <a:pPr>
              <a:lnSpc>
                <a:spcPct val="113000"/>
              </a:lnSpc>
              <a:spcAft>
                <a:spcPts val="0"/>
              </a:spcAft>
            </a:pPr>
            <a:r>
              <a:rPr sz="1440" b="0">
                <a:solidFill>
                  <a:srgbClr val="27364A"/>
                </a:solidFill>
                <a:latin typeface="DejaVu Sans"/>
              </a:rPr>
              <a:t>All confined space rescue equipment was received on site.</a:t>
            </a:r>
          </a:p>
        </p:txBody>
      </p:sp>
      <p:sp>
        <p:nvSpPr>
          <p:cNvPr id="36" name="Rounded Rectangle 35"/>
          <p:cNvSpPr/>
          <p:nvPr/>
        </p:nvSpPr>
        <p:spPr>
          <a:xfrm>
            <a:off x="420624" y="2944368"/>
            <a:ext cx="8302752" cy="1325880"/>
          </a:xfrm>
          <a:prstGeom prst="roundRect">
            <a:avLst>
              <a:gd name="adj" fmla="val 7000"/>
            </a:avLst>
          </a:prstGeom>
          <a:solidFill>
            <a:srgbClr val="F3F6FC"/>
          </a:solidFill>
          <a:ln w="8890">
            <a:solidFill>
              <a:srgbClr val="E6EB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20624" y="3035808"/>
            <a:ext cx="41148" cy="1143000"/>
          </a:xfrm>
          <a:prstGeom prst="rect">
            <a:avLst/>
          </a:prstGeom>
          <a:solidFill>
            <a:srgbClr val="013E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676656" y="3236976"/>
            <a:ext cx="731520" cy="731520"/>
          </a:xfrm>
          <a:prstGeom prst="ellipse">
            <a:avLst/>
          </a:prstGeom>
          <a:solidFill>
            <a:srgbClr val="013E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1005840" y="3410712"/>
            <a:ext cx="265176" cy="256032"/>
          </a:xfrm>
          <a:prstGeom prst="rect">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0" name="Connector 39"/>
          <p:cNvCxnSpPr/>
          <p:nvPr/>
        </p:nvCxnSpPr>
        <p:spPr>
          <a:xfrm>
            <a:off x="1133856" y="3666744"/>
            <a:ext cx="0" cy="137160"/>
          </a:xfrm>
          <a:prstGeom prst="line">
            <a:avLst/>
          </a:prstGeom>
          <a:ln w="1778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1060704" y="3803904"/>
            <a:ext cx="146303" cy="0"/>
          </a:xfrm>
          <a:prstGeom prst="line">
            <a:avLst/>
          </a:prstGeom>
          <a:ln w="17780">
            <a:solidFill>
              <a:srgbClr val="FFFFFF"/>
            </a:solidFill>
          </a:ln>
        </p:spPr>
        <p:style>
          <a:lnRef idx="2">
            <a:schemeClr val="accent1"/>
          </a:lnRef>
          <a:fillRef idx="0">
            <a:schemeClr val="accent1"/>
          </a:fillRef>
          <a:effectRef idx="1">
            <a:schemeClr val="accent1"/>
          </a:effectRef>
          <a:fontRef idx="minor">
            <a:schemeClr val="tx1"/>
          </a:fontRef>
        </p:style>
      </p:cxnSp>
      <p:sp>
        <p:nvSpPr>
          <p:cNvPr id="42" name="Oval 41"/>
          <p:cNvSpPr/>
          <p:nvPr/>
        </p:nvSpPr>
        <p:spPr>
          <a:xfrm>
            <a:off x="822960" y="3465576"/>
            <a:ext cx="118872" cy="118872"/>
          </a:xfrm>
          <a:prstGeom prst="ellipse">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3" name="Connector 42"/>
          <p:cNvCxnSpPr/>
          <p:nvPr/>
        </p:nvCxnSpPr>
        <p:spPr>
          <a:xfrm>
            <a:off x="877824" y="3602736"/>
            <a:ext cx="0" cy="219455"/>
          </a:xfrm>
          <a:prstGeom prst="line">
            <a:avLst/>
          </a:prstGeom>
          <a:ln w="2286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V="1">
            <a:off x="877824" y="3575304"/>
            <a:ext cx="155447" cy="82296"/>
          </a:xfrm>
          <a:prstGeom prst="line">
            <a:avLst/>
          </a:prstGeom>
          <a:ln w="2032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H="1">
            <a:off x="786384" y="3657600"/>
            <a:ext cx="91440" cy="54864"/>
          </a:xfrm>
          <a:prstGeom prst="line">
            <a:avLst/>
          </a:prstGeom>
          <a:ln w="20320">
            <a:solidFill>
              <a:srgbClr val="FFFFFF"/>
            </a:solidFill>
          </a:ln>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1664208" y="3108960"/>
            <a:ext cx="6720840" cy="292608"/>
          </a:xfrm>
          <a:prstGeom prst="rect">
            <a:avLst/>
          </a:prstGeom>
          <a:noFill/>
        </p:spPr>
        <p:txBody>
          <a:bodyPr wrap="square" lIns="0" rIns="0" tIns="0" bIns="0">
            <a:spAutoFit/>
          </a:bodyPr>
          <a:lstStyle/>
          <a:p>
            <a:pPr>
              <a:lnSpc>
                <a:spcPct val="113000"/>
              </a:lnSpc>
              <a:spcAft>
                <a:spcPts val="0"/>
              </a:spcAft>
            </a:pPr>
            <a:r>
              <a:rPr sz="1260" b="1">
                <a:solidFill>
                  <a:srgbClr val="013EF5"/>
                </a:solidFill>
                <a:latin typeface="DejaVu Sans"/>
              </a:rPr>
              <a:t>EQUIPMENT TRAINING</a:t>
            </a:r>
          </a:p>
        </p:txBody>
      </p:sp>
      <p:sp>
        <p:nvSpPr>
          <p:cNvPr id="47" name="TextBox 46"/>
          <p:cNvSpPr txBox="1"/>
          <p:nvPr/>
        </p:nvSpPr>
        <p:spPr>
          <a:xfrm>
            <a:off x="1664208" y="3538728"/>
            <a:ext cx="6693408" cy="594360"/>
          </a:xfrm>
          <a:prstGeom prst="rect">
            <a:avLst/>
          </a:prstGeom>
          <a:noFill/>
        </p:spPr>
        <p:txBody>
          <a:bodyPr wrap="square" lIns="0" rIns="0" tIns="0" bIns="0">
            <a:spAutoFit/>
          </a:bodyPr>
          <a:lstStyle/>
          <a:p>
            <a:pPr>
              <a:lnSpc>
                <a:spcPct val="113000"/>
              </a:lnSpc>
              <a:spcAft>
                <a:spcPts val="0"/>
              </a:spcAft>
            </a:pPr>
            <a:r>
              <a:rPr sz="1440" b="0">
                <a:solidFill>
                  <a:srgbClr val="27364A"/>
                </a:solidFill>
                <a:latin typeface="DejaVu Sans"/>
              </a:rPr>
              <a:t>Training on the use of the confined space rescue equipment was completed.</a:t>
            </a:r>
          </a:p>
        </p:txBody>
      </p:sp>
      <p:sp>
        <p:nvSpPr>
          <p:cNvPr id="48" name="Rounded Rectangle 47"/>
          <p:cNvSpPr/>
          <p:nvPr/>
        </p:nvSpPr>
        <p:spPr>
          <a:xfrm>
            <a:off x="420624" y="4471416"/>
            <a:ext cx="8302752" cy="1325880"/>
          </a:xfrm>
          <a:prstGeom prst="roundRect">
            <a:avLst>
              <a:gd name="adj" fmla="val 7000"/>
            </a:avLst>
          </a:prstGeom>
          <a:solidFill>
            <a:srgbClr val="F3F6FC"/>
          </a:solidFill>
          <a:ln w="8890">
            <a:solidFill>
              <a:srgbClr val="E6EB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420624" y="4562855"/>
            <a:ext cx="41148" cy="1143000"/>
          </a:xfrm>
          <a:prstGeom prst="rect">
            <a:avLst/>
          </a:prstGeom>
          <a:solidFill>
            <a:srgbClr val="013E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Oval 49"/>
          <p:cNvSpPr/>
          <p:nvPr/>
        </p:nvSpPr>
        <p:spPr>
          <a:xfrm>
            <a:off x="676656" y="4764024"/>
            <a:ext cx="731520" cy="731520"/>
          </a:xfrm>
          <a:prstGeom prst="ellipse">
            <a:avLst/>
          </a:prstGeom>
          <a:solidFill>
            <a:srgbClr val="013E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708660" y="4855464"/>
            <a:ext cx="667512" cy="548640"/>
          </a:xfrm>
          <a:prstGeom prst="rect">
            <a:avLst/>
          </a:prstGeom>
          <a:noFill/>
        </p:spPr>
        <p:txBody>
          <a:bodyPr wrap="none" lIns="0" rIns="0" tIns="0" bIns="0" anchor="ctr">
            <a:spAutoFit/>
          </a:bodyPr>
          <a:lstStyle/>
          <a:p>
            <a:pPr algn="ctr">
              <a:lnSpc>
                <a:spcPct val="113000"/>
              </a:lnSpc>
              <a:spcAft>
                <a:spcPts val="0"/>
              </a:spcAft>
            </a:pPr>
            <a:r>
              <a:rPr sz="1550" b="1">
                <a:solidFill>
                  <a:srgbClr val="FFFFFF"/>
                </a:solidFill>
                <a:latin typeface="DejaVu Sans"/>
              </a:rPr>
              <a:t>100%</a:t>
            </a:r>
          </a:p>
        </p:txBody>
      </p:sp>
      <p:sp>
        <p:nvSpPr>
          <p:cNvPr id="52" name="TextBox 51"/>
          <p:cNvSpPr txBox="1"/>
          <p:nvPr/>
        </p:nvSpPr>
        <p:spPr>
          <a:xfrm>
            <a:off x="1664208" y="4636007"/>
            <a:ext cx="6720840" cy="292608"/>
          </a:xfrm>
          <a:prstGeom prst="rect">
            <a:avLst/>
          </a:prstGeom>
          <a:noFill/>
        </p:spPr>
        <p:txBody>
          <a:bodyPr wrap="square" lIns="0" rIns="0" tIns="0" bIns="0">
            <a:spAutoFit/>
          </a:bodyPr>
          <a:lstStyle/>
          <a:p>
            <a:pPr>
              <a:lnSpc>
                <a:spcPct val="113000"/>
              </a:lnSpc>
              <a:spcAft>
                <a:spcPts val="0"/>
              </a:spcAft>
            </a:pPr>
            <a:r>
              <a:rPr sz="1260" b="1">
                <a:solidFill>
                  <a:srgbClr val="013EF5"/>
                </a:solidFill>
                <a:latin typeface="DejaVu Sans"/>
              </a:rPr>
              <a:t>MANAGEMENT SAFETY WALKS</a:t>
            </a:r>
          </a:p>
        </p:txBody>
      </p:sp>
      <p:sp>
        <p:nvSpPr>
          <p:cNvPr id="53" name="TextBox 52"/>
          <p:cNvSpPr txBox="1"/>
          <p:nvPr/>
        </p:nvSpPr>
        <p:spPr>
          <a:xfrm>
            <a:off x="1664208" y="5065776"/>
            <a:ext cx="6693408" cy="594360"/>
          </a:xfrm>
          <a:prstGeom prst="rect">
            <a:avLst/>
          </a:prstGeom>
          <a:noFill/>
        </p:spPr>
        <p:txBody>
          <a:bodyPr wrap="square" lIns="0" rIns="0" tIns="0" bIns="0">
            <a:spAutoFit/>
          </a:bodyPr>
          <a:lstStyle/>
          <a:p>
            <a:pPr>
              <a:lnSpc>
                <a:spcPct val="113000"/>
              </a:lnSpc>
              <a:spcAft>
                <a:spcPts val="0"/>
              </a:spcAft>
            </a:pPr>
            <a:r>
              <a:rPr sz="1440" b="0">
                <a:solidFill>
                  <a:srgbClr val="27364A"/>
                </a:solidFill>
                <a:latin typeface="DejaVu Sans"/>
              </a:rPr>
              <a:t>100% of the management safety walks scheduled up to the reporting cut-off were completed.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9" name="23 Marcador de número de diapositiva">
            <a:extLst>
              <a:ext uri="{FF2B5EF4-FFF2-40B4-BE49-F238E27FC236}">
                <a16:creationId xmlns:a16="http://schemas.microsoft.com/office/drawing/2014/main" id="{98F37300-104F-D2DE-6F97-1BD4408C8832}"/>
              </a:ext>
            </a:extLst>
          </p:cNvPr>
          <p:cNvSpPr>
            <a:spLocks noGrp="1"/>
          </p:cNvSpPr>
          <p:nvPr>
            <p:ph type="sldNum" sz="quarter" idx="12"/>
          </p:nvPr>
        </p:nvSpPr>
        <p:spPr>
          <a:xfrm>
            <a:off x="7010400" y="6569076"/>
            <a:ext cx="2133600" cy="300320"/>
          </a:xfrm>
        </p:spPr>
        <p:txBody>
          <a:bodyPr/>
          <a:lstStyle/>
          <a:p>
            <a:pPr algn="r"/>
            <a:r>
              <a:t>6</a:t>
            </a:r>
            <a:endParaRPr lang="en-US" noProof="0" dirty="0">
              <a:solidFill>
                <a:schemeClr val="bg1">
                  <a:lumMod val="50000"/>
                </a:schemeClr>
              </a:solidFill>
              <a:latin typeface="+mj-lt"/>
            </a:endParaRPr>
          </a:p>
        </p:txBody>
      </p:sp>
      <p:sp>
        <p:nvSpPr>
          <p:cNvPr id="8" name="Rectángulo 7">
            <a:extLst>
              <a:ext uri="{FF2B5EF4-FFF2-40B4-BE49-F238E27FC236}">
                <a16:creationId xmlns:a16="http://schemas.microsoft.com/office/drawing/2014/main" id="{D7047CC3-2D6A-F4A6-496D-F204196D2776}"/>
              </a:ext>
            </a:extLst>
          </p:cNvPr>
          <p:cNvSpPr/>
          <p:nvPr/>
        </p:nvSpPr>
        <p:spPr>
          <a:xfrm>
            <a:off x="0" y="0"/>
            <a:ext cx="9144000" cy="70658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11" name="Imagen 10" descr="San Matías Pipeline logo">
            <a:extLst>
              <a:ext uri="{FF2B5EF4-FFF2-40B4-BE49-F238E27FC236}">
                <a16:creationId xmlns:a16="http://schemas.microsoft.com/office/drawing/2014/main" id="{33830497-B16D-94DE-B020-56C6205EBE90}"/>
              </a:ext>
            </a:extLst>
          </p:cNvPr>
          <p:cNvPicPr>
            <a:picLocks noChangeAspect="1"/>
          </p:cNvPicPr>
          <p:nvPr/>
        </p:nvPicPr>
        <p:blipFill rotWithShape="1">
          <a:blip r:embed="rId2"/>
          <a:srcRect t="-1" r="54800" b="49955"/>
          <a:stretch/>
        </p:blipFill>
        <p:spPr>
          <a:xfrm>
            <a:off x="8549908" y="117682"/>
            <a:ext cx="274715" cy="232529"/>
          </a:xfrm>
          <a:prstGeom prst="rect">
            <a:avLst/>
          </a:prstGeom>
        </p:spPr>
      </p:pic>
      <p:sp>
        <p:nvSpPr>
          <p:cNvPr id="12" name="CuadroTexto 11">
            <a:extLst>
              <a:ext uri="{FF2B5EF4-FFF2-40B4-BE49-F238E27FC236}">
                <a16:creationId xmlns:a16="http://schemas.microsoft.com/office/drawing/2014/main" id="{66EC13B7-B882-CBBD-3800-A63A3EB5CCE9}"/>
              </a:ext>
            </a:extLst>
          </p:cNvPr>
          <p:cNvSpPr txBox="1"/>
          <p:nvPr/>
        </p:nvSpPr>
        <p:spPr>
          <a:xfrm>
            <a:off x="7731453" y="321314"/>
            <a:ext cx="1151431" cy="215444"/>
          </a:xfrm>
          <a:prstGeom prst="rect">
            <a:avLst/>
          </a:prstGeom>
          <a:noFill/>
        </p:spPr>
        <p:txBody>
          <a:bodyPr wrap="none" rtlCol="0">
            <a:spAutoFit/>
          </a:bodyPr>
          <a:lstStyle/>
          <a:p>
            <a:r>
              <a:rPr lang="en-US" sz="800" spc="100" noProof="0" dirty="0">
                <a:solidFill>
                  <a:srgbClr val="FF0000"/>
                </a:solidFill>
                <a:latin typeface="Aptos Display" panose="020B0004020202020204" pitchFamily="34" charset="0"/>
              </a:rPr>
              <a:t>CONFIDENTIAL</a:t>
            </a:r>
          </a:p>
        </p:txBody>
      </p:sp>
      <p:sp>
        <p:nvSpPr>
          <p:cNvPr id="3" name="Título 1">
            <a:extLst>
              <a:ext uri="{FF2B5EF4-FFF2-40B4-BE49-F238E27FC236}">
                <a16:creationId xmlns:a16="http://schemas.microsoft.com/office/drawing/2014/main" id="{49F75893-C7CE-A6C4-09F1-201BEEAF2CDE}"/>
              </a:ext>
            </a:extLst>
          </p:cNvPr>
          <p:cNvSpPr txBox="1">
            <a:spLocks/>
          </p:cNvSpPr>
          <p:nvPr/>
        </p:nvSpPr>
        <p:spPr>
          <a:xfrm>
            <a:off x="179509" y="110000"/>
            <a:ext cx="7364291" cy="50000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1500" b="1" noProof="0" dirty="0">
                <a:solidFill>
                  <a:srgbClr val="013EF5"/>
                </a:solidFill>
                <a:latin typeface="Aptos" panose="020B0004020202020204" pitchFamily="34" charset="0"/>
              </a:rPr>
              <a:t>1.3</a:t>
            </a:r>
            <a:r>
              <a:rPr lang="en-US" sz="1500" b="1" spc="100" noProof="0" dirty="0">
                <a:solidFill>
                  <a:srgbClr val="013EF5"/>
                </a:solidFill>
                <a:latin typeface="Aptos" panose="020B0004020202020204" pitchFamily="34" charset="0"/>
              </a:rPr>
              <a:t> &gt; DEDICATED GAS PIPELINE UPDATE </a:t>
            </a:r>
            <a:r>
              <a:rPr lang="en-US" sz="1500" spc="100" noProof="0" dirty="0">
                <a:solidFill>
                  <a:srgbClr val="013EF5"/>
                </a:solidFill>
                <a:latin typeface="Aptos Light" panose="020B0004020202020204" pitchFamily="34" charset="0"/>
              </a:rPr>
              <a:t>&gt; Updates &amp; Photo Log</a:t>
            </a:r>
            <a:endParaRPr lang="en-US" sz="1800" spc="100" noProof="0" dirty="0">
              <a:solidFill>
                <a:srgbClr val="013EF5"/>
              </a:solidFill>
              <a:latin typeface="Aptos Light" panose="020B0004020202020204" pitchFamily="34" charset="0"/>
            </a:endParaRPr>
          </a:p>
        </p:txBody>
      </p:sp>
      <p:sp>
        <p:nvSpPr>
          <p:cNvPr id="13" name="TextBox 12"/>
          <p:cNvSpPr txBox="1"/>
          <p:nvPr/>
        </p:nvSpPr>
        <p:spPr>
          <a:xfrm>
            <a:off x="274320" y="777240"/>
            <a:ext cx="8595360" cy="256032"/>
          </a:xfrm>
          <a:prstGeom prst="rect">
            <a:avLst/>
          </a:prstGeom>
          <a:noFill/>
        </p:spPr>
        <p:txBody>
          <a:bodyPr wrap="square" lIns="45720" tIns="27432" rIns="45720" bIns="27432" anchor="t">
            <a:spAutoFit/>
          </a:bodyPr>
          <a:lstStyle/>
          <a:p>
            <a:pPr algn="l"/>
            <a:r>
              <a:rPr lang="en-US" sz="900" b="0" i="0">
                <a:solidFill>
                  <a:srgbClr val="6B7280"/>
                </a:solidFill>
                <a:latin typeface="Aptos"/>
              </a:rPr>
              <a:t>September 2026 · 2 photos per area: Compressor Plant, Pipeline (right-of-way) and Pipeline · SAE Port</a:t>
            </a:r>
          </a:p>
        </p:txBody>
      </p:sp>
      <p:sp>
        <p:nvSpPr>
          <p:cNvPr id="14" name="TextBox 13"/>
          <p:cNvSpPr txBox="1"/>
          <p:nvPr/>
        </p:nvSpPr>
        <p:spPr>
          <a:xfrm>
            <a:off x="274320" y="1097280"/>
            <a:ext cx="2788920" cy="274320"/>
          </a:xfrm>
          <a:prstGeom prst="rect">
            <a:avLst/>
          </a:prstGeom>
          <a:noFill/>
        </p:spPr>
        <p:txBody>
          <a:bodyPr wrap="square" lIns="45720" tIns="27432" rIns="45720" bIns="27432" anchor="t">
            <a:spAutoFit/>
          </a:bodyPr>
          <a:lstStyle/>
          <a:p>
            <a:pPr algn="ctr"/>
            <a:r>
              <a:rPr lang="en-US" sz="1100" b="1" i="0">
                <a:solidFill>
                  <a:srgbClr val="013EF5"/>
                </a:solidFill>
                <a:latin typeface="Aptos"/>
              </a:rPr>
              <a:t>COMPRESSOR PLANT</a:t>
            </a:r>
          </a:p>
        </p:txBody>
      </p:sp>
      <p:pic>
        <p:nvPicPr>
          <p:cNvPr id="15" name="Foto Planta Compresora: Locación de la Planta Compresora (1)" descr="Photo, Compressor Plant: Compressor Plant site (1)"/>
          <p:cNvPicPr>
            <a:picLocks noChangeAspect="1"/>
          </p:cNvPicPr>
          <p:nvPr/>
        </p:nvPicPr>
        <p:blipFill>
          <a:blip r:embed="rId3"/>
          <a:srcRect l="6010" r="6010"/>
          <a:stretch>
            <a:fillRect/>
          </a:stretch>
        </p:blipFill>
        <p:spPr>
          <a:xfrm>
            <a:off x="274320" y="1417320"/>
            <a:ext cx="2788920" cy="1783080"/>
          </a:xfrm>
          <a:prstGeom prst="rect">
            <a:avLst/>
          </a:prstGeom>
        </p:spPr>
      </p:pic>
      <p:sp>
        <p:nvSpPr>
          <p:cNvPr id="16" name="TextBox 15"/>
          <p:cNvSpPr txBox="1"/>
          <p:nvPr/>
        </p:nvSpPr>
        <p:spPr>
          <a:xfrm>
            <a:off x="274320" y="3227832"/>
            <a:ext cx="2788920" cy="457200"/>
          </a:xfrm>
          <a:prstGeom prst="rect">
            <a:avLst/>
          </a:prstGeom>
          <a:noFill/>
        </p:spPr>
        <p:txBody>
          <a:bodyPr wrap="square" lIns="45720" tIns="27432" rIns="45720" bIns="27432" anchor="t">
            <a:spAutoFit/>
          </a:bodyPr>
          <a:lstStyle/>
          <a:p>
            <a:pPr algn="l"/>
            <a:r>
              <a:rPr lang="en-US" sz="900" b="1" i="0">
                <a:solidFill>
                  <a:srgbClr val="1F2533"/>
                </a:solidFill>
                <a:latin typeface="Aptos"/>
              </a:rPr>
              <a:t>Compressor Plant site (1)</a:t>
            </a:r>
          </a:p>
        </p:txBody>
      </p:sp>
      <p:pic>
        <p:nvPicPr>
          <p:cNvPr id="17" name="Foto Planta Compresora: Locación de la Planta Compresora (2)" descr="Photo, Compressor Plant: Compressor Plant site (2)"/>
          <p:cNvPicPr>
            <a:picLocks noChangeAspect="1"/>
          </p:cNvPicPr>
          <p:nvPr/>
        </p:nvPicPr>
        <p:blipFill>
          <a:blip r:embed="rId4"/>
          <a:srcRect l="6010" r="6010"/>
          <a:stretch>
            <a:fillRect/>
          </a:stretch>
        </p:blipFill>
        <p:spPr>
          <a:xfrm>
            <a:off x="274320" y="3931920"/>
            <a:ext cx="2788920" cy="1783080"/>
          </a:xfrm>
          <a:prstGeom prst="rect">
            <a:avLst/>
          </a:prstGeom>
        </p:spPr>
      </p:pic>
      <p:sp>
        <p:nvSpPr>
          <p:cNvPr id="18" name="TextBox 17"/>
          <p:cNvSpPr txBox="1"/>
          <p:nvPr/>
        </p:nvSpPr>
        <p:spPr>
          <a:xfrm>
            <a:off x="274320" y="5742432"/>
            <a:ext cx="2788920" cy="457200"/>
          </a:xfrm>
          <a:prstGeom prst="rect">
            <a:avLst/>
          </a:prstGeom>
          <a:noFill/>
        </p:spPr>
        <p:txBody>
          <a:bodyPr wrap="square" lIns="45720" tIns="27432" rIns="45720" bIns="27432" anchor="t">
            <a:spAutoFit/>
          </a:bodyPr>
          <a:lstStyle/>
          <a:p>
            <a:pPr algn="l"/>
            <a:r>
              <a:rPr lang="en-US" sz="900" b="1" i="0">
                <a:solidFill>
                  <a:srgbClr val="1F2533"/>
                </a:solidFill>
                <a:latin typeface="Aptos"/>
              </a:rPr>
              <a:t>Compressor Plant site (2)</a:t>
            </a:r>
          </a:p>
        </p:txBody>
      </p:sp>
      <p:sp>
        <p:nvSpPr>
          <p:cNvPr id="19" name="TextBox 18"/>
          <p:cNvSpPr txBox="1"/>
          <p:nvPr/>
        </p:nvSpPr>
        <p:spPr>
          <a:xfrm>
            <a:off x="3200399" y="1097280"/>
            <a:ext cx="2788920" cy="274320"/>
          </a:xfrm>
          <a:prstGeom prst="rect">
            <a:avLst/>
          </a:prstGeom>
          <a:noFill/>
        </p:spPr>
        <p:txBody>
          <a:bodyPr wrap="square" lIns="45720" tIns="27432" rIns="45720" bIns="27432" anchor="t">
            <a:spAutoFit/>
          </a:bodyPr>
          <a:lstStyle/>
          <a:p>
            <a:pPr algn="ctr"/>
            <a:r>
              <a:rPr lang="en-US" sz="1100" b="1" i="0">
                <a:solidFill>
                  <a:srgbClr val="013EF5"/>
                </a:solidFill>
                <a:latin typeface="Aptos"/>
              </a:rPr>
              <a:t>PIPELINE</a:t>
            </a:r>
          </a:p>
        </p:txBody>
      </p:sp>
      <p:pic>
        <p:nvPicPr>
          <p:cNvPr id="20" name="Foto Ducto: Pre-zanjeo" descr="Photo, Pipeline: Pre-trenching works"/>
          <p:cNvPicPr>
            <a:picLocks noChangeAspect="1"/>
          </p:cNvPicPr>
          <p:nvPr/>
        </p:nvPicPr>
        <p:blipFill>
          <a:blip r:embed="rId5"/>
          <a:srcRect l="6010" r="6010"/>
          <a:stretch>
            <a:fillRect/>
          </a:stretch>
        </p:blipFill>
        <p:spPr>
          <a:xfrm>
            <a:off x="3200399" y="1417320"/>
            <a:ext cx="2788920" cy="1783080"/>
          </a:xfrm>
          <a:prstGeom prst="rect">
            <a:avLst/>
          </a:prstGeom>
        </p:spPr>
      </p:pic>
      <p:sp>
        <p:nvSpPr>
          <p:cNvPr id="21" name="TextBox 20"/>
          <p:cNvSpPr txBox="1"/>
          <p:nvPr/>
        </p:nvSpPr>
        <p:spPr>
          <a:xfrm>
            <a:off x="3200399" y="3227832"/>
            <a:ext cx="2788920" cy="457200"/>
          </a:xfrm>
          <a:prstGeom prst="rect">
            <a:avLst/>
          </a:prstGeom>
          <a:noFill/>
        </p:spPr>
        <p:txBody>
          <a:bodyPr wrap="square" lIns="45720" tIns="27432" rIns="45720" bIns="27432" anchor="t">
            <a:spAutoFit/>
          </a:bodyPr>
          <a:lstStyle/>
          <a:p>
            <a:pPr algn="l"/>
            <a:r>
              <a:rPr lang="en-US" sz="900" b="1" i="0">
                <a:solidFill>
                  <a:srgbClr val="1F2533"/>
                </a:solidFill>
                <a:latin typeface="Aptos"/>
              </a:rPr>
              <a:t>Pre-trenching works</a:t>
            </a:r>
          </a:p>
        </p:txBody>
      </p:sp>
      <p:pic>
        <p:nvPicPr>
          <p:cNvPr id="22" name="Foto Ducto: Charla previa al inicio de descarga y desfile de cañerías" descr="Photo, Pipeline: Pre-start safety talk before pipe unloading and stringing"/>
          <p:cNvPicPr>
            <a:picLocks noChangeAspect="1"/>
          </p:cNvPicPr>
          <p:nvPr/>
        </p:nvPicPr>
        <p:blipFill>
          <a:blip r:embed="rId6"/>
          <a:srcRect l="6010" r="6010"/>
          <a:stretch>
            <a:fillRect/>
          </a:stretch>
        </p:blipFill>
        <p:spPr>
          <a:xfrm>
            <a:off x="3200399" y="3931920"/>
            <a:ext cx="2788920" cy="1783080"/>
          </a:xfrm>
          <a:prstGeom prst="rect">
            <a:avLst/>
          </a:prstGeom>
        </p:spPr>
      </p:pic>
      <p:sp>
        <p:nvSpPr>
          <p:cNvPr id="23" name="TextBox 22"/>
          <p:cNvSpPr txBox="1"/>
          <p:nvPr/>
        </p:nvSpPr>
        <p:spPr>
          <a:xfrm>
            <a:off x="3200399" y="5742432"/>
            <a:ext cx="2788920" cy="457200"/>
          </a:xfrm>
          <a:prstGeom prst="rect">
            <a:avLst/>
          </a:prstGeom>
          <a:noFill/>
        </p:spPr>
        <p:txBody>
          <a:bodyPr wrap="square" lIns="45720" tIns="27432" rIns="45720" bIns="27432" anchor="t">
            <a:spAutoFit/>
          </a:bodyPr>
          <a:lstStyle/>
          <a:p>
            <a:pPr algn="l"/>
            <a:r>
              <a:rPr lang="en-US" sz="900" b="1" i="0">
                <a:solidFill>
                  <a:srgbClr val="1F2533"/>
                </a:solidFill>
                <a:latin typeface="Aptos"/>
              </a:rPr>
              <a:t>Pre-start safety talk before pipe unloading and stringing</a:t>
            </a:r>
          </a:p>
        </p:txBody>
      </p:sp>
      <p:sp>
        <p:nvSpPr>
          <p:cNvPr id="24" name="TextBox 23"/>
          <p:cNvSpPr txBox="1"/>
          <p:nvPr/>
        </p:nvSpPr>
        <p:spPr>
          <a:xfrm>
            <a:off x="6126479" y="1097280"/>
            <a:ext cx="2788920" cy="274320"/>
          </a:xfrm>
          <a:prstGeom prst="rect">
            <a:avLst/>
          </a:prstGeom>
          <a:noFill/>
        </p:spPr>
        <p:txBody>
          <a:bodyPr wrap="square" lIns="45720" tIns="27432" rIns="45720" bIns="27432" anchor="t">
            <a:spAutoFit/>
          </a:bodyPr>
          <a:lstStyle/>
          <a:p>
            <a:pPr algn="ctr"/>
            <a:r>
              <a:rPr lang="en-US" sz="1100" b="1" i="0">
                <a:solidFill>
                  <a:srgbClr val="013EF5"/>
                </a:solidFill>
                <a:latin typeface="Aptos"/>
              </a:rPr>
              <a:t>PIPELINE · SAE PORT</a:t>
            </a:r>
          </a:p>
        </p:txBody>
      </p:sp>
      <p:pic>
        <p:nvPicPr>
          <p:cNvPr id="25" name="Foto Ducto · Puerto Sae: Recepción de cañerías del barco · Puerto SAE" descr="Photo, Pipeline · SAE Port: Receiving pipe from the vessel · SAE Port"/>
          <p:cNvPicPr>
            <a:picLocks noChangeAspect="1"/>
          </p:cNvPicPr>
          <p:nvPr/>
        </p:nvPicPr>
        <p:blipFill>
          <a:blip r:embed="rId7"/>
          <a:srcRect l="6010" r="6010"/>
          <a:stretch>
            <a:fillRect/>
          </a:stretch>
        </p:blipFill>
        <p:spPr>
          <a:xfrm>
            <a:off x="6126479" y="1417320"/>
            <a:ext cx="2788920" cy="1783080"/>
          </a:xfrm>
          <a:prstGeom prst="rect">
            <a:avLst/>
          </a:prstGeom>
        </p:spPr>
      </p:pic>
      <p:sp>
        <p:nvSpPr>
          <p:cNvPr id="26" name="TextBox 25"/>
          <p:cNvSpPr txBox="1"/>
          <p:nvPr/>
        </p:nvSpPr>
        <p:spPr>
          <a:xfrm>
            <a:off x="6126479" y="3227832"/>
            <a:ext cx="2788920" cy="457200"/>
          </a:xfrm>
          <a:prstGeom prst="rect">
            <a:avLst/>
          </a:prstGeom>
          <a:noFill/>
        </p:spPr>
        <p:txBody>
          <a:bodyPr wrap="square" lIns="45720" tIns="27432" rIns="45720" bIns="27432" anchor="t">
            <a:spAutoFit/>
          </a:bodyPr>
          <a:lstStyle/>
          <a:p>
            <a:pPr algn="l"/>
            <a:r>
              <a:rPr lang="en-US" sz="900" b="1" i="0">
                <a:solidFill>
                  <a:srgbClr val="1F2533"/>
                </a:solidFill>
                <a:latin typeface="Aptos"/>
              </a:rPr>
              <a:t>Receiving pipe from the vessel · SAE Port</a:t>
            </a:r>
          </a:p>
        </p:txBody>
      </p:sp>
      <p:pic>
        <p:nvPicPr>
          <p:cNvPr id="27" name="Foto Ducto · Puerto Sae: Carga en transporte en acopio · Puerto SAE" descr="Photo, Pipeline · SAE Port: Loading onto transport at the laydown yard · SAE Port"/>
          <p:cNvPicPr>
            <a:picLocks noChangeAspect="1"/>
          </p:cNvPicPr>
          <p:nvPr/>
        </p:nvPicPr>
        <p:blipFill>
          <a:blip r:embed="rId8"/>
          <a:srcRect l="6010" r="6010"/>
          <a:stretch>
            <a:fillRect/>
          </a:stretch>
        </p:blipFill>
        <p:spPr>
          <a:xfrm>
            <a:off x="6126479" y="3931920"/>
            <a:ext cx="2788920" cy="1783080"/>
          </a:xfrm>
          <a:prstGeom prst="rect">
            <a:avLst/>
          </a:prstGeom>
        </p:spPr>
      </p:pic>
      <p:sp>
        <p:nvSpPr>
          <p:cNvPr id="28" name="TextBox 27"/>
          <p:cNvSpPr txBox="1"/>
          <p:nvPr/>
        </p:nvSpPr>
        <p:spPr>
          <a:xfrm>
            <a:off x="6126479" y="5742432"/>
            <a:ext cx="2788920" cy="457200"/>
          </a:xfrm>
          <a:prstGeom prst="rect">
            <a:avLst/>
          </a:prstGeom>
          <a:noFill/>
        </p:spPr>
        <p:txBody>
          <a:bodyPr wrap="square" lIns="45720" tIns="27432" rIns="45720" bIns="27432" anchor="t">
            <a:spAutoFit/>
          </a:bodyPr>
          <a:lstStyle/>
          <a:p>
            <a:pPr algn="l"/>
            <a:r>
              <a:rPr lang="en-US" sz="900" b="1" i="0">
                <a:solidFill>
                  <a:srgbClr val="1F2533"/>
                </a:solidFill>
                <a:latin typeface="Aptos"/>
              </a:rPr>
              <a:t>Loading onto transport at the laydown yard · SAE Port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2FE4C4-C439-3D4B-2810-5ED122F8B3EA}"/>
            </a:ext>
          </a:extLst>
        </p:cNvPr>
        <p:cNvGrpSpPr/>
        <p:nvPr/>
      </p:nvGrpSpPr>
      <p:grpSpPr>
        <a:xfrm>
          <a:off x="0" y="0"/>
          <a:ext cx="0" cy="0"/>
          <a:chOff x="0" y="0"/>
          <a:chExt cx="0" cy="0"/>
        </a:xfrm>
      </p:grpSpPr>
      <p:sp>
        <p:nvSpPr>
          <p:cNvPr id="8" name="Rectángulo 7">
            <a:extLst>
              <a:ext uri="{FF2B5EF4-FFF2-40B4-BE49-F238E27FC236}">
                <a16:creationId xmlns:a16="http://schemas.microsoft.com/office/drawing/2014/main" id="{15A9C003-D100-0547-6B7A-5AA415611A58}"/>
              </a:ext>
            </a:extLst>
          </p:cNvPr>
          <p:cNvSpPr/>
          <p:nvPr/>
        </p:nvSpPr>
        <p:spPr>
          <a:xfrm>
            <a:off x="0" y="0"/>
            <a:ext cx="9144000" cy="70658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pic>
        <p:nvPicPr>
          <p:cNvPr id="11" name="Imagen 10">
            <a:extLst>
              <a:ext uri="{FF2B5EF4-FFF2-40B4-BE49-F238E27FC236}">
                <a16:creationId xmlns:a16="http://schemas.microsoft.com/office/drawing/2014/main" id="{F02F9B62-976C-B014-89B9-25FEB972B836}"/>
              </a:ext>
            </a:extLst>
          </p:cNvPr>
          <p:cNvPicPr>
            <a:picLocks noChangeAspect="1"/>
          </p:cNvPicPr>
          <p:nvPr/>
        </p:nvPicPr>
        <p:blipFill rotWithShape="1">
          <a:blip r:embed="rId3"/>
          <a:srcRect t="-1" r="54800" b="49955"/>
          <a:stretch/>
        </p:blipFill>
        <p:spPr>
          <a:xfrm>
            <a:off x="8549908" y="117682"/>
            <a:ext cx="274715" cy="232529"/>
          </a:xfrm>
          <a:prstGeom prst="rect">
            <a:avLst/>
          </a:prstGeom>
        </p:spPr>
      </p:pic>
      <p:sp>
        <p:nvSpPr>
          <p:cNvPr id="12" name="CuadroTexto 11">
            <a:extLst>
              <a:ext uri="{FF2B5EF4-FFF2-40B4-BE49-F238E27FC236}">
                <a16:creationId xmlns:a16="http://schemas.microsoft.com/office/drawing/2014/main" id="{8F84B6E9-B53A-F075-C423-0D04140F6B47}"/>
              </a:ext>
            </a:extLst>
          </p:cNvPr>
          <p:cNvSpPr txBox="1"/>
          <p:nvPr/>
        </p:nvSpPr>
        <p:spPr>
          <a:xfrm>
            <a:off x="8183879" y="321314"/>
            <a:ext cx="932688" cy="215444"/>
          </a:xfrm>
          <a:prstGeom prst="rect">
            <a:avLst/>
          </a:prstGeom>
          <a:noFill/>
        </p:spPr>
        <p:txBody>
          <a:bodyPr wrap="none" rtlCol="0" lIns="0" rIns="0" tIns="0" bIns="0">
            <a:spAutoFit/>
          </a:bodyPr>
          <a:lstStyle/>
          <a:p>
            <a:r>
              <a:rPr sz="730">
                <a:solidFill>
                  <a:srgbClr val="FF0000"/>
                </a:solidFill>
                <a:latin typeface="DejaVu Sans"/>
              </a:rPr>
              <a:t>CONFIDENTIAL</a:t>
            </a:r>
          </a:p>
        </p:txBody>
      </p:sp>
      <p:sp>
        <p:nvSpPr>
          <p:cNvPr id="3" name="Título 1">
            <a:extLst>
              <a:ext uri="{FF2B5EF4-FFF2-40B4-BE49-F238E27FC236}">
                <a16:creationId xmlns:a16="http://schemas.microsoft.com/office/drawing/2014/main" id="{77EE0D74-97B9-A6B2-82A2-11169427E4E5}"/>
              </a:ext>
            </a:extLst>
          </p:cNvPr>
          <p:cNvSpPr txBox="1">
            <a:spLocks/>
          </p:cNvSpPr>
          <p:nvPr/>
        </p:nvSpPr>
        <p:spPr>
          <a:xfrm>
            <a:off x="179509" y="142504"/>
            <a:ext cx="7818120" cy="54864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sz="1700" b="1">
                <a:solidFill>
                  <a:srgbClr val="013EF5"/>
                </a:solidFill>
                <a:latin typeface="DejaVu Sans"/>
              </a:rPr>
              <a:t>2.0 &gt; PERMITS &gt; Environmental Update</a:t>
            </a:r>
          </a:p>
        </p:txBody>
      </p:sp>
      <p:sp>
        <p:nvSpPr>
          <p:cNvPr id="16" name="TextBox 15"/>
          <p:cNvSpPr txBox="1"/>
          <p:nvPr/>
        </p:nvSpPr>
        <p:spPr>
          <a:xfrm>
            <a:off x="3474720" y="6601968"/>
            <a:ext cx="4389120" cy="155448"/>
          </a:xfrm>
          <a:prstGeom prst="rect">
            <a:avLst/>
          </a:prstGeom>
          <a:noFill/>
        </p:spPr>
        <p:txBody>
          <a:bodyPr wrap="square" lIns="18288" tIns="0" rIns="18288" bIns="0">
            <a:spAutoFit/>
          </a:bodyPr>
          <a:lstStyle/>
          <a:p>
            <a:pPr>
              <a:spcAft>
                <a:spcPts val="500"/>
              </a:spcAft>
              <a:defRPr sz="650" b="0">
                <a:solidFill>
                  <a:srgbClr val="68717D"/>
                </a:solidFill>
                <a:latin typeface="DejaVu Sans"/>
              </a:defRPr>
            </a:pPr>
            <a:r>
              <a:t>WORKING DRAFT · 27 OCT 2026</a:t>
            </a:r>
          </a:p>
        </p:txBody>
      </p:sp>
      <p:sp>
        <p:nvSpPr>
          <p:cNvPr id="17" name="TextBox 16"/>
          <p:cNvSpPr txBox="1"/>
          <p:nvPr/>
        </p:nvSpPr>
        <p:spPr>
          <a:xfrm>
            <a:off x="8595360" y="6556248"/>
            <a:ext cx="274320" cy="201168"/>
          </a:xfrm>
          <a:prstGeom prst="rect">
            <a:avLst/>
          </a:prstGeom>
          <a:noFill/>
        </p:spPr>
        <p:txBody>
          <a:bodyPr wrap="square" lIns="18288" tIns="0" rIns="18288" bIns="0">
            <a:spAutoFit/>
          </a:bodyPr>
          <a:lstStyle/>
          <a:p>
            <a:pPr algn="r">
              <a:spcAft>
                <a:spcPts val="500"/>
              </a:spcAft>
              <a:defRPr sz="800" b="0">
                <a:solidFill>
                  <a:srgbClr val="68717D"/>
                </a:solidFill>
                <a:latin typeface="DejaVu Sans"/>
              </a:defRPr>
            </a:pPr>
            <a:r>
              <a:t>7</a:t>
            </a:r>
          </a:p>
        </p:txBody>
      </p:sp>
      <p:sp>
        <p:nvSpPr>
          <p:cNvPr id="18" name="TextBox 17"/>
          <p:cNvSpPr txBox="1"/>
          <p:nvPr/>
        </p:nvSpPr>
        <p:spPr>
          <a:xfrm>
            <a:off x="420624" y="896112"/>
            <a:ext cx="8302752" cy="329184"/>
          </a:xfrm>
          <a:prstGeom prst="rect">
            <a:avLst/>
          </a:prstGeom>
          <a:noFill/>
        </p:spPr>
        <p:txBody>
          <a:bodyPr wrap="square" lIns="0" rIns="0" tIns="0" bIns="0">
            <a:spAutoFit/>
          </a:bodyPr>
          <a:lstStyle/>
          <a:p>
            <a:pPr>
              <a:lnSpc>
                <a:spcPct val="115000"/>
              </a:lnSpc>
              <a:spcAft>
                <a:spcPts val="0"/>
              </a:spcAft>
            </a:pPr>
            <a:r>
              <a:rPr sz="1100" b="1">
                <a:solidFill>
                  <a:srgbClr val="013EF5"/>
                </a:solidFill>
                <a:latin typeface="DejaVu Sans"/>
              </a:rPr>
              <a:t>OCTOBER 2026 · ENVIRONMENTAL PERMITS UPDATE</a:t>
            </a:r>
          </a:p>
        </p:txBody>
      </p:sp>
      <p:sp>
        <p:nvSpPr>
          <p:cNvPr id="19" name="Rounded Rectangle 18"/>
          <p:cNvSpPr/>
          <p:nvPr/>
        </p:nvSpPr>
        <p:spPr>
          <a:xfrm>
            <a:off x="420624" y="1472184"/>
            <a:ext cx="8302752" cy="1975104"/>
          </a:xfrm>
          <a:prstGeom prst="roundRect">
            <a:avLst>
              <a:gd name="adj" fmla="val 5000"/>
            </a:avLst>
          </a:prstGeom>
          <a:solidFill>
            <a:srgbClr val="F3F6FC"/>
          </a:solidFill>
          <a:ln w="8890">
            <a:solidFill>
              <a:srgbClr val="E6EB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20624" y="1581912"/>
            <a:ext cx="41148" cy="1755648"/>
          </a:xfrm>
          <a:prstGeom prst="rect">
            <a:avLst/>
          </a:prstGeom>
          <a:solidFill>
            <a:srgbClr val="013E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58368" y="2039112"/>
            <a:ext cx="822960" cy="822960"/>
          </a:xfrm>
          <a:prstGeom prst="ellipse">
            <a:avLst/>
          </a:prstGeom>
          <a:solidFill>
            <a:srgbClr val="E5E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048256"/>
            <a:ext cx="768096" cy="786384"/>
          </a:xfrm>
          <a:prstGeom prst="rect">
            <a:avLst/>
          </a:prstGeom>
          <a:noFill/>
        </p:spPr>
        <p:txBody>
          <a:bodyPr wrap="none" lIns="0" rIns="0" tIns="0" bIns="0" anchor="ctr">
            <a:spAutoFit/>
          </a:bodyPr>
          <a:lstStyle/>
          <a:p>
            <a:pPr algn="ctr">
              <a:lnSpc>
                <a:spcPct val="115000"/>
              </a:lnSpc>
              <a:spcAft>
                <a:spcPts val="0"/>
              </a:spcAft>
            </a:pPr>
            <a:r>
              <a:rPr sz="3400" b="0">
                <a:solidFill>
                  <a:srgbClr val="27364A"/>
                </a:solidFill>
                <a:latin typeface="Noto Color Emoji"/>
              </a:rPr>
              <a:t>💧</a:t>
            </a:r>
          </a:p>
        </p:txBody>
      </p:sp>
      <p:sp>
        <p:nvSpPr>
          <p:cNvPr id="23" name="TextBox 22"/>
          <p:cNvSpPr txBox="1"/>
          <p:nvPr/>
        </p:nvSpPr>
        <p:spPr>
          <a:xfrm>
            <a:off x="1682496" y="1655064"/>
            <a:ext cx="6711696" cy="365760"/>
          </a:xfrm>
          <a:prstGeom prst="rect">
            <a:avLst/>
          </a:prstGeom>
          <a:noFill/>
        </p:spPr>
        <p:txBody>
          <a:bodyPr wrap="square" lIns="0" rIns="0" tIns="0" bIns="0">
            <a:spAutoFit/>
          </a:bodyPr>
          <a:lstStyle/>
          <a:p>
            <a:pPr>
              <a:lnSpc>
                <a:spcPct val="115000"/>
              </a:lnSpc>
              <a:spcAft>
                <a:spcPts val="0"/>
              </a:spcAft>
            </a:pPr>
            <a:r>
              <a:rPr sz="1260" b="1">
                <a:solidFill>
                  <a:srgbClr val="013EF5"/>
                </a:solidFill>
                <a:latin typeface="DejaVu Sans"/>
              </a:rPr>
              <a:t>NEUQUÉN SECTION | WATER PERMIT</a:t>
            </a:r>
          </a:p>
        </p:txBody>
      </p:sp>
      <p:sp>
        <p:nvSpPr>
          <p:cNvPr id="24" name="TextBox 23"/>
          <p:cNvSpPr txBox="1"/>
          <p:nvPr/>
        </p:nvSpPr>
        <p:spPr>
          <a:xfrm>
            <a:off x="1682496" y="2221992"/>
            <a:ext cx="6684264" cy="1060704"/>
          </a:xfrm>
          <a:prstGeom prst="rect">
            <a:avLst/>
          </a:prstGeom>
          <a:noFill/>
        </p:spPr>
        <p:txBody>
          <a:bodyPr wrap="square" lIns="0" rIns="0" tIns="0" bIns="0">
            <a:spAutoFit/>
          </a:bodyPr>
          <a:lstStyle/>
          <a:p>
            <a:pPr>
              <a:lnSpc>
                <a:spcPct val="115000"/>
              </a:lnSpc>
              <a:spcAft>
                <a:spcPts val="0"/>
              </a:spcAft>
            </a:pPr>
            <a:r>
              <a:rPr sz="1410" b="0">
                <a:solidFill>
                  <a:srgbClr val="27364A"/>
                </a:solidFill>
                <a:latin typeface="DejaVu Sans"/>
              </a:rPr>
              <a:t>The response to comments on the Water Risk Study and submission to SSRH remain pending, in coordination with Serman, to advance the water permit application.</a:t>
            </a:r>
          </a:p>
        </p:txBody>
      </p:sp>
      <p:sp>
        <p:nvSpPr>
          <p:cNvPr id="25" name="Rounded Rectangle 24"/>
          <p:cNvSpPr/>
          <p:nvPr/>
        </p:nvSpPr>
        <p:spPr>
          <a:xfrm>
            <a:off x="420624" y="3703320"/>
            <a:ext cx="8302752" cy="1975104"/>
          </a:xfrm>
          <a:prstGeom prst="roundRect">
            <a:avLst>
              <a:gd name="adj" fmla="val 5000"/>
            </a:avLst>
          </a:prstGeom>
          <a:solidFill>
            <a:srgbClr val="F3F6FC"/>
          </a:solidFill>
          <a:ln w="8890">
            <a:solidFill>
              <a:srgbClr val="E6EB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20624" y="3813048"/>
            <a:ext cx="41148" cy="1755648"/>
          </a:xfrm>
          <a:prstGeom prst="rect">
            <a:avLst/>
          </a:prstGeom>
          <a:solidFill>
            <a:srgbClr val="013E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58368" y="4270248"/>
            <a:ext cx="822960" cy="822960"/>
          </a:xfrm>
          <a:prstGeom prst="ellipse">
            <a:avLst/>
          </a:prstGeom>
          <a:solidFill>
            <a:srgbClr val="E5E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4279392"/>
            <a:ext cx="768096" cy="786384"/>
          </a:xfrm>
          <a:prstGeom prst="rect">
            <a:avLst/>
          </a:prstGeom>
          <a:noFill/>
        </p:spPr>
        <p:txBody>
          <a:bodyPr wrap="none" lIns="0" rIns="0" tIns="0" bIns="0" anchor="ctr">
            <a:spAutoFit/>
          </a:bodyPr>
          <a:lstStyle/>
          <a:p>
            <a:pPr algn="ctr">
              <a:lnSpc>
                <a:spcPct val="115000"/>
              </a:lnSpc>
              <a:spcAft>
                <a:spcPts val="0"/>
              </a:spcAft>
            </a:pPr>
            <a:r>
              <a:rPr sz="3400" b="0">
                <a:solidFill>
                  <a:srgbClr val="27364A"/>
                </a:solidFill>
                <a:latin typeface="Noto Color Emoji"/>
              </a:rPr>
              <a:t>🏭</a:t>
            </a:r>
          </a:p>
        </p:txBody>
      </p:sp>
      <p:sp>
        <p:nvSpPr>
          <p:cNvPr id="29" name="TextBox 28"/>
          <p:cNvSpPr txBox="1"/>
          <p:nvPr/>
        </p:nvSpPr>
        <p:spPr>
          <a:xfrm>
            <a:off x="1682496" y="3886200"/>
            <a:ext cx="6711696" cy="365760"/>
          </a:xfrm>
          <a:prstGeom prst="rect">
            <a:avLst/>
          </a:prstGeom>
          <a:noFill/>
        </p:spPr>
        <p:txBody>
          <a:bodyPr wrap="square" lIns="0" rIns="0" tIns="0" bIns="0">
            <a:spAutoFit/>
          </a:bodyPr>
          <a:lstStyle/>
          <a:p>
            <a:pPr>
              <a:lnSpc>
                <a:spcPct val="115000"/>
              </a:lnSpc>
              <a:spcAft>
                <a:spcPts val="0"/>
              </a:spcAft>
            </a:pPr>
            <a:r>
              <a:rPr sz="1260" b="1">
                <a:solidFill>
                  <a:srgbClr val="013EF5"/>
                </a:solidFill>
                <a:latin typeface="DejaVu Sans"/>
              </a:rPr>
              <a:t>ALLEN COMPRESSOR PLANT | ENVIRONMENTAL ADDENDUM</a:t>
            </a:r>
          </a:p>
        </p:txBody>
      </p:sp>
      <p:sp>
        <p:nvSpPr>
          <p:cNvPr id="30" name="TextBox 29"/>
          <p:cNvSpPr txBox="1"/>
          <p:nvPr/>
        </p:nvSpPr>
        <p:spPr>
          <a:xfrm>
            <a:off x="1682496" y="4453128"/>
            <a:ext cx="6684264" cy="1060704"/>
          </a:xfrm>
          <a:prstGeom prst="rect">
            <a:avLst/>
          </a:prstGeom>
          <a:noFill/>
        </p:spPr>
        <p:txBody>
          <a:bodyPr wrap="square" lIns="0" rIns="0" tIns="0" bIns="0">
            <a:spAutoFit/>
          </a:bodyPr>
          <a:lstStyle/>
          <a:p>
            <a:pPr>
              <a:lnSpc>
                <a:spcPct val="115000"/>
              </a:lnSpc>
              <a:spcAft>
                <a:spcPts val="0"/>
              </a:spcAft>
            </a:pPr>
            <a:r>
              <a:rPr sz="1410" b="0">
                <a:solidFill>
                  <a:srgbClr val="27364A"/>
                </a:solidFill>
                <a:latin typeface="DejaVu Sans"/>
              </a:rPr>
              <a:t>The plant upgrade addendum has been approved. A decision on the cold vent stack (“Stack Frío”) remains pending. SMP must submit a comparative analysis of flaring and cold venting to the competent authority.</a:t>
            </a:r>
          </a:p>
        </p:txBody>
      </p:sp>
    </p:spTree>
    <p:extLst>
      <p:ext uri="{BB962C8B-B14F-4D97-AF65-F5344CB8AC3E}">
        <p14:creationId xmlns:p14="http://schemas.microsoft.com/office/powerpoint/2010/main" val="40691717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B77D12DC-A94E-1D48-830B-77CD72222BF6}"/>
              </a:ext>
            </a:extLst>
          </p:cNvPr>
          <p:cNvSpPr/>
          <p:nvPr/>
        </p:nvSpPr>
        <p:spPr>
          <a:xfrm rot="5400000">
            <a:off x="839581" y="-839587"/>
            <a:ext cx="7481455" cy="9160629"/>
          </a:xfrm>
          <a:prstGeom prst="rect">
            <a:avLst/>
          </a:prstGeom>
          <a:solidFill>
            <a:srgbClr val="3709E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solidFill>
                <a:srgbClr val="013EF5"/>
              </a:solidFill>
            </a:endParaRPr>
          </a:p>
        </p:txBody>
      </p:sp>
      <p:pic>
        <p:nvPicPr>
          <p:cNvPr id="4" name="Imagen 3">
            <a:extLst>
              <a:ext uri="{FF2B5EF4-FFF2-40B4-BE49-F238E27FC236}">
                <a16:creationId xmlns:a16="http://schemas.microsoft.com/office/drawing/2014/main" id="{B315D585-FE8E-EA4E-B4EC-ED87EC19A53D}"/>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rot="10800000">
            <a:off x="-6" y="4846320"/>
            <a:ext cx="5685912" cy="2011680"/>
          </a:xfrm>
          <a:prstGeom prst="rect">
            <a:avLst/>
          </a:prstGeom>
        </p:spPr>
      </p:pic>
      <p:pic>
        <p:nvPicPr>
          <p:cNvPr id="11" name="Imagen 10">
            <a:extLst>
              <a:ext uri="{FF2B5EF4-FFF2-40B4-BE49-F238E27FC236}">
                <a16:creationId xmlns:a16="http://schemas.microsoft.com/office/drawing/2014/main" id="{9E2FAC0C-4F42-9344-92EE-79D85E878C72}"/>
              </a:ext>
            </a:extLst>
          </p:cNvPr>
          <p:cNvPicPr>
            <a:picLocks noChangeAspect="1"/>
          </p:cNvPicPr>
          <p:nvPr/>
        </p:nvPicPr>
        <p:blipFill rotWithShape="1">
          <a:blip r:embed="rId4" cstate="email">
            <a:extLst>
              <a:ext uri="{28A0092B-C50C-407E-A947-70E740481C1C}">
                <a14:useLocalDpi xmlns:a14="http://schemas.microsoft.com/office/drawing/2010/main"/>
              </a:ext>
            </a:extLst>
          </a:blip>
          <a:srcRect/>
          <a:stretch/>
        </p:blipFill>
        <p:spPr>
          <a:xfrm rot="10800000">
            <a:off x="5685904" y="4846320"/>
            <a:ext cx="3456432" cy="2011680"/>
          </a:xfrm>
          <a:prstGeom prst="rect">
            <a:avLst/>
          </a:prstGeom>
        </p:spPr>
      </p:pic>
      <p:sp>
        <p:nvSpPr>
          <p:cNvPr id="18" name="CuadroTexto 17">
            <a:extLst>
              <a:ext uri="{FF2B5EF4-FFF2-40B4-BE49-F238E27FC236}">
                <a16:creationId xmlns:a16="http://schemas.microsoft.com/office/drawing/2014/main" id="{8F24F8F8-D8EA-2C4A-868E-5B58C994A5EB}"/>
              </a:ext>
            </a:extLst>
          </p:cNvPr>
          <p:cNvSpPr txBox="1"/>
          <p:nvPr/>
        </p:nvSpPr>
        <p:spPr>
          <a:xfrm>
            <a:off x="365760" y="2468880"/>
            <a:ext cx="7589520" cy="1143000"/>
          </a:xfrm>
          <a:prstGeom prst="rect">
            <a:avLst/>
          </a:prstGeom>
          <a:noFill/>
        </p:spPr>
        <p:txBody>
          <a:bodyPr wrap="square" lIns="0" tIns="0" rIns="0" bIns="0" rtlCol="0">
            <a:spAutoFit/>
          </a:bodyPr>
          <a:lstStyle/>
          <a:p>
            <a:pPr>
              <a:lnSpc>
                <a:spcPts val="7220"/>
              </a:lnSpc>
              <a:spcAft>
                <a:spcPts val="0"/>
              </a:spcAft>
            </a:pPr>
            <a:r>
              <a:rPr sz="6000" b="1">
                <a:solidFill>
                  <a:srgbClr val="FFFFFF"/>
                </a:solidFill>
                <a:latin typeface="Aptos"/>
              </a:rPr>
              <a:t>The End</a:t>
            </a:r>
          </a:p>
        </p:txBody>
      </p:sp>
      <p:sp>
        <p:nvSpPr>
          <p:cNvPr id="19" name="TextBox 18"/>
          <p:cNvSpPr txBox="1"/>
          <p:nvPr/>
        </p:nvSpPr>
        <p:spPr>
          <a:xfrm>
            <a:off x="8001000" y="73152"/>
            <a:ext cx="987552" cy="182880"/>
          </a:xfrm>
          <a:prstGeom prst="rect">
            <a:avLst/>
          </a:prstGeom>
          <a:noFill/>
        </p:spPr>
        <p:txBody>
          <a:bodyPr wrap="none" lIns="0" tIns="0" rIns="0" bIns="0">
            <a:spAutoFit/>
          </a:bodyPr>
          <a:lstStyle/>
          <a:p>
            <a:r>
              <a:rPr sz="930" b="1">
                <a:solidFill>
                  <a:srgbClr val="FFFFFF"/>
                </a:solidFill>
                <a:latin typeface="Aptos"/>
              </a:rPr>
              <a:t>SAN MATÍAS</a:t>
            </a:r>
          </a:p>
        </p:txBody>
      </p:sp>
      <p:sp>
        <p:nvSpPr>
          <p:cNvPr id="20" name="TextBox 19"/>
          <p:cNvSpPr txBox="1"/>
          <p:nvPr/>
        </p:nvSpPr>
        <p:spPr>
          <a:xfrm>
            <a:off x="8001000" y="228600"/>
            <a:ext cx="987552" cy="182880"/>
          </a:xfrm>
          <a:prstGeom prst="rect">
            <a:avLst/>
          </a:prstGeom>
          <a:noFill/>
        </p:spPr>
        <p:txBody>
          <a:bodyPr wrap="none" lIns="0" tIns="0" rIns="0" bIns="0">
            <a:spAutoFit/>
          </a:bodyPr>
          <a:lstStyle/>
          <a:p>
            <a:r>
              <a:rPr sz="800" b="0">
                <a:solidFill>
                  <a:srgbClr val="FFFFFF"/>
                </a:solidFill>
                <a:latin typeface="Aptos"/>
              </a:rPr>
              <a:t>PIPELINE</a:t>
            </a:r>
          </a:p>
        </p:txBody>
      </p:sp>
    </p:spTree>
  </p:cSld>
  <p:clrMapOvr>
    <a:masterClrMapping/>
  </p:clrMapOvr>
</p:sld>
</file>

<file path=ppt/theme/theme1.xml><?xml version="1.0" encoding="utf-8"?>
<a:theme xmlns:a="http://schemas.openxmlformats.org/drawingml/2006/main" name="Office 2013 - Tema de 2022">
  <a:themeElements>
    <a:clrScheme name="Tema de 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Tema de 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ema d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6168</TotalTime>
  <Words>2063</Words>
  <Application>Microsoft Office PowerPoint</Application>
  <PresentationFormat>Presentación en pantalla (4:3)</PresentationFormat>
  <Paragraphs>147</Paragraphs>
  <Slides>7</Slides>
  <Notes>6</Notes>
  <HiddenSlides>0</HiddenSlides>
  <MMClips>0</MMClips>
  <ScaleCrop>false</ScaleCrop>
  <HeadingPairs>
    <vt:vector size="6" baseType="variant">
      <vt:variant>
        <vt:lpstr>Fuentes usadas</vt:lpstr>
      </vt:variant>
      <vt:variant>
        <vt:i4>10</vt:i4>
      </vt:variant>
      <vt:variant>
        <vt:lpstr>Tema</vt:lpstr>
      </vt:variant>
      <vt:variant>
        <vt:i4>1</vt:i4>
      </vt:variant>
      <vt:variant>
        <vt:lpstr>Títulos de diapositiva</vt:lpstr>
      </vt:variant>
      <vt:variant>
        <vt:i4>7</vt:i4>
      </vt:variant>
    </vt:vector>
  </HeadingPairs>
  <TitlesOfParts>
    <vt:vector size="18" baseType="lpstr">
      <vt:lpstr>Aptos</vt:lpstr>
      <vt:lpstr>Aptos Display</vt:lpstr>
      <vt:lpstr>Aptos ExtraBold</vt:lpstr>
      <vt:lpstr>Aptos Light</vt:lpstr>
      <vt:lpstr>Arial</vt:lpstr>
      <vt:lpstr>Calibri</vt:lpstr>
      <vt:lpstr>Calibri Light</vt:lpstr>
      <vt:lpstr>Courier New</vt:lpstr>
      <vt:lpstr>DejaVu Sans</vt:lpstr>
      <vt:lpstr>Wingdings</vt:lpstr>
      <vt:lpstr>Office 2013 - Tema de 2022</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SMP October 2026 | v16 | Photo log added third from last; agenda updated</dc:title>
  <dc:subject>Data unchanged; safety and environment photo/highlight slides inserted</dc:subject>
  <dc:creator>Agustina Briceño</dc:creator>
  <cp:lastModifiedBy>William Saenz santamaria</cp:lastModifiedBy>
  <cp:revision>16</cp:revision>
  <dcterms:created xsi:type="dcterms:W3CDTF">2026-03-04T19:10:22Z</dcterms:created>
  <dcterms:modified xsi:type="dcterms:W3CDTF">2026-10-27T16:14:09Z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fb622c24-5861-4880-bcaa-37216e265fb3_Enabled">
    <vt:lpwstr>true</vt:lpwstr>
  </property>
  <property fmtid="{D5CDD505-2E9C-101B-9397-08002B2CF9AE}" pid="3" name="MSIP_Label_fb622c24-5861-4880-bcaa-37216e265fb3_SetDate">
    <vt:lpwstr>2026-10-26T17:29:30Z</vt:lpwstr>
  </property>
  <property fmtid="{D5CDD505-2E9C-101B-9397-08002B2CF9AE}" pid="4" name="MSIP_Label_fb622c24-5861-4880-bcaa-37216e265fb3_Method">
    <vt:lpwstr>Privileged</vt:lpwstr>
  </property>
  <property fmtid="{D5CDD505-2E9C-101B-9397-08002B2CF9AE}" pid="5" name="MSIP_Label_fb622c24-5861-4880-bcaa-37216e265fb3_Name">
    <vt:lpwstr>YPF - Publica</vt:lpwstr>
  </property>
  <property fmtid="{D5CDD505-2E9C-101B-9397-08002B2CF9AE}" pid="6" name="MSIP_Label_fb622c24-5861-4880-bcaa-37216e265fb3_SiteId">
    <vt:lpwstr>038018c3-616c-4b46-ad9b-aa9007f701b5</vt:lpwstr>
  </property>
  <property fmtid="{D5CDD505-2E9C-101B-9397-08002B2CF9AE}" pid="7" name="MSIP_Label_fb622c24-5861-4880-bcaa-37216e265fb3_ActionId">
    <vt:lpwstr>feabad59-8485-480b-aae4-35bb52f52600</vt:lpwstr>
  </property>
  <property fmtid="{D5CDD505-2E9C-101B-9397-08002B2CF9AE}" pid="8" name="MSIP_Label_fb622c24-5861-4880-bcaa-37216e265fb3_ContentBits">
    <vt:lpwstr>3</vt:lpwstr>
  </property>
  <property fmtid="{D5CDD505-2E9C-101B-9397-08002B2CF9AE}" pid="9" name="MSIP_Label_fb622c24-5861-4880-bcaa-37216e265fb3_Tag">
    <vt:lpwstr>10, 0, 1, 1</vt:lpwstr>
  </property>
  <property fmtid="{D5CDD505-2E9C-101B-9397-08002B2CF9AE}" pid="10" name="ClassificationContentMarkingFooterLocations">
    <vt:lpwstr>Office 2013 - Tema de 2022:10</vt:lpwstr>
  </property>
  <property fmtid="{D5CDD505-2E9C-101B-9397-08002B2CF9AE}" pid="11" name="ClassificationContentMarkingFooterText">
    <vt:lpwstr>Documento: YPF-Público</vt:lpwstr>
  </property>
  <property fmtid="{D5CDD505-2E9C-101B-9397-08002B2CF9AE}" pid="12" name="ClassificationContentMarkingHeaderLocations">
    <vt:lpwstr>Office 2013 - Tema de 2022:9</vt:lpwstr>
  </property>
  <property fmtid="{D5CDD505-2E9C-101B-9397-08002B2CF9AE}" pid="13" name="ClassificationContentMarkingHeaderText">
    <vt:lpwstr>Documento: YPF-Público</vt:lpwstr>
  </property>
</Properties>
</file>