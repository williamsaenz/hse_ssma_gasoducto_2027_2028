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1"/>
  </p:notesMasterIdLst>
  <p:sldIdLst>
    <p:sldId id="2146850551"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102" d="100"/>
          <a:sy n="102" d="100"/>
        </p:scale>
        <p:origin x="1644" y="102"/>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7.xml"/><Relationship Id="rId11" Type="http://schemas.openxmlformats.org/officeDocument/2006/relationships/notesMaster" Target="notesMasters/notes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27/10/2026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CRITERIO Y FUENTES DE LA LÁMINA AMBIENTAL.</a:t>
            </a:r>
          </a:p>
          <a:p>
            <a:r>
              <a:t>Adrián Leandro de Girolamo, jefe identificado por el usuario, indica en su reenvío del 26/10/2026: «Temas relevantes de ambiente para poner en un slide debajo de los datos estadisticos, estos ultimos deben quedar como se los mande».</a:t>
            </a:r>
          </a:p>
          <a:p>
            <a:r>
              <a:t>La síntesis ambiental queda después de los gráficos ambientales. Los recuadros PHOTO / SUPPORTING DOCUMENT eran una sugerencia opcional del asistente; no un requerimiento de Adrián. Se eliminaron. No hace falta pedir fotos para explicar estos dos trámites/hitos. Si se desea apoyo adicional, coordinar con Nicolás Auriemma, sin convertirlo en requisito de cierre.</a:t>
            </a:r>
          </a:p>
          <a:p>
            <a:r>
              <a:t>Fuente de los temas: correo de Nicolás Auriemma de 26/10/2026 reenviado por Adrián. (1) Aprobación de la Adenda Actualización Planta Compresora Allen; pendiente Stack Frío: presentar comparación antorcha vs venteo frío para discutir ante la autoridad. (2) Gestión pendiente con Serman para presentar ante SsRH las observaciones del Estudio de Riesgo Hídrico para obtener el permiso hídrico del tramo neuquino.</a:t>
            </a:r>
          </a:p>
          <a:p>
            <a:r>
              <a:t>Fecha 21/10/2026 y Resolución 962/2026: captura previa de la lámina de permisos, no documento original revisado. No afirmar que el venteo frío o el permiso hídrico estén aprobados.</a:t>
            </a:r>
          </a:p>
          <a:p>
            <a:r>
              <a:t>La cadena de Paula pide indicadores al 30/09 y novedades de octubre. Los datos estadísticos se conservan. El cierre de indicadores ambientales de octubre ocurre a principios de noviembre, según Nicolás. No inferir ausencia de incidentes a partir de ese comentario.</a:t>
            </a:r>
          </a:p>
          <a:p>
            <a:r>
              <a:t>La lámina completa de permisos ya está en el comité que tiene SESA; esta síntesis responde al pedido adicional de Adrián. No se contactó a nadie ni se envió correo.</a:t>
            </a:r>
          </a:p>
          <a:p/>
          <a:p/>
          <a:p>
            <a:r>
              <a:t>REDACCIÓN FINAL DE LA LÁMINA: se hace visible el término cold vent stack (Stack Frío) y su estado pendiente. Se explicita que la respuesta y presentación del Estudio de Riesgo Hídrico siguen pendientes, con Serman, para avanzar en el permiso. La aprobación de la adenda no equivale a resolver el Stack Frío. Los textos coinciden con los dos puntos que el usuario transcribió de los correos. No se añaden fotos ni nuevos hechos.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27/10/2026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27/10/2026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27/10/2026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27/10/2026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emf"/></Relationships>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1.3 &gt; DEDICATED GAS PIPELINE UPDATE &gt; Environment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20624" y="886968"/>
            <a:ext cx="8275320" cy="338328"/>
          </a:xfrm>
          <a:prstGeom prst="rect">
            <a:avLst/>
          </a:prstGeom>
          <a:noFill/>
        </p:spPr>
        <p:txBody>
          <a:bodyPr wrap="square" lIns="18288" rIns="18288" tIns="0" bIns="0">
            <a:spAutoFit/>
          </a:bodyPr>
          <a:lstStyle/>
          <a:p>
            <a:pPr>
              <a:spcAft>
                <a:spcPts val="800"/>
              </a:spcAft>
              <a:defRPr sz="1080" b="1">
                <a:solidFill>
                  <a:srgbClr val="013EF5"/>
                </a:solidFill>
                <a:latin typeface="DejaVu Sans"/>
              </a:defRPr>
            </a:pPr>
            <a:r>
              <a:t>OCTOBER 2026 · RELEVANT ENVIRONMENTAL TOPICS · reported 26 Oct</a:t>
            </a:r>
          </a:p>
        </p:txBody>
      </p:sp>
      <p:sp>
        <p:nvSpPr>
          <p:cNvPr id="14" name="Rectangle 13"/>
          <p:cNvSpPr/>
          <p:nvPr/>
        </p:nvSpPr>
        <p:spPr>
          <a:xfrm>
            <a:off x="420624" y="1499616"/>
            <a:ext cx="8284464" cy="1901952"/>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1682496"/>
            <a:ext cx="7909560" cy="347472"/>
          </a:xfrm>
          <a:prstGeom prst="rect">
            <a:avLst/>
          </a:prstGeom>
          <a:noFill/>
        </p:spPr>
        <p:txBody>
          <a:bodyPr wrap="square" lIns="18288" rIns="18288" tIns="0" bIns="0">
            <a:spAutoFit/>
          </a:bodyPr>
          <a:lstStyle/>
          <a:p>
            <a:pPr>
              <a:spcAft>
                <a:spcPts val="800"/>
              </a:spcAft>
              <a:defRPr sz="1300" b="1">
                <a:solidFill>
                  <a:srgbClr val="013EF5"/>
                </a:solidFill>
                <a:latin typeface="DejaVu Sans"/>
              </a:defRPr>
            </a:pPr>
            <a:r>
              <a:t>ALLEN COMPRESSOR PLANT — EIA ADDENDUM APPROVED</a:t>
            </a:r>
          </a:p>
        </p:txBody>
      </p:sp>
      <p:sp>
        <p:nvSpPr>
          <p:cNvPr id="16" name="TextBox 15"/>
          <p:cNvSpPr txBox="1"/>
          <p:nvPr/>
        </p:nvSpPr>
        <p:spPr>
          <a:xfrm>
            <a:off x="603504" y="2103120"/>
            <a:ext cx="7909560" cy="1207008"/>
          </a:xfrm>
          <a:prstGeom prst="rect">
            <a:avLst/>
          </a:prstGeom>
          <a:noFill/>
        </p:spPr>
        <p:txBody>
          <a:bodyPr wrap="square" lIns="18288" rIns="18288" tIns="0" bIns="0">
            <a:spAutoFit/>
          </a:bodyPr>
          <a:lstStyle/>
          <a:p>
            <a:pPr>
              <a:spcAft>
                <a:spcPts val="400"/>
              </a:spcAft>
              <a:defRPr sz="1230" b="0">
                <a:solidFill>
                  <a:srgbClr val="27364A"/>
                </a:solidFill>
                <a:latin typeface="DejaVu Sans"/>
              </a:defRPr>
            </a:pPr>
            <a:r>
              <a:rPr sz="1200"/>
              <a:t>“Allen Compressor Plant Update” addendum approved on 21 October 2026 (Resolution 962/2026).
The decision on the cold vent stack (“Stack Frío”) remains pending. SMP must submit a comparative analysis of flaring and cold venting to the competent authority for discussion.</a:t>
            </a:r>
          </a:p>
          <a:p>
            <a:pPr>
              <a:spcAft>
                <a:spcPts val="400"/>
              </a:spcAft>
              <a:defRPr sz="1230" b="0">
                <a:solidFill>
                  <a:srgbClr val="27364A"/>
                </a:solidFill>
                <a:latin typeface="DejaVu Sans"/>
              </a:defRPr>
            </a:pPr>
          </a:p>
        </p:txBody>
      </p:sp>
      <p:sp>
        <p:nvSpPr>
          <p:cNvPr id="17" name="Rectangle 16"/>
          <p:cNvSpPr/>
          <p:nvPr/>
        </p:nvSpPr>
        <p:spPr>
          <a:xfrm>
            <a:off x="420624" y="3758184"/>
            <a:ext cx="8284464" cy="1901952"/>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 y="3941063"/>
            <a:ext cx="7909560" cy="347472"/>
          </a:xfrm>
          <a:prstGeom prst="rect">
            <a:avLst/>
          </a:prstGeom>
          <a:noFill/>
        </p:spPr>
        <p:txBody>
          <a:bodyPr wrap="square" lIns="18288" rIns="18288" tIns="0" bIns="0">
            <a:spAutoFit/>
          </a:bodyPr>
          <a:lstStyle/>
          <a:p>
            <a:pPr>
              <a:spcAft>
                <a:spcPts val="800"/>
              </a:spcAft>
              <a:defRPr sz="1300" b="1">
                <a:solidFill>
                  <a:srgbClr val="013EF5"/>
                </a:solidFill>
                <a:latin typeface="DejaVu Sans"/>
              </a:defRPr>
            </a:pPr>
            <a:r>
              <a:t>NEUQUÉN SECTION — WATER PERMIT PENDING</a:t>
            </a:r>
          </a:p>
        </p:txBody>
      </p:sp>
      <p:sp>
        <p:nvSpPr>
          <p:cNvPr id="19" name="TextBox 18"/>
          <p:cNvSpPr txBox="1"/>
          <p:nvPr/>
        </p:nvSpPr>
        <p:spPr>
          <a:xfrm>
            <a:off x="603504" y="4462272"/>
            <a:ext cx="7909560" cy="1024128"/>
          </a:xfrm>
          <a:prstGeom prst="rect">
            <a:avLst/>
          </a:prstGeom>
          <a:noFill/>
        </p:spPr>
        <p:txBody>
          <a:bodyPr wrap="square" lIns="18288" rIns="18288" tIns="0" bIns="0">
            <a:spAutoFit/>
          </a:bodyPr>
          <a:lstStyle/>
          <a:p>
            <a:pPr>
              <a:spcAft>
                <a:spcPts val="400"/>
              </a:spcAft>
              <a:defRPr sz="1230" b="0">
                <a:solidFill>
                  <a:srgbClr val="27364A"/>
                </a:solidFill>
                <a:latin typeface="DejaVu Sans"/>
              </a:defRPr>
            </a:pPr>
            <a:r>
              <a:rPr sz="1200"/>
              <a:t>The response to comments on the Water Risk Study and its submission to SSRH remain pending, in coordination with Serman.
Purpose: advance the water permit application for the Neuquén section.</a:t>
            </a:r>
          </a:p>
          <a:p>
            <a:pPr>
              <a:spcAft>
                <a:spcPts val="400"/>
              </a:spcAft>
              <a:defRPr sz="1230" b="0">
                <a:solidFill>
                  <a:srgbClr val="27364A"/>
                </a:solidFill>
                <a:latin typeface="DejaVu Sans"/>
              </a:defRPr>
            </a:pPr>
          </a:p>
        </p:txBody>
      </p:sp>
      <p:sp>
        <p:nvSpPr>
          <p:cNvPr id="20" name="TextBox 19"/>
          <p:cNvSpPr txBox="1"/>
          <p:nvPr/>
        </p:nvSpPr>
        <p:spPr>
          <a:xfrm>
            <a:off x="438912" y="6007608"/>
            <a:ext cx="8229600" cy="310896"/>
          </a:xfrm>
          <a:prstGeom prst="rect">
            <a:avLst/>
          </a:prstGeom>
          <a:noFill/>
        </p:spPr>
        <p:txBody>
          <a:bodyPr wrap="square" lIns="18288" rIns="18288" tIns="0" bIns="0">
            <a:spAutoFit/>
          </a:bodyPr>
          <a:lstStyle/>
          <a:p>
            <a:pPr>
              <a:spcAft>
                <a:spcPts val="800"/>
              </a:spcAft>
              <a:defRPr sz="950" b="0">
                <a:solidFill>
                  <a:srgbClr val="68717D"/>
                </a:solidFill>
                <a:latin typeface="DejaVu Sans"/>
              </a:defRPr>
            </a:pPr>
            <a:r>
              <a:t>Statistical indicators remain as supplied, through 30 September 2026.</a:t>
            </a:r>
          </a:p>
        </p:txBody>
      </p:sp>
      <p:sp>
        <p:nvSpPr>
          <p:cNvPr id="21" name="TextBox 20"/>
          <p:cNvSpPr txBox="1"/>
          <p:nvPr/>
        </p:nvSpPr>
        <p:spPr>
          <a:xfrm>
            <a:off x="8595360" y="6556248"/>
            <a:ext cx="274320" cy="201168"/>
          </a:xfrm>
          <a:prstGeom prst="rect">
            <a:avLst/>
          </a:prstGeom>
          <a:noFill/>
        </p:spPr>
        <p:txBody>
          <a:bodyPr wrap="square" lIns="18288" rIns="18288" tIns="0" bIns="0">
            <a:spAutoFit/>
          </a:bodyPr>
          <a:lstStyle/>
          <a:p>
            <a:pPr>
              <a:spcAft>
                <a:spcPts val="800"/>
              </a:spcAft>
              <a:defRPr sz="800" b="0">
                <a:solidFill>
                  <a:srgbClr val="68717D"/>
                </a:solidFill>
                <a:latin typeface="DejaVu Sans"/>
              </a:defRPr>
            </a:pPr>
            <a:r>
              <a:t>7</a:t>
            </a:r>
          </a:p>
        </p:txBody>
      </p:sp>
    </p:spTree>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6163</TotalTime>
  <Words>2028</Words>
  <Application>Microsoft Office PowerPoint</Application>
  <PresentationFormat>Presentación en pantalla (4:3)</PresentationFormat>
  <Paragraphs>168</Paragraphs>
  <Slides>9</Slides>
  <Notes>7</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9</vt:i4>
      </vt:variant>
    </vt:vector>
  </HeadingPairs>
  <TitlesOfParts>
    <vt:vector size="20" baseType="lpstr">
      <vt:lpstr>Aptos</vt:lpstr>
      <vt:lpstr>Aptos Display</vt:lpstr>
      <vt:lpstr>Aptos ExtraBold</vt:lpstr>
      <vt:lpstr>Aptos Light</vt:lpstr>
      <vt:lpstr>Arial</vt:lpstr>
      <vt:lpstr>Calibri</vt:lpstr>
      <vt:lpstr>Calibri Light</vt:lpstr>
      <vt:lpstr>Courier New</vt:lpstr>
      <vt:lpstr>DejaVu Sans</vt:lpstr>
      <vt:lpstr>Wingdings</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 Environment October Highlights | Final slide</dc:title>
  <dc:subject>Allen EIA addendum and pending cold vent stack decision; Neuquén water permit pending</dc:subject>
  <dc:creator>Agustina Briceño</dc:creator>
  <cp:lastModifiedBy>William Saenz santamaria</cp:lastModifiedBy>
  <cp:revision>5</cp:revision>
  <dcterms:created xsi:type="dcterms:W3CDTF">2026-03-04T19:10:22Z</dcterms:created>
  <dcterms:modified xsi:type="dcterms:W3CDTF">2026-10-27T15:06:42Z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