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9"/>
  </p:notesMasterIdLst>
  <p:sldIdLst>
    <p:sldId id="2146850440" r:id="rId2"/>
    <p:sldId id="2146850441" r:id="rId3"/>
    <p:sldId id="2146850420" r:id="rId4"/>
    <p:sldId id="2146850547" r:id="rId5"/>
    <p:sldId id="2146850549" r:id="rId6"/>
    <p:sldId id="2146850482" r:id="rId7"/>
    <p:sldId id="2146850550"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88" d="100"/>
          <a:sy n="88" d="100"/>
        </p:scale>
        <p:origin x="427" y="53"/>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commentAuthors" Target="commentAuthors.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7</c:v>
                </c:pt>
              </c:strCache>
            </c:strRef>
          </c:cat>
          <c:val>
            <c:numRef>
              <c:f>Sheet1!$B$2:$B$3</c:f>
              <c:numCache>
                <c:formatCode>General</c:formatCode>
                <c:ptCount val="2"/>
                <c:pt idx="0">
                  <c:v>2.0</c:v>
                </c:pt>
                <c:pt idx="1">
                  <c:v>7.0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7</c:v>
                </c:pt>
              </c:strCache>
            </c:strRef>
          </c:cat>
          <c:val>
            <c:numRef>
              <c:f>Sheet1!$C$2:$C$3</c:f>
              <c:numCache>
                <c:formatCode>General</c:formatCode>
                <c:ptCount val="2"/>
                <c:pt idx="0">
                  <c:v>2.0</c:v>
                </c:pt>
                <c:pt idx="1">
                  <c:v>9.0</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4</c:v>
                </c:pt>
              </c:strCache>
            </c:strRef>
          </c:cat>
          <c:val>
            <c:numRef>
              <c:f>Sheet1!$B$2:$B$3</c:f>
              <c:numCache>
                <c:formatCode>General</c:formatCode>
                <c:ptCount val="2"/>
                <c:pt idx="0">
                  <c:v>2.0</c:v>
                </c:pt>
                <c:pt idx="1">
                  <c:v>4.0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4</c:v>
                </c:pt>
              </c:strCache>
            </c:strRef>
          </c:cat>
          <c:val>
            <c:numRef>
              <c:f>Sheet1!$C$2:$C$3</c:f>
              <c:numCache>
                <c:formatCode>General</c:formatCode>
                <c:ptCount val="2"/>
                <c:pt idx="0">
                  <c:v>2.0</c:v>
                </c:pt>
                <c:pt idx="1">
                  <c:v>6.0</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2</c:v>
                </c:pt>
              </c:strCache>
            </c:strRef>
          </c:cat>
          <c:val>
            <c:numRef>
              <c:f>Sheet1!$B$2:$B$3</c:f>
              <c:numCache>
                <c:formatCode>General</c:formatCode>
                <c:ptCount val="2"/>
                <c:pt idx="0">
                  <c:v>2.0</c:v>
                </c:pt>
                <c:pt idx="1">
                  <c:v>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2</c:v>
                </c:pt>
              </c:strCache>
            </c:strRef>
          </c:cat>
          <c:val>
            <c:numRef>
              <c:f>Sheet1!$C$2:$C$3</c:f>
              <c:numCache>
                <c:formatCode>General</c:formatCode>
                <c:ptCount val="2"/>
                <c:pt idx="0">
                  <c:v>2.0</c:v>
                </c:pt>
                <c:pt idx="1">
                  <c:v>4.0</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167</c:v>
                </c:pt>
                <c:pt idx="1">
                  <c:v>Sep · total 295</c:v>
                </c:pt>
              </c:strCache>
            </c:strRef>
          </c:cat>
          <c:val>
            <c:numRef>
              <c:f>Sheet1!$B$2:$B$3</c:f>
              <c:numCache>
                <c:formatCode>General</c:formatCode>
                <c:ptCount val="2"/>
                <c:pt idx="0">
                  <c:v>167.0</c:v>
                </c:pt>
                <c:pt idx="1">
                  <c:v>295.0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167</c:v>
                </c:pt>
                <c:pt idx="1">
                  <c:v>Sep · total 295</c:v>
                </c:pt>
              </c:strCache>
            </c:strRef>
          </c:cat>
          <c:val>
            <c:numRef>
              <c:f>Sheet1!$C$2:$C$3</c:f>
              <c:numCache>
                <c:formatCode>General</c:formatCode>
                <c:ptCount val="2"/>
                <c:pt idx="0">
                  <c:v>167.0</c:v>
                </c:pt>
                <c:pt idx="1">
                  <c:v>462.0</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1,853</c:v>
                </c:pt>
                <c:pt idx="1">
                  <c:v>Sep · total 1,796</c:v>
                </c:pt>
              </c:strCache>
            </c:strRef>
          </c:cat>
          <c:val>
            <c:numRef>
              <c:f>Sheet1!$B$2:$B$3</c:f>
              <c:numCache>
                <c:formatCode>General</c:formatCode>
                <c:ptCount val="2"/>
                <c:pt idx="0">
                  <c:v>1853.0</c:v>
                </c:pt>
                <c:pt idx="1">
                  <c:v>1796.0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1,853</c:v>
                </c:pt>
                <c:pt idx="1">
                  <c:v>Sep · total 1,796</c:v>
                </c:pt>
              </c:strCache>
            </c:strRef>
          </c:cat>
          <c:val>
            <c:numRef>
              <c:f>Sheet1!$C$2:$C$3</c:f>
              <c:numCache>
                <c:formatCode>General</c:formatCode>
                <c:ptCount val="2"/>
                <c:pt idx="0">
                  <c:v>1853.0</c:v>
                </c:pt>
                <c:pt idx="1">
                  <c:v>3649.0</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a:p>
            <a:endParaRPr/>
          </a:p>
          <a:p>
            <a:r>
              <a:t>ENTREGA VIGENTE v05: basada en el archivo que el usuario volvió a adjuntar. Orden: seguridad gráficos, seguridad novedades, ambiente gráficos, ambiente novedades. Se conserva el 2.87% y todos los datos de gráficos. La lámina ambiental se completa sin recuadros de fotos. Esta entrega sigue siendo borrador: faltan novedades de seguridad, fotos de esa sección y actualización del helicóptero.</a:t>
            </a:r>
          </a:p>
          <a:p>
            <a:endParaRPr/>
          </a:p>
          <a:p>
            <a:r>
              <a:t>CAMBIO VIGENTE v07: a pedido del usuario se retiran de esta PPT general los dos temas de permisos ambientales citados en su último mensaje. Se elimina la lámina narrativa que los contenía; se conservan los gráficos ambientales y todos sus valores. La presentación general queda en 8 láminas. Este cambio no modifica el estado real de los trámites ni implica aprobación o cierre de los temas omitidos.</a:t>
            </a:r>
          </a:p>
          <a:p>
            <a:endParaRPr/>
          </a:p>
          <a:p>
            <a:r>
              <a:t>CAMBIO VIGENTE v08: el usuario también solicita omitir la lámina de indicadores ambientales de residuos y agua. Se elimina la antigua posición 6, además de la lámina narrativa ambiental retirada en v07. La entrega general actual tiene 7 láminas; conserva seguridad, capacitación 2.87%, novedades de seguridad pendientes y helicóptero.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HSE INDICATORS - TALKING POINTS (cut-off Oct 27, 2026; Oct figures pending data load)</a:t>
            </a:r>
          </a:p>
          <a:p>
            <a:endParaRPr/>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endParaRPr/>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The user confirms unchanged zero values for DAFWCF, TRICF, TVCR and FAC in the KPI table, with cut-off 26 October 2026. Historical graph data remain unchanged.</a:t>
            </a:r>
          </a:p>
          <a:p>
            <a:endParaRPr/>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endParaRPr/>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a:p>
            <a:endParaRPr/>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a:p>
            <a:endParaRPr/>
          </a:p>
          <a:p>
            <a:r>
              <a:t>ACTUALIZACIÓN v10 solicitada por el usuario: incorporar la tabla de referencia con DAFWCF 0, TRICF 0, TVCR 0 y FAC 0; mantener los valores e indicar corte al 26/10/2026 en lugar de septiembre. Los cuatro ceros fueron confirmados expresamente por el usuario como sin cambios, no se deducen de campos vacíos. Se mantiene la eliminación previa de .00 innecesarios en las metas: 2.35–3 y 0.79–2, sin cambiar esos valores. El corte al 26/10 aplica a esta tabla; las series históricas de gráficos no se recalculan ni se redatan.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PROACTIVE ACTIONS — HISTORICAL DATA THROUGH SEPTEMBER 2026.</a:t>
            </a:r>
          </a:p>
          <a:p>
            <a:r>
              <a:t>Bars represent monthly totals; the green line represents cumulative totals since August 2026. Only August and September are shown because October values are not available.</a:t>
            </a:r>
          </a:p>
          <a:p>
            <a:r>
              <a:t>The user explicitly requested removal of the empty Oct · pending category from the five charts on this slide. The categories and numbers for August and September remain unchanged. October is not shown as zero and is not estimated.</a:t>
            </a:r>
          </a:p>
          <a:p>
            <a:r>
              <a:t>Management safety walks: August 2, September 7; cumulative 2 and 9.</a:t>
            </a:r>
          </a:p>
          <a:p>
            <a:r>
              <a:t>Safety campaigns: August 2, September 4; cumulative 2 and 6.</a:t>
            </a:r>
          </a:p>
          <a:p>
            <a:r>
              <a:t>Drills: August 2, September 2; cumulative 2 and 4. The target is 100% of scheduled drills; counts alone do not establish compliance.</a:t>
            </a:r>
          </a:p>
          <a:p>
            <a:r>
              <a:t>Observations (OCS): August 167, September 295; cumulative 167 and 462.</a:t>
            </a:r>
          </a:p>
          <a:p>
            <a:r>
              <a:t>Training hours (HHS): August 1853, September 1796; cumulative 1853 and 3649.</a:t>
            </a:r>
          </a:p>
          <a:p>
            <a:r>
              <a:t>The training card remains 2.87%, as previously confirmed by the user; its target remains ≥1%.</a:t>
            </a:r>
          </a:p>
          <a:p>
            <a:r>
              <a:t>Alcance de esta edición: únicamente los cinco gráficos de esta lámina y sus libros incrustados; se conservan las demás láminas del archivo adjunto, sus ediciones y The End como cierre. Los gráficos de frecuencia de otra lámina no están incluidos en este pedido específico.</a:t>
            </a:r>
          </a:p>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ACTUALIZACIÓN ÚNICAMENTE DE LA LÁMINA 5 — TEMAS GENERALES DE SEGURIDAD.</a:t>
            </a:r>
          </a:p>
          <a:p>
            <a:r>
              <a:t>El usuario indica retirar todos los espacios para fotos y sustituirlos solo por tres ítems generales, sin enfocarlos exclusivamente en la planta. Se mantiene inglés para continuidad con el resto de la presentación.</a:t>
            </a:r>
          </a:p>
          <a:p>
            <a:r>
              <a:t>Fuente: mensaje transcrito por el usuario: (1) se recibió en obra todo el equipamiento de rescate en espacios confinados; (2) se realizó el entrenamiento con el citado equipamiento; (3) se realizaron las caminatas gerenciales al 100% de lo que va del mes.</a:t>
            </a:r>
          </a:p>
          <a:p>
            <a:r>
              <a:t>Redacción en español de referencia:</a:t>
            </a:r>
          </a:p>
          <a:p>
            <a:r>
              <a:t>• Se recibió en obra la totalidad del equipamiento de rescate en espacios confinados.</a:t>
            </a:r>
          </a:p>
          <a:p>
            <a:r>
              <a:t>• Se realizó el entrenamiento para el uso de este equipamiento.</a:t>
            </a:r>
          </a:p>
          <a:p>
            <a:r>
              <a:t>• Se completó el 100% de las caminatas gerenciales programadas a la fecha de corte.</a:t>
            </a:r>
          </a:p>
          <a:p>
            <a:r>
              <a:t>El 100% corresponde a lo programado hasta el corte del informe, no a todo el mes de octubre. No se agregan cantidades, participantes, certificaciones, fechas de ejecución ni alcance de frentes que no fueron informados. No se necesitan fotos para esta lámina. El resto de la PPT se mantiene sin cambios, incluidas las omisiones ambientales y el 2.87% de capacitación.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Lámina final de cierre solicitada por el usuario a partir del segundo pantallazo. Diseño editable con el fondo y patrón gráfico de la portada original, texto The End y nombre del proyecto. Se agrega al final de la PPT general; no sustituye otras láminas.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emf"/><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emf"/><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emf"/><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5"/>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p>
          <a:p>
            <a:pPr marL="0" lvl="1">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r>
              <a:rPr lang="en-GB" sz="2000" dirty="0">
                <a:solidFill>
                  <a:srgbClr val="013EF5"/>
                </a:solidFill>
                <a:latin typeface="Aptos" panose="020B0004020202020204" pitchFamily="34" charset="0"/>
              </a:rPr>
              <a:t>	</a:t>
            </a:r>
            <a:r>
              <a:rPr lang="en-GB" sz="3200" noProof="0" dirty="0">
                <a:solidFill>
                  <a:srgbClr val="013EF5"/>
                </a:solidFill>
                <a:latin typeface="Aptos Light" panose="020B0004020202020204" pitchFamily="34" charset="0"/>
              </a:rPr>
              <a:t> </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31" name="TextBox 30"/>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286232"/>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dirty="0">
                <a:solidFill>
                  <a:srgbClr val="68717D"/>
                </a:solidFill>
                <a:latin typeface="Aptos"/>
              </a:rPr>
              <a:t>Cum. Aug–Sep · target 2.35</a:t>
            </a:r>
            <a:br>
              <a:rPr dirty="0"/>
            </a:br>
            <a:endParaRPr sz="750" dirty="0">
              <a:solidFill>
                <a:srgbClr val="68717D"/>
              </a:solidFill>
              <a:latin typeface="Aptos"/>
            </a:endParaRP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286232"/>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dirty="0">
                <a:solidFill>
                  <a:srgbClr val="68717D"/>
                </a:solidFill>
                <a:latin typeface="Aptos"/>
              </a:rPr>
              <a:t>Cum. Aug–Sep · target 0.79</a:t>
            </a:r>
            <a:br>
              <a:rPr dirty="0"/>
            </a:br>
            <a:endParaRPr sz="750" dirty="0">
              <a:solidFill>
                <a:srgbClr val="68717D"/>
              </a:solidFill>
              <a:latin typeface="Aptos"/>
            </a:endParaRP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Cumulative to 30 Sep 2026</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Other KPIs · </a:t>
            </a:r>
            <a:r>
              <a:rPr lang="en-GB" sz="900" b="1" dirty="0">
                <a:solidFill>
                  <a:srgbClr val="013EF5"/>
                </a:solidFill>
                <a:latin typeface="Aptos"/>
              </a:rPr>
              <a:t>September</a:t>
            </a:r>
            <a:r>
              <a:rPr lang="en-GB" sz="900" b="1" i="0" noProof="0" dirty="0">
                <a:solidFill>
                  <a:srgbClr val="013EF5"/>
                </a:solidFill>
                <a:latin typeface="Aptos"/>
              </a:rPr>
              <a:t> 2026</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000000"/>
                          </a:solidFill>
                          <a:latin typeface="Aptos"/>
                        </a:rPr>
                        <a:t>0</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010708143"/>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384149333"/>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5"/>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6"/>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REPORTED VALUE</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40" name="TextBox 3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5</a:t>
            </a:r>
          </a:p>
        </p:txBody>
      </p:sp>
      <p:sp>
        <p:nvSpPr>
          <p:cNvPr id="25" name="TextBox 24"/>
          <p:cNvSpPr txBox="1"/>
          <p:nvPr/>
        </p:nvSpPr>
        <p:spPr>
          <a:xfrm>
            <a:off x="420624" y="886968"/>
            <a:ext cx="8302752" cy="365760"/>
          </a:xfrm>
          <a:prstGeom prst="rect">
            <a:avLst/>
          </a:prstGeom>
          <a:noFill/>
        </p:spPr>
        <p:txBody>
          <a:bodyPr wrap="square" lIns="13716" tIns="0" rIns="13716" bIns="0">
            <a:spAutoFit/>
          </a:bodyPr>
          <a:lstStyle/>
          <a:p>
            <a:pPr>
              <a:lnSpc>
                <a:spcPct val="112000"/>
              </a:lnSpc>
              <a:spcAft>
                <a:spcPts val="0"/>
              </a:spcAft>
            </a:pPr>
            <a:r>
              <a:rPr sz="1100" b="1">
                <a:solidFill>
                  <a:srgbClr val="013EF5"/>
                </a:solidFill>
                <a:latin typeface="DejaVu Sans"/>
              </a:rPr>
              <a:t>OCTOBER 2026 · GENERAL HSE HIGHLIGHTS · cut-off 27 Oct</a:t>
            </a:r>
          </a:p>
        </p:txBody>
      </p:sp>
      <p:sp>
        <p:nvSpPr>
          <p:cNvPr id="26" name="Oval 25"/>
          <p:cNvSpPr/>
          <p:nvPr/>
        </p:nvSpPr>
        <p:spPr>
          <a:xfrm>
            <a:off x="548640" y="1856231"/>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2104" y="1764792"/>
            <a:ext cx="7735824" cy="1033271"/>
          </a:xfrm>
          <a:prstGeom prst="rect">
            <a:avLst/>
          </a:prstGeom>
          <a:noFill/>
        </p:spPr>
        <p:txBody>
          <a:bodyPr wrap="square" lIns="13716" tIns="0" rIns="13716" bIns="0">
            <a:spAutoFit/>
          </a:bodyPr>
          <a:lstStyle/>
          <a:p>
            <a:pPr>
              <a:lnSpc>
                <a:spcPct val="112000"/>
              </a:lnSpc>
              <a:spcAft>
                <a:spcPts val="0"/>
              </a:spcAft>
            </a:pPr>
            <a:r>
              <a:rPr sz="1900" b="0">
                <a:solidFill>
                  <a:srgbClr val="27364A"/>
                </a:solidFill>
                <a:latin typeface="DejaVu Sans"/>
              </a:rPr>
              <a:t>All confined space rescue equipment was received on site.</a:t>
            </a:r>
          </a:p>
        </p:txBody>
      </p:sp>
      <p:sp>
        <p:nvSpPr>
          <p:cNvPr id="28" name="Oval 27"/>
          <p:cNvSpPr/>
          <p:nvPr/>
        </p:nvSpPr>
        <p:spPr>
          <a:xfrm>
            <a:off x="548640" y="3163824"/>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2104" y="3072384"/>
            <a:ext cx="7735824" cy="1033271"/>
          </a:xfrm>
          <a:prstGeom prst="rect">
            <a:avLst/>
          </a:prstGeom>
          <a:noFill/>
        </p:spPr>
        <p:txBody>
          <a:bodyPr wrap="square" lIns="13716" tIns="0" rIns="13716" bIns="0">
            <a:spAutoFit/>
          </a:bodyPr>
          <a:lstStyle/>
          <a:p>
            <a:pPr>
              <a:lnSpc>
                <a:spcPct val="112000"/>
              </a:lnSpc>
              <a:spcAft>
                <a:spcPts val="0"/>
              </a:spcAft>
            </a:pPr>
            <a:r>
              <a:rPr sz="1900" b="0">
                <a:solidFill>
                  <a:srgbClr val="27364A"/>
                </a:solidFill>
                <a:latin typeface="DejaVu Sans"/>
              </a:rPr>
              <a:t>Training on the use of the confined space rescue equipment was completed.</a:t>
            </a:r>
          </a:p>
        </p:txBody>
      </p:sp>
      <p:sp>
        <p:nvSpPr>
          <p:cNvPr id="30" name="Oval 29"/>
          <p:cNvSpPr/>
          <p:nvPr/>
        </p:nvSpPr>
        <p:spPr>
          <a:xfrm>
            <a:off x="548640" y="4471416"/>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2104" y="4379976"/>
            <a:ext cx="7735824" cy="1033271"/>
          </a:xfrm>
          <a:prstGeom prst="rect">
            <a:avLst/>
          </a:prstGeom>
          <a:noFill/>
        </p:spPr>
        <p:txBody>
          <a:bodyPr wrap="square" lIns="13716" tIns="0" rIns="13716" bIns="0">
            <a:spAutoFit/>
          </a:bodyPr>
          <a:lstStyle/>
          <a:p>
            <a:pPr>
              <a:lnSpc>
                <a:spcPct val="112000"/>
              </a:lnSpc>
              <a:spcAft>
                <a:spcPts val="0"/>
              </a:spcAft>
            </a:pPr>
            <a:r>
              <a:rPr sz="1900" b="0">
                <a:solidFill>
                  <a:srgbClr val="27364A"/>
                </a:solidFill>
                <a:latin typeface="DejaVu Sans"/>
              </a:rPr>
              <a:t>100% of the management safety walks scheduled up to the reporting cut-off were completed.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tIns="0" bIns="0" rtlCol="0" anchor="t">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Vaca Muerta upstream major companies </a:t>
            </a:r>
            <a:r>
              <a:rPr lang="en-GB" sz="1040" noProof="0" dirty="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sz="1040" b="1" dirty="0">
                <a:latin typeface="Aptos" panose="020B0004020202020204" pitchFamily="34" charset="0"/>
              </a:rPr>
              <a:t>Vista</a:t>
            </a:r>
            <a:r>
              <a:rPr lang="en-US" sz="1040" dirty="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VMOS</a:t>
            </a:r>
            <a:r>
              <a:rPr lang="en-GB" sz="1040" noProof="0" dirty="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b="1" noProof="0" dirty="0">
                <a:latin typeface="Aptos" panose="020B0004020202020204" pitchFamily="34" charset="0"/>
              </a:rPr>
              <a:t>SMP</a:t>
            </a:r>
            <a:r>
              <a:rPr lang="en-GB" sz="1040" noProof="0" dirty="0">
                <a:latin typeface="Aptos" panose="020B0004020202020204" pitchFamily="34" charset="0"/>
              </a:rPr>
              <a:t> pipeline route extends over 473 km along 2 provinces with sections located far away from high-complexity medical centres </a:t>
            </a:r>
            <a:r>
              <a:rPr lang="en-GB" sz="1040" noProof="0" dirty="0">
                <a:latin typeface="Aptos" panose="020B0004020202020204" pitchFamily="34" charset="0"/>
                <a:sym typeface="Wingdings" panose="05000000000000000000" pitchFamily="2" charset="2"/>
              </a:rPr>
              <a:t> </a:t>
            </a:r>
            <a:r>
              <a:rPr lang="en-GB" sz="1040" noProof="0" dirty="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noProof="0" dirty="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7" name="TextBox 1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6</a:t>
            </a:r>
          </a:p>
        </p:txBody>
      </p:sp>
    </p:spTree>
    <p:extLst>
      <p:ext uri="{BB962C8B-B14F-4D97-AF65-F5344CB8AC3E}">
        <p14:creationId xmlns:p14="http://schemas.microsoft.com/office/powerpoint/2010/main" val="406917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4846320"/>
            <a:ext cx="5685912" cy="2011680"/>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4846320"/>
            <a:ext cx="3456432" cy="2011680"/>
          </a:xfrm>
          <a:prstGeom prst="rect">
            <a:avLst/>
          </a:prstGeom>
        </p:spPr>
      </p:pic>
      <p:sp>
        <p:nvSpPr>
          <p:cNvPr id="18" name="CuadroTexto 17">
            <a:extLst>
              <a:ext uri="{FF2B5EF4-FFF2-40B4-BE49-F238E27FC236}">
                <a16:creationId xmlns:a16="http://schemas.microsoft.com/office/drawing/2014/main" id="{8F24F8F8-D8EA-2C4A-868E-5B58C994A5EB}"/>
              </a:ext>
            </a:extLst>
          </p:cNvPr>
          <p:cNvSpPr txBox="1"/>
          <p:nvPr/>
        </p:nvSpPr>
        <p:spPr>
          <a:xfrm>
            <a:off x="365760" y="2468880"/>
            <a:ext cx="7589520" cy="1143000"/>
          </a:xfrm>
          <a:prstGeom prst="rect">
            <a:avLst/>
          </a:prstGeom>
          <a:noFill/>
        </p:spPr>
        <p:txBody>
          <a:bodyPr wrap="square" lIns="0" tIns="0" rIns="0" bIns="0" rtlCol="0">
            <a:spAutoFit/>
          </a:bodyPr>
          <a:lstStyle/>
          <a:p>
            <a:pPr>
              <a:lnSpc>
                <a:spcPts val="7220"/>
              </a:lnSpc>
              <a:spcAft>
                <a:spcPts val="0"/>
              </a:spcAft>
            </a:pPr>
            <a:r>
              <a:rPr sz="6000" b="1">
                <a:solidFill>
                  <a:srgbClr val="FFFFFF"/>
                </a:solidFill>
                <a:latin typeface="Aptos"/>
              </a:rPr>
              <a:t>The End</a:t>
            </a:r>
          </a:p>
        </p:txBody>
      </p:sp>
      <p:sp>
        <p:nvSpPr>
          <p:cNvPr id="19" name="TextBox 18"/>
          <p:cNvSpPr txBox="1"/>
          <p:nvPr/>
        </p:nvSpPr>
        <p:spPr>
          <a:xfrm>
            <a:off x="8001000" y="73152"/>
            <a:ext cx="987552" cy="182880"/>
          </a:xfrm>
          <a:prstGeom prst="rect">
            <a:avLst/>
          </a:prstGeom>
          <a:noFill/>
        </p:spPr>
        <p:txBody>
          <a:bodyPr wrap="none" lIns="0" tIns="0" rIns="0" bIns="0">
            <a:spAutoFit/>
          </a:bodyPr>
          <a:lstStyle/>
          <a:p>
            <a:r>
              <a:rPr sz="930" b="1">
                <a:solidFill>
                  <a:srgbClr val="FFFFFF"/>
                </a:solidFill>
                <a:latin typeface="Aptos"/>
              </a:rPr>
              <a:t>SAN MATÍAS</a:t>
            </a:r>
          </a:p>
        </p:txBody>
      </p:sp>
      <p:sp>
        <p:nvSpPr>
          <p:cNvPr id="20" name="TextBox 19"/>
          <p:cNvSpPr txBox="1"/>
          <p:nvPr/>
        </p:nvSpPr>
        <p:spPr>
          <a:xfrm>
            <a:off x="8001000" y="228600"/>
            <a:ext cx="987552" cy="182880"/>
          </a:xfrm>
          <a:prstGeom prst="rect">
            <a:avLst/>
          </a:prstGeom>
          <a:noFill/>
        </p:spPr>
        <p:txBody>
          <a:bodyPr wrap="none" lIns="0" tIns="0" rIns="0" bIns="0">
            <a:spAutoFit/>
          </a:bodyPr>
          <a:lstStyle/>
          <a:p>
            <a:r>
              <a:rPr sz="800" b="0">
                <a:solidFill>
                  <a:srgbClr val="FFFFFF"/>
                </a:solidFill>
                <a:latin typeface="Aptos"/>
              </a:rPr>
              <a:t>PIPELINE</a:t>
            </a:r>
          </a:p>
        </p:txBody>
      </p:sp>
    </p:spTree>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6168</TotalTime>
  <Words>2063</Words>
  <Application>Microsoft Office PowerPoint</Application>
  <PresentationFormat>Presentación en pantalla (4:3)</PresentationFormat>
  <Paragraphs>147</Paragraphs>
  <Slides>7</Slides>
  <Notes>6</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7</vt:i4>
      </vt:variant>
    </vt:vector>
  </HeadingPairs>
  <TitlesOfParts>
    <vt:vector size="18"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v12 | Safety bar charts show August and September only</dc:title>
  <dc:subject>Data unchanged; safety and environment photo/highlight slides inserted</dc:subject>
  <dc:creator>Agustina Briceño</dc:creator>
  <cp:lastModifiedBy>William Saenz santamaria</cp:lastModifiedBy>
  <cp:revision>12</cp:revision>
  <dcterms:created xsi:type="dcterms:W3CDTF">2026-03-04T19:10:22Z</dcterms:created>
  <dcterms:modified xsi:type="dcterms:W3CDTF">2026-10-27T16:14:09Z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