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1"/>
  </p:notesMasterIdLst>
  <p:sldIdLst>
    <p:sldId id="2146850440" r:id="rId2"/>
    <p:sldId id="2146850441" r:id="rId3"/>
    <p:sldId id="2146850420" r:id="rId4"/>
    <p:sldId id="2146850547" r:id="rId5"/>
    <p:sldId id="2146850549" r:id="rId7"/>
    <p:sldId id="2146850550" r:id="rId6"/>
    <p:sldId id="2146850482" r:id="rId9"/>
    <p:sldId id="2146850548"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102" d="100"/>
          <a:sy n="102" d="100"/>
        </p:scale>
        <p:origin x="1644" y="102"/>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5.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Sheet1!$B$2:$B$4</c:f>
              <c:numCache>
                <c:formatCode>General</c:formatCode>
                <c:ptCount val="3"/>
                <c:pt idx="0">
                  <c:v>2</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Sheet1!$C$2:$C$4</c:f>
              <c:numCache>
                <c:formatCode>General</c:formatCode>
                <c:ptCount val="3"/>
                <c:pt idx="0">
                  <c:v>2</c:v>
                </c:pt>
                <c:pt idx="1">
                  <c:v>9</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Sheet1!$B$2:$B$4</c:f>
              <c:numCache>
                <c:formatCode>General</c:formatCode>
                <c:ptCount val="3"/>
                <c:pt idx="0">
                  <c:v>2</c:v>
                </c:pt>
                <c:pt idx="1">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Sheet1!$C$2:$C$4</c:f>
              <c:numCache>
                <c:formatCode>General</c:formatCode>
                <c:ptCount val="3"/>
                <c:pt idx="0">
                  <c:v>2</c:v>
                </c:pt>
                <c:pt idx="1">
                  <c:v>6</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Sheet1!$B$2:$B$4</c:f>
              <c:numCache>
                <c:formatCode>General</c:formatCode>
                <c:ptCount val="3"/>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Sheet1!$C$2:$C$4</c:f>
              <c:numCache>
                <c:formatCode>General</c:formatCode>
                <c:ptCount val="3"/>
                <c:pt idx="0">
                  <c:v>2</c:v>
                </c:pt>
                <c:pt idx="1">
                  <c:v>4</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Sheet1!$B$2:$B$4</c:f>
              <c:numCache>
                <c:formatCode>General</c:formatCode>
                <c:ptCount val="3"/>
                <c:pt idx="0">
                  <c:v>167</c:v>
                </c:pt>
                <c:pt idx="1">
                  <c:v>295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Sheet1!$C$2:$C$4</c:f>
              <c:numCache>
                <c:formatCode>General</c:formatCode>
                <c:ptCount val="3"/>
                <c:pt idx="0">
                  <c:v>167</c:v>
                </c:pt>
                <c:pt idx="1">
                  <c:v>462</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Sheet1!$B$2:$B$4</c:f>
              <c:numCache>
                <c:formatCode>General</c:formatCode>
                <c:ptCount val="3"/>
                <c:pt idx="0">
                  <c:v>1853</c:v>
                </c:pt>
                <c:pt idx="1">
                  <c:v>1796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Sheet1!$C$2:$C$4</c:f>
              <c:numCache>
                <c:formatCode>General</c:formatCode>
                <c:ptCount val="3"/>
                <c:pt idx="0">
                  <c:v>1853</c:v>
                </c:pt>
                <c:pt idx="1">
                  <c:v>3649</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Monthly total</c:v>
                </c:pt>
              </c:strCache>
            </c:strRef>
          </c:tx>
          <c:spPr>
            <a:solidFill>
              <a:srgbClr val="013EF5"/>
            </a:solidFill>
            <a:ln>
              <a:noFill/>
            </a:ln>
          </c:spPr>
          <c:invertIfNegative val="1"/>
          <c:dLbls>
            <c:numFmt formatCode="0" sourceLinked="0"/>
            <c:spPr>
              <a:noFill/>
              <a:ln>
                <a:noFill/>
              </a:ln>
              <a:effectLst/>
            </c:spPr>
            <c:txPr>
              <a:bodyPr/>
              <a:lstStyle/>
              <a:p>
                <a:pPr>
                  <a:defRPr sz="1000" b="1">
                    <a:solidFill>
                      <a:srgbClr val="FFFFFF"/>
                    </a:solidFill>
                  </a:defRPr>
                </a:pPr>
                <a:endParaRPr lang="es-A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Sheet1!$B$2:$B$3</c:f>
              <c:numCache>
                <c:formatCode>General</c:formatCode>
                <c:ptCount val="2"/>
                <c:pt idx="0">
                  <c:v>99</c:v>
                </c:pt>
                <c:pt idx="1">
                  <c:v>93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0EC-407E-838F-29F239337853}"/>
            </c:ext>
          </c:extLst>
        </c:ser>
        <c:dLbls>
          <c:dLblPos val="inEnd"/>
          <c:showLegendKey val="0"/>
          <c:showVal val="1"/>
          <c:showCatName val="0"/>
          <c:showSerName val="0"/>
          <c:showPercent val="0"/>
          <c:showBubbleSize val="0"/>
        </c:dLbls>
        <c:gapWidth val="150"/>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dLbls>
            <c:numFmt formatCode="0" sourceLinked="0"/>
            <c:spPr>
              <a:noFill/>
              <a:ln>
                <a:noFill/>
              </a:ln>
              <a:effectLst/>
            </c:spPr>
            <c:txPr>
              <a:bodyPr/>
              <a:lstStyle/>
              <a:p>
                <a:pPr>
                  <a:defRPr sz="1000" b="1">
                    <a:solidFill>
                      <a:srgbClr val="2F7D32"/>
                    </a:solidFill>
                  </a:defRPr>
                </a:pPr>
                <a:endParaRPr lang="es-AR"/>
              </a:p>
            </c:txPr>
            <c:dLblPos val="t"/>
            <c:showLegendKey val="0"/>
            <c:showVal val="1"/>
            <c:showCatName val="0"/>
            <c:showSerName val="0"/>
            <c:showPercent val="1"/>
            <c:showBubbleSize val="1"/>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Sheet1!$C$2:$C$3</c:f>
              <c:numCache>
                <c:formatCode>General</c:formatCode>
                <c:ptCount val="2"/>
                <c:pt idx="0">
                  <c:v>99</c:v>
                </c:pt>
                <c:pt idx="1">
                  <c:v>192</c:v>
                </c:pt>
              </c:numCache>
            </c:numRef>
          </c:val>
          <c:smooth val="1"/>
          <c:extLst>
            <c:ext xmlns:c16="http://schemas.microsoft.com/office/drawing/2014/chart" uri="{C3380CC4-5D6E-409C-BE32-E72D297353CC}">
              <c16:uniqueId val="{00000001-30EC-407E-838F-29F239337853}"/>
            </c:ext>
          </c:extLst>
        </c:ser>
        <c:dLbls>
          <c:dLblPos val="t"/>
          <c:showLegendKey val="0"/>
          <c:showVal val="1"/>
          <c:showCatName val="0"/>
          <c:showSerName val="0"/>
          <c:showPercent val="1"/>
          <c:showBubbleSize val="1"/>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ax val="250"/>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majorUnit val="50"/>
      </c:valAx>
    </c:plotArea>
    <c:legend>
      <c:legendPos val="b"/>
      <c:overlay val="0"/>
      <c:txPr>
        <a:bodyPr/>
        <a:lstStyle/>
        <a:p>
          <a:pPr>
            <a:defRPr sz="700">
              <a:latin typeface="DejaVu Sans"/>
            </a:defRPr>
          </a:pPr>
          <a:endParaRPr lang="es-AR"/>
        </a:p>
      </c:txPr>
    </c:legend>
    <c:plotVisOnly val="1"/>
    <c:dispBlanksAs val="gap"/>
    <c:showDLblsOverMax val="1"/>
  </c:chart>
  <c:txPr>
    <a:bodyPr/>
    <a:lstStyle/>
    <a:p>
      <a:pPr>
        <a:defRPr sz="800">
          <a:latin typeface="DejaVu Sans"/>
        </a:defRPr>
      </a:pPr>
      <a:endParaRPr lang="es-A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Monthly total</c:v>
                </c:pt>
              </c:strCache>
            </c:strRef>
          </c:tx>
          <c:spPr>
            <a:solidFill>
              <a:srgbClr val="013EF5"/>
            </a:solidFill>
            <a:ln>
              <a:noFill/>
            </a:ln>
          </c:spPr>
          <c:invertIfNegative val="1"/>
          <c:dLbls>
            <c:numFmt formatCode="0" sourceLinked="0"/>
            <c:spPr>
              <a:noFill/>
              <a:ln>
                <a:noFill/>
              </a:ln>
              <a:effectLst/>
            </c:spPr>
            <c:txPr>
              <a:bodyPr/>
              <a:lstStyle/>
              <a:p>
                <a:pPr>
                  <a:defRPr sz="1000" b="1">
                    <a:solidFill>
                      <a:srgbClr val="FFFFFF"/>
                    </a:solidFill>
                  </a:defRPr>
                </a:pPr>
                <a:endParaRPr lang="es-A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Sheet1!$B$2:$B$3</c:f>
              <c:numCache>
                <c:formatCode>General</c:formatCode>
                <c:ptCount val="2"/>
                <c:pt idx="0">
                  <c:v>695</c:v>
                </c:pt>
                <c:pt idx="1">
                  <c:v>2182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7A2-4435-8125-F5364098E951}"/>
            </c:ext>
          </c:extLst>
        </c:ser>
        <c:dLbls>
          <c:dLblPos val="inEnd"/>
          <c:showLegendKey val="0"/>
          <c:showVal val="1"/>
          <c:showCatName val="0"/>
          <c:showSerName val="0"/>
          <c:showPercent val="0"/>
          <c:showBubbleSize val="0"/>
        </c:dLbls>
        <c:gapWidth val="150"/>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dLbls>
            <c:numFmt formatCode="0" sourceLinked="0"/>
            <c:spPr>
              <a:noFill/>
              <a:ln>
                <a:noFill/>
              </a:ln>
              <a:effectLst/>
            </c:spPr>
            <c:txPr>
              <a:bodyPr/>
              <a:lstStyle/>
              <a:p>
                <a:pPr>
                  <a:defRPr sz="1000" b="1">
                    <a:solidFill>
                      <a:srgbClr val="2F7D32"/>
                    </a:solidFill>
                  </a:defRPr>
                </a:pPr>
                <a:endParaRPr lang="es-AR"/>
              </a:p>
            </c:txPr>
            <c:dLblPos val="t"/>
            <c:showLegendKey val="0"/>
            <c:showVal val="1"/>
            <c:showCatName val="0"/>
            <c:showSerName val="0"/>
            <c:showPercent val="1"/>
            <c:showBubbleSize val="1"/>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Sheet1!$C$2:$C$3</c:f>
              <c:numCache>
                <c:formatCode>General</c:formatCode>
                <c:ptCount val="2"/>
                <c:pt idx="0">
                  <c:v>695</c:v>
                </c:pt>
                <c:pt idx="1">
                  <c:v>2877</c:v>
                </c:pt>
              </c:numCache>
            </c:numRef>
          </c:val>
          <c:smooth val="1"/>
          <c:extLst>
            <c:ext xmlns:c16="http://schemas.microsoft.com/office/drawing/2014/chart" uri="{C3380CC4-5D6E-409C-BE32-E72D297353CC}">
              <c16:uniqueId val="{00000001-27A2-4435-8125-F5364098E951}"/>
            </c:ext>
          </c:extLst>
        </c:ser>
        <c:dLbls>
          <c:dLblPos val="t"/>
          <c:showLegendKey val="0"/>
          <c:showVal val="1"/>
          <c:showCatName val="0"/>
          <c:showSerName val="0"/>
          <c:showPercent val="1"/>
          <c:showBubbleSize val="1"/>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ax val="3500"/>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majorUnit val="500"/>
      </c:valAx>
    </c:plotArea>
    <c:legend>
      <c:legendPos val="b"/>
      <c:overlay val="0"/>
      <c:txPr>
        <a:bodyPr/>
        <a:lstStyle/>
        <a:p>
          <a:pPr>
            <a:defRPr sz="700">
              <a:latin typeface="DejaVu Sans"/>
            </a:defRPr>
          </a:pPr>
          <a:endParaRPr lang="es-AR"/>
        </a:p>
      </c:txPr>
    </c:legend>
    <c:plotVisOnly val="1"/>
    <c:dispBlanksAs val="gap"/>
    <c:showDLblsOverMax val="1"/>
  </c:chart>
  <c:txPr>
    <a:bodyPr/>
    <a:lstStyle/>
    <a:p>
      <a:pPr>
        <a:defRPr sz="800">
          <a:latin typeface="DejaVu Sans"/>
        </a:defRPr>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a:p/>
          <a:p>
            <a:r>
              <a:t>CAMBIO VIGENTE v07: a pedido del usuario se retiran de esta PPT general los dos temas de permisos ambientales citados en su último mensaje. Se elimina la lámina narrativa que los contenía; se conservan los gráficos ambientales y todos sus valores. La presentación general queda en 8 láminas. Este cambio no modifica el estado real de los trámites ni implica aprobación o cierre de los temas omitidos.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Pending for Oct-26: all values marked in red must be loaded in the Compressor Plant and Pipeline monthly workbooks before issuing.</a:t>
            </a:r>
          </a:p>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TALKING POINTS</a:t>
            </a:r>
          </a:p>
          <a:p>
            <a:r>
              <a:t>Management safety walks, safety campaigns and drills: bars = monthly total, line = cumulative since Aug-26. Drills target: 100% of those programmed.</a:t>
            </a:r>
          </a:p>
          <a:p>
            <a:r>
              <a:t>Observations (OCS): safe-behaviour observations recorded in the month. Training hours (HHS): safety training man-hours; the Training % vs HHT card shows HHS / HHT, target &gt;= 1.00%.</a:t>
            </a:r>
          </a:p>
          <a:p>
            <a:r>
              <a:t>October bars remain pending. The training card displays 2.87%, as explicitly supplied by the user in the reference screenshot.</a:t>
            </a:r>
          </a:p>
          <a:p/>
          <a:p>
            <a:r>
              <a:t>La nueva lámina de seguridad con espacios para fotos y novedades de octubre va inmediatamente después de esta lámina de barras. Los gráficos y sus valores no se actualizan. Simulacros: meta 100% de los programados exigibles al corte; el conteo por sí solo no demuestra cumplimiento. Capacitación: (HHS/HHT) ×100, meta de la fuente ≥1%. No se requiere carga de datos en esta fase temática.</a:t>
            </a:r>
          </a:p>
          <a:p/>
          <a:p>
            <a:r>
              <a:t>ACTUALIZACIÓN DEL USUARIO: conservar 2.87% en Training % vs HHT, según el segundo pantallazo. Valor transcrito de la referencia recibida; no recalculado con HHS/HHT. Meta visible conservada: ≥1%. Los demás gráficos y pendientes se mantienen.</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tercer pantallazo aportado por el usuario, no lámina presente en la PPTX inicial. Reconstrucción editable de sus datos, sin actualización de valores. Residuos agosto 99 kg, septiembre 93 kg, acumulado agosto 99 y septiembre 192 kg. Agua agosto 695 m³, septiembre 2182 m³, acumulado agosto 695 y septiembre 2877 m³. Recuperación 0,00% se muestra como 0%; disposición final/incineración 100,00% como 100%. La captura muestra agosto y septiembre; no hay dato de octubre, por eso no se añade cero ni una barra de octubre. Los números de los gráficos se muestran como enteros sin separadores para evitar confusión entre miles y decimales. No se aportó denominador, alcance ni meta aprobada para los porcentajes; conservar como valores históricos de la captura. Año contextual del informe: 2026, no expresado en el gráfico de la captura. Inmediatamente después se coloca la nueva lámina de novedades relevantes de ambiente.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NUEVA LÁMINA solicitada por el usuario a partir del comentario del jefe. Es una plantilla: no hay fotos reales ni novedades nuevas recibidas. Sustituir los recuadros por fotografías auténticas de octubre y completar fecha, lugar y actividad. No generar imágenes que aparenten evidencia de obra. Las novedades están pendientes de Leandro Doglio. La aclaración vigente es temas relevantes y datos iguales, sin exigir actualización de cifras. Describir hecho confirmado, relevancia y próximo paso. En seguridad, RN3 y programas de transporte pueden servir como antecedentes solo si se confirma su fecha; en ambiente no se informaron actividades específicas. No convertir sugerencias en hechos ejecutados.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emf"/><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emf"/><Relationship Id="rId4" Type="http://schemas.openxmlformats.org/officeDocument/2006/relationships/chart" Target="../charts/chart8.xml"/><Relationship Id="rId5" Type="http://schemas.openxmlformats.org/officeDocument/2006/relationships/chart" Target="../charts/char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emf"/><Relationship Id="rId4" Type="http://schemas.openxmlformats.org/officeDocument/2006/relationships/image" Target="../media/image6.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8" name="TextBox 12">
            <a:extLst>
              <a:ext uri="{FF2B5EF4-FFF2-40B4-BE49-F238E27FC236}">
                <a16:creationId xmlns:a16="http://schemas.microsoft.com/office/drawing/2014/main" id="{432B1FAB-4F6A-7812-5181-6D4E2E0BF37A}"/>
              </a:ext>
            </a:extLst>
          </p:cNvPr>
          <p:cNvSpPr txBox="1"/>
          <p:nvPr/>
        </p:nvSpPr>
        <p:spPr>
          <a:xfrm>
            <a:off x="391705" y="851445"/>
            <a:ext cx="8595360" cy="228600"/>
          </a:xfrm>
          <a:prstGeom prst="rect">
            <a:avLst/>
          </a:prstGeom>
          <a:noFill/>
        </p:spPr>
        <p:txBody>
          <a:bodyPr wrap="square" lIns="45720" tIns="27432" rIns="45720" bIns="27432" anchor="t">
            <a:spAutoFit/>
          </a:bodyPr>
          <a:lstStyle/>
          <a:p>
            <a:pPr algn="l"/>
            <a:r>
              <a:rPr lang="en-GB" sz="900" b="0" i="0" noProof="0" dirty="0">
                <a:solidFill>
                  <a:srgbClr val="68717D"/>
                </a:solidFill>
                <a:latin typeface="Aptos"/>
              </a:rPr>
              <a:t>Statistics through 30 Sep 2026 · CP + Pipeline · October highlights reported separately</a:t>
            </a:r>
            <a:r>
              <a:rPr lang="en-GB" sz="900" b="0" i="0" noProof="0" dirty="0">
                <a:solidFill>
                  <a:srgbClr val="68717D"/>
                </a:solidFill>
                <a:latin typeface="Aptos"/>
              </a:rPr>
              <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310896"/>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a:solidFill>
                  <a:srgbClr val="68717D"/>
                </a:solidFill>
                <a:latin typeface="Aptos"/>
              </a:rPr>
              <a:t>Cum. Aug–Sep · target 2.35</a:t>
            </a:r>
            <a:br/>
            <a:r>
              <a:rPr sz="750">
                <a:solidFill>
                  <a:srgbClr val="68717D"/>
                </a:solidFill>
                <a:latin typeface="Aptos"/>
              </a:rPr>
              <a:t>Through 30 Sep 2026</a:t>
            </a: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310896"/>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a:solidFill>
                  <a:srgbClr val="68717D"/>
                </a:solidFill>
                <a:latin typeface="Aptos"/>
              </a:rPr>
              <a:t>Cum. Aug–Sep · target 0.79</a:t>
            </a:r>
            <a:br/>
            <a:r>
              <a:rPr sz="750">
                <a:solidFill>
                  <a:srgbClr val="68717D"/>
                </a:solidFill>
                <a:latin typeface="Aptos"/>
              </a:rPr>
              <a:t>Through 30 Sep 2026</a:t>
            </a: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r>
              <a:rPr lang="en-GB" sz="800" b="1" i="0" noProof="0" dirty="0">
                <a:solidFill>
                  <a:srgbClr val="FF0000"/>
                </a:solidFill>
                <a:latin typeface="Aptos"/>
              </a:rPr>
              <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October KPIs · figures not provided</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FF0000"/>
                          </a:solidFill>
                          <a:latin typeface="Aptos"/>
                        </a:rPr>
                        <a:t>Pending</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37828998"/>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1744624849"/>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11480" y="850392"/>
            <a:ext cx="8321040" cy="32004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OCTOBER 2026 · PHOTOS &amp; RELEVANT HIGHLIGHTS · cut-off 27 Oct</a:t>
            </a:r>
          </a:p>
        </p:txBody>
      </p:sp>
      <p:sp>
        <p:nvSpPr>
          <p:cNvPr id="14" name="Rectangle 13"/>
          <p:cNvSpPr/>
          <p:nvPr/>
        </p:nvSpPr>
        <p:spPr>
          <a:xfrm>
            <a:off x="411480"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148840"/>
            <a:ext cx="3749039" cy="640080"/>
          </a:xfrm>
          <a:prstGeom prst="rect">
            <a:avLst/>
          </a:prstGeom>
          <a:noFill/>
        </p:spPr>
        <p:txBody>
          <a:bodyPr wrap="square" lIns="18288" tIns="0" rIns="18288" bIns="0">
            <a:spAutoFit/>
          </a:bodyPr>
          <a:lstStyle/>
          <a:p>
            <a:pPr algn="ctr">
              <a:spcAft>
                <a:spcPts val="500"/>
              </a:spcAft>
              <a:defRPr sz="1500" b="0">
                <a:solidFill>
                  <a:srgbClr val="68717D"/>
                </a:solidFill>
                <a:latin typeface="DejaVu Sans"/>
              </a:defRPr>
            </a:pPr>
            <a:r>
              <a:t>OCTOBER PHOTO 1</a:t>
            </a:r>
          </a:p>
          <a:p>
            <a:pPr algn="ctr">
              <a:spcAft>
                <a:spcPts val="500"/>
              </a:spcAft>
              <a:defRPr sz="1500" b="0">
                <a:solidFill>
                  <a:srgbClr val="68717D"/>
                </a:solidFill>
                <a:latin typeface="DejaVu Sans"/>
              </a:defRPr>
            </a:pPr>
            <a:r>
              <a:t>Pending actual photo</a:t>
            </a:r>
          </a:p>
        </p:txBody>
      </p:sp>
      <p:sp>
        <p:nvSpPr>
          <p:cNvPr id="16" name="TextBox 15"/>
          <p:cNvSpPr txBox="1"/>
          <p:nvPr/>
        </p:nvSpPr>
        <p:spPr>
          <a:xfrm>
            <a:off x="411480" y="3867912"/>
            <a:ext cx="4023360" cy="502920"/>
          </a:xfrm>
          <a:prstGeom prst="rect">
            <a:avLst/>
          </a:prstGeom>
          <a:noFill/>
        </p:spPr>
        <p:txBody>
          <a:bodyPr wrap="square" lIns="18288" tIns="0" rIns="18288" bIns="0">
            <a:spAutoFit/>
          </a:bodyPr>
          <a:lstStyle/>
          <a:p>
            <a:pPr>
              <a:spcAft>
                <a:spcPts val="500"/>
              </a:spcAft>
              <a:defRPr sz="950" b="0">
                <a:solidFill>
                  <a:srgbClr val="68717D"/>
                </a:solidFill>
                <a:latin typeface="DejaVu Sans"/>
              </a:defRPr>
            </a:pPr>
            <a:r>
              <a:t>Date / location / activity: pending confirmation</a:t>
            </a:r>
          </a:p>
        </p:txBody>
      </p:sp>
      <p:sp>
        <p:nvSpPr>
          <p:cNvPr id="17" name="Rectangle 16"/>
          <p:cNvSpPr/>
          <p:nvPr/>
        </p:nvSpPr>
        <p:spPr>
          <a:xfrm>
            <a:off x="4681728"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18888" y="2148840"/>
            <a:ext cx="3749039" cy="640080"/>
          </a:xfrm>
          <a:prstGeom prst="rect">
            <a:avLst/>
          </a:prstGeom>
          <a:noFill/>
        </p:spPr>
        <p:txBody>
          <a:bodyPr wrap="square" lIns="18288" tIns="0" rIns="18288" bIns="0">
            <a:spAutoFit/>
          </a:bodyPr>
          <a:lstStyle/>
          <a:p>
            <a:pPr algn="ctr">
              <a:spcAft>
                <a:spcPts val="500"/>
              </a:spcAft>
              <a:defRPr sz="1500" b="0">
                <a:solidFill>
                  <a:srgbClr val="68717D"/>
                </a:solidFill>
                <a:latin typeface="DejaVu Sans"/>
              </a:defRPr>
            </a:pPr>
            <a:r>
              <a:t>OCTOBER PHOTO 2</a:t>
            </a:r>
          </a:p>
          <a:p>
            <a:pPr algn="ctr">
              <a:spcAft>
                <a:spcPts val="500"/>
              </a:spcAft>
              <a:defRPr sz="1500" b="0">
                <a:solidFill>
                  <a:srgbClr val="68717D"/>
                </a:solidFill>
                <a:latin typeface="DejaVu Sans"/>
              </a:defRPr>
            </a:pPr>
            <a:r>
              <a:t>Pending actual photo</a:t>
            </a:r>
          </a:p>
        </p:txBody>
      </p:sp>
      <p:sp>
        <p:nvSpPr>
          <p:cNvPr id="19" name="TextBox 18"/>
          <p:cNvSpPr txBox="1"/>
          <p:nvPr/>
        </p:nvSpPr>
        <p:spPr>
          <a:xfrm>
            <a:off x="4681728" y="3867912"/>
            <a:ext cx="4023360" cy="502920"/>
          </a:xfrm>
          <a:prstGeom prst="rect">
            <a:avLst/>
          </a:prstGeom>
          <a:noFill/>
        </p:spPr>
        <p:txBody>
          <a:bodyPr wrap="square" lIns="18288" tIns="0" rIns="18288" bIns="0">
            <a:spAutoFit/>
          </a:bodyPr>
          <a:lstStyle/>
          <a:p>
            <a:pPr>
              <a:spcAft>
                <a:spcPts val="500"/>
              </a:spcAft>
              <a:defRPr sz="950" b="0">
                <a:solidFill>
                  <a:srgbClr val="68717D"/>
                </a:solidFill>
                <a:latin typeface="DejaVu Sans"/>
              </a:defRPr>
            </a:pPr>
            <a:r>
              <a:t>Date / location / activity: pending confirmation</a:t>
            </a:r>
          </a:p>
        </p:txBody>
      </p:sp>
      <p:sp>
        <p:nvSpPr>
          <p:cNvPr id="20" name="Rectangle 19"/>
          <p:cNvSpPr/>
          <p:nvPr/>
        </p:nvSpPr>
        <p:spPr>
          <a:xfrm>
            <a:off x="411480" y="4590288"/>
            <a:ext cx="8293608" cy="155448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727448"/>
            <a:ext cx="8001000" cy="274320"/>
          </a:xfrm>
          <a:prstGeom prst="rect">
            <a:avLst/>
          </a:prstGeom>
          <a:noFill/>
        </p:spPr>
        <p:txBody>
          <a:bodyPr wrap="square" lIns="18288" tIns="0" rIns="18288" bIns="0">
            <a:spAutoFit/>
          </a:bodyPr>
          <a:lstStyle/>
          <a:p>
            <a:pPr>
              <a:spcAft>
                <a:spcPts val="500"/>
              </a:spcAft>
              <a:defRPr sz="1200" b="1">
                <a:solidFill>
                  <a:srgbClr val="013EF5"/>
                </a:solidFill>
                <a:latin typeface="DejaVu Sans"/>
              </a:defRPr>
            </a:pPr>
            <a:r>
              <a:t>SAFETY — RELEVANT OCTOBER TOPICS</a:t>
            </a:r>
          </a:p>
        </p:txBody>
      </p:sp>
      <p:sp>
        <p:nvSpPr>
          <p:cNvPr id="22" name="TextBox 21"/>
          <p:cNvSpPr txBox="1"/>
          <p:nvPr/>
        </p:nvSpPr>
        <p:spPr>
          <a:xfrm>
            <a:off x="566928" y="5184648"/>
            <a:ext cx="7863840" cy="749808"/>
          </a:xfrm>
          <a:prstGeom prst="rect">
            <a:avLst/>
          </a:prstGeom>
          <a:noFill/>
        </p:spPr>
        <p:txBody>
          <a:bodyPr wrap="square" lIns="18288" tIns="0" rIns="18288" bIns="0">
            <a:spAutoFit/>
          </a:bodyPr>
          <a:lstStyle/>
          <a:p>
            <a:pPr>
              <a:spcAft>
                <a:spcPts val="500"/>
              </a:spcAft>
              <a:defRPr sz="1200" b="0">
                <a:solidFill>
                  <a:srgbClr val="27364A"/>
                </a:solidFill>
                <a:latin typeface="DejaVu Sans"/>
              </a:defRPr>
            </a:pPr>
            <a:r>
              <a:rPr sz="1200">
                <a:solidFill>
                  <a:srgbClr val="27364A"/>
                </a:solidFill>
                <a:latin typeface="DejaVu Sans"/>
              </a:rPr>
              <a:t>[Safety highlights and photos pending]</a:t>
            </a:r>
          </a:p>
          <a:p>
            <a:r>
              <a:rPr sz="1200">
                <a:solidFill>
                  <a:srgbClr val="27364A"/>
                </a:solidFill>
                <a:latin typeface="DejaVu Sans"/>
              </a:rPr>
              <a:t>Confirmed development · relevance · next step</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Environmental Performance Indicators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38912" y="832104"/>
            <a:ext cx="8321040" cy="237744"/>
          </a:xfrm>
          <a:prstGeom prst="rect">
            <a:avLst/>
          </a:prstGeom>
          <a:noFill/>
        </p:spPr>
        <p:txBody>
          <a:bodyPr wrap="square" lIns="18288" tIns="0" rIns="18288" bIns="0">
            <a:spAutoFit/>
          </a:bodyPr>
          <a:lstStyle/>
          <a:p>
            <a:pPr>
              <a:spcAft>
                <a:spcPts val="500"/>
              </a:spcAft>
              <a:defRPr sz="900" b="0">
                <a:solidFill>
                  <a:srgbClr val="68717D"/>
                </a:solidFill>
                <a:latin typeface="DejaVu Sans"/>
              </a:defRPr>
            </a:pPr>
            <a:r>
              <a:t>Statistics through 30 September 2026 · values unchanged</a:t>
            </a:r>
          </a:p>
        </p:txBody>
      </p:sp>
      <p:sp>
        <p:nvSpPr>
          <p:cNvPr id="14" name="TextBox 13"/>
          <p:cNvSpPr txBox="1"/>
          <p:nvPr/>
        </p:nvSpPr>
        <p:spPr>
          <a:xfrm>
            <a:off x="484632" y="1207008"/>
            <a:ext cx="4023360" cy="27432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TOTAL WASTE GENERATION (kg/month)</a:t>
            </a:r>
          </a:p>
        </p:txBody>
      </p:sp>
      <p:graphicFrame>
        <p:nvGraphicFramePr>
          <p:cNvPr id="15" name="Chart 14"/>
          <p:cNvGraphicFramePr>
            <a:graphicFrameLocks noGrp="1"/>
          </p:cNvGraphicFramePr>
          <p:nvPr/>
        </p:nvGraphicFramePr>
        <p:xfrm>
          <a:off x="457200" y="1572768"/>
          <a:ext cx="3063240" cy="2121408"/>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p:cNvSpPr/>
          <p:nvPr/>
        </p:nvSpPr>
        <p:spPr>
          <a:xfrm>
            <a:off x="411480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11480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24528" y="1984248"/>
            <a:ext cx="2057400" cy="320040"/>
          </a:xfrm>
          <a:prstGeom prst="rect">
            <a:avLst/>
          </a:prstGeom>
          <a:noFill/>
        </p:spPr>
        <p:txBody>
          <a:bodyPr wrap="square" lIns="18288" tIns="0" rIns="18288" bIns="0">
            <a:spAutoFit/>
          </a:bodyPr>
          <a:lstStyle/>
          <a:p>
            <a:pPr>
              <a:spcAft>
                <a:spcPts val="500"/>
              </a:spcAft>
              <a:defRPr sz="850" b="1">
                <a:solidFill>
                  <a:srgbClr val="68717D"/>
                </a:solidFill>
                <a:latin typeface="DejaVu Sans"/>
              </a:defRPr>
            </a:pPr>
            <a:r>
              <a:t>% Waste recovery</a:t>
            </a:r>
          </a:p>
        </p:txBody>
      </p:sp>
      <p:sp>
        <p:nvSpPr>
          <p:cNvPr id="19" name="TextBox 18"/>
          <p:cNvSpPr txBox="1"/>
          <p:nvPr/>
        </p:nvSpPr>
        <p:spPr>
          <a:xfrm>
            <a:off x="4224528" y="2359152"/>
            <a:ext cx="2011680" cy="475488"/>
          </a:xfrm>
          <a:prstGeom prst="rect">
            <a:avLst/>
          </a:prstGeom>
          <a:noFill/>
        </p:spPr>
        <p:txBody>
          <a:bodyPr wrap="square" lIns="18288" tIns="0" rIns="18288" bIns="0">
            <a:spAutoFit/>
          </a:bodyPr>
          <a:lstStyle/>
          <a:p>
            <a:pPr>
              <a:spcAft>
                <a:spcPts val="500"/>
              </a:spcAft>
              <a:defRPr sz="2800" b="1">
                <a:solidFill>
                  <a:srgbClr val="013EF5"/>
                </a:solidFill>
                <a:latin typeface="DejaVu Sans"/>
              </a:defRPr>
            </a:pPr>
            <a:r>
              <a:t>0%</a:t>
            </a:r>
          </a:p>
        </p:txBody>
      </p:sp>
      <p:sp>
        <p:nvSpPr>
          <p:cNvPr id="20" name="Rectangle 19"/>
          <p:cNvSpPr/>
          <p:nvPr/>
        </p:nvSpPr>
        <p:spPr>
          <a:xfrm>
            <a:off x="644652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4652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56248" y="1984248"/>
            <a:ext cx="2057400" cy="320040"/>
          </a:xfrm>
          <a:prstGeom prst="rect">
            <a:avLst/>
          </a:prstGeom>
          <a:noFill/>
        </p:spPr>
        <p:txBody>
          <a:bodyPr wrap="square" lIns="18288" tIns="0" rIns="18288" bIns="0">
            <a:spAutoFit/>
          </a:bodyPr>
          <a:lstStyle/>
          <a:p>
            <a:pPr>
              <a:spcAft>
                <a:spcPts val="500"/>
              </a:spcAft>
              <a:defRPr sz="850" b="1">
                <a:solidFill>
                  <a:srgbClr val="68717D"/>
                </a:solidFill>
                <a:latin typeface="DejaVu Sans"/>
              </a:defRPr>
            </a:pPr>
            <a:r>
              <a:t>% Waste final disposal / incinerated</a:t>
            </a:r>
          </a:p>
        </p:txBody>
      </p:sp>
      <p:sp>
        <p:nvSpPr>
          <p:cNvPr id="23" name="TextBox 22"/>
          <p:cNvSpPr txBox="1"/>
          <p:nvPr/>
        </p:nvSpPr>
        <p:spPr>
          <a:xfrm>
            <a:off x="6556248" y="2359152"/>
            <a:ext cx="2011680" cy="475488"/>
          </a:xfrm>
          <a:prstGeom prst="rect">
            <a:avLst/>
          </a:prstGeom>
          <a:noFill/>
        </p:spPr>
        <p:txBody>
          <a:bodyPr wrap="square" lIns="18288" tIns="0" rIns="18288" bIns="0">
            <a:spAutoFit/>
          </a:bodyPr>
          <a:lstStyle/>
          <a:p>
            <a:pPr>
              <a:spcAft>
                <a:spcPts val="500"/>
              </a:spcAft>
              <a:defRPr sz="2800" b="1">
                <a:solidFill>
                  <a:srgbClr val="013EF5"/>
                </a:solidFill>
                <a:latin typeface="DejaVu Sans"/>
              </a:defRPr>
            </a:pPr>
            <a:r>
              <a:t>100%</a:t>
            </a:r>
          </a:p>
        </p:txBody>
      </p:sp>
      <p:sp>
        <p:nvSpPr>
          <p:cNvPr id="24" name="TextBox 23"/>
          <p:cNvSpPr txBox="1"/>
          <p:nvPr/>
        </p:nvSpPr>
        <p:spPr>
          <a:xfrm>
            <a:off x="484632" y="4023360"/>
            <a:ext cx="4846320" cy="27432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FRESHWATER CONSUMPTION (m³/month)</a:t>
            </a:r>
          </a:p>
        </p:txBody>
      </p:sp>
      <p:graphicFrame>
        <p:nvGraphicFramePr>
          <p:cNvPr id="25" name="Chart 24"/>
          <p:cNvGraphicFramePr>
            <a:graphicFrameLocks noGrp="1"/>
          </p:cNvGraphicFramePr>
          <p:nvPr/>
        </p:nvGraphicFramePr>
        <p:xfrm>
          <a:off x="457200" y="4370832"/>
          <a:ext cx="3063240" cy="1947672"/>
        </p:xfrm>
        <a:graphic>
          <a:graphicData uri="http://schemas.openxmlformats.org/drawingml/2006/chart">
            <c:chart xmlns:c="http://schemas.openxmlformats.org/drawingml/2006/chart" xmlns:r="http://schemas.openxmlformats.org/officeDocument/2006/relationships" r:id="rId5"/>
          </a:graphicData>
        </a:graphic>
      </p:graphicFrame>
      <p:sp>
        <p:nvSpPr>
          <p:cNvPr id="26" name="TextBox 2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7" name="TextBox 2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tIns="0" bIns="0" rtlCol="0" anchor="t">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Vaca Muerta upstream major companies </a:t>
            </a:r>
            <a:r>
              <a:rPr lang="en-GB" sz="1040" noProof="0" dirty="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sz="1040" b="1" dirty="0">
                <a:latin typeface="Aptos" panose="020B0004020202020204" pitchFamily="34" charset="0"/>
              </a:rPr>
              <a:t>Vista</a:t>
            </a:r>
            <a:r>
              <a:rPr lang="en-US" sz="1040" dirty="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VMOS</a:t>
            </a:r>
            <a:r>
              <a:rPr lang="en-GB" sz="1040" noProof="0" dirty="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b="1" noProof="0" dirty="0">
                <a:latin typeface="Aptos" panose="020B0004020202020204" pitchFamily="34" charset="0"/>
              </a:rPr>
              <a:t>SMP</a:t>
            </a:r>
            <a:r>
              <a:rPr lang="en-GB" sz="1040" noProof="0" dirty="0">
                <a:latin typeface="Aptos" panose="020B0004020202020204" pitchFamily="34" charset="0"/>
              </a:rPr>
              <a:t> pipeline route extends over 473 km along 2 provinces with sections located far away from high-complexity medical centres </a:t>
            </a:r>
            <a:r>
              <a:rPr lang="en-GB" sz="1040" noProof="0" dirty="0">
                <a:latin typeface="Aptos" panose="020B0004020202020204" pitchFamily="34" charset="0"/>
                <a:sym typeface="Wingdings" panose="05000000000000000000" pitchFamily="2" charset="2"/>
              </a:rPr>
              <a:t> </a:t>
            </a:r>
            <a:r>
              <a:rPr lang="en-GB" sz="1040" noProof="0" dirty="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noProof="0" dirty="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7</a:t>
            </a:r>
          </a:p>
        </p:txBody>
      </p:sp>
    </p:spTree>
    <p:extLst>
      <p:ext uri="{BB962C8B-B14F-4D97-AF65-F5344CB8AC3E}">
        <p14:creationId xmlns:p14="http://schemas.microsoft.com/office/powerpoint/2010/main" val="4069171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100" name="Card 100"/>
          <p:cNvSpPr/>
          <p:nvPr/>
        </p:nvSpPr>
        <p:spPr>
          <a:xfrm>
            <a:off x="457200" y="11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Progress to date (cut-off Oct 27)</a:t>
            </a:r>
          </a:p>
          <a:p>
            <a:pPr algn="l"/>
            <a:r>
              <a:rPr lang="en-GB" sz="1400" b="0" dirty="0">
                <a:solidFill>
                  <a:srgbClr val="FF0000"/>
                </a:solidFill>
                <a:latin typeface="Aptos"/>
              </a:rPr>
              <a:t>[Pending · YPF to provide status, milestones reached and dates]</a:t>
            </a:r>
          </a:p>
        </p:txBody>
      </p:sp>
      <p:sp>
        <p:nvSpPr>
          <p:cNvPr id="101" name="Card 101"/>
          <p:cNvSpPr/>
          <p:nvPr/>
        </p:nvSpPr>
        <p:spPr>
          <a:xfrm>
            <a:off x="457200" y="285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Company auditing the service</a:t>
            </a:r>
          </a:p>
          <a:p>
            <a:pPr algn="l"/>
            <a:r>
              <a:rPr lang="en-GB" sz="1400" b="0" dirty="0">
                <a:solidFill>
                  <a:srgbClr val="FF0000"/>
                </a:solidFill>
                <a:latin typeface="Aptos"/>
              </a:rPr>
              <a:t>[Pending · YPF to name the company that audits the service]</a:t>
            </a:r>
          </a:p>
        </p:txBody>
      </p:sp>
      <p:sp>
        <p:nvSpPr>
          <p:cNvPr id="102" name="Card 102"/>
          <p:cNvSpPr/>
          <p:nvPr/>
        </p:nvSpPr>
        <p:spPr>
          <a:xfrm>
            <a:off x="457200" y="46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Option to add SESA</a:t>
            </a:r>
          </a:p>
          <a:p>
            <a:pPr algn="l"/>
            <a:r>
              <a:rPr lang="en-GB" sz="1400" b="0" dirty="0">
                <a:solidFill>
                  <a:srgbClr val="FF0000"/>
                </a:solidFill>
                <a:latin typeface="Aptos"/>
              </a:rPr>
              <a:t>[Pending · YPF to confirm whether SESA can be added to the service]</a:t>
            </a:r>
          </a:p>
        </p:txBody>
      </p:sp>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 &gt; HELICOPTER SERVICE &gt; </a:t>
            </a:r>
            <a:r>
              <a:rPr lang="en-GB" sz="1800" b="1" spc="100" noProof="0" dirty="0">
                <a:solidFill>
                  <a:srgbClr val="013EF5"/>
                </a:solidFill>
                <a:latin typeface="Aptos" panose="020B0004020202020204" pitchFamily="34" charset="0"/>
              </a:rPr>
              <a:t>Progress update</a:t>
            </a:r>
          </a:p>
          <a:p>
            <a:pPr algn="l"/>
            <a:endParaRPr lang="en-GB" sz="2400" b="1" noProof="0" dirty="0">
              <a:solidFill>
                <a:srgbClr val="789AF8"/>
              </a:solidFill>
              <a:latin typeface="Calibri" pitchFamily="34" charset="0"/>
            </a:endParaRPr>
          </a:p>
        </p:txBody>
      </p:sp>
      <p:sp>
        <p:nvSpPr>
          <p:cNvPr id="103" name="TextBox 10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04" name="TextBox 10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8</a:t>
            </a:r>
          </a:p>
        </p:txBody>
      </p:sp>
    </p:spTree>
    <p:extLst>
      <p:ext uri="{BB962C8B-B14F-4D97-AF65-F5344CB8AC3E}">
        <p14:creationId xmlns:p14="http://schemas.microsoft.com/office/powerpoint/2010/main" val="4069171775"/>
      </p:ext>
    </p:extLst>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6163</TotalTime>
  <Words>2028</Words>
  <Application>Microsoft Office PowerPoint</Application>
  <PresentationFormat>Presentación en pantalla (4:3)</PresentationFormat>
  <Paragraphs>168</Paragraphs>
  <Slides>9</Slides>
  <Notes>7</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9</vt:i4>
      </vt:variant>
    </vt:vector>
  </HeadingPairs>
  <TitlesOfParts>
    <vt:vector size="20"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v07 general presentation | Environmental permit topics omitted</dc:title>
  <dc:subject>Data unchanged; safety and environment photo/highlight slides inserted</dc:subject>
  <dc:creator>Agustina Briceño</dc:creator>
  <cp:lastModifiedBy>William Saenz santamaria</cp:lastModifiedBy>
  <cp:revision>7</cp:revision>
  <dcterms:created xsi:type="dcterms:W3CDTF">2026-03-04T19:10:22Z</dcterms:created>
  <dcterms:modified xsi:type="dcterms:W3CDTF">2026-10-27T15:06:42Z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