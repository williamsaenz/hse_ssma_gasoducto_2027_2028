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1"/>
  </p:notesMasterIdLst>
  <p:sldIdLst>
    <p:sldId id="2146850440" r:id="rId2"/>
    <p:sldId id="2146850441" r:id="rId3"/>
    <p:sldId id="2146850420" r:id="rId4"/>
    <p:sldId id="2146850547" r:id="rId5"/>
    <p:sldId id="2146850549" r:id="rId7"/>
    <p:sldId id="2146850482" r:id="rId9"/>
    <p:sldId id="214685054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102" d="100"/>
          <a:sy n="102" d="100"/>
        </p:scale>
        <p:origin x="1644"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commentAuthors" Target="commentAuthors.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8717D"/>
                </a:solidFill>
                <a:latin typeface="Aptos"/>
              </a:rPr>
              <a:t>Statistics through 30 Sep 2026 · CP + Pipeline · October highlights reported separately</a:t>
            </a:r>
            <a:r>
              <a:rPr lang="en-GB" sz="900" b="0" i="0" noProof="0" dirty="0">
                <a:solidFill>
                  <a:srgbClr val="68717D"/>
                </a:solidFill>
                <a:latin typeface="Aptos"/>
              </a:rPr>
              <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2.35</a:t>
            </a:r>
            <a:br/>
            <a:r>
              <a:rPr sz="750">
                <a:solidFill>
                  <a:srgbClr val="68717D"/>
                </a:solidFill>
                <a:latin typeface="Aptos"/>
              </a:rPr>
              <a:t>Through 30 Sep 2026</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a:solidFill>
                  <a:srgbClr val="68717D"/>
                </a:solidFill>
                <a:latin typeface="Aptos"/>
              </a:rPr>
              <a:t>Cum. Aug–Sep · target 0.79</a:t>
            </a:r>
            <a:br/>
            <a:r>
              <a:rPr sz="750">
                <a:solidFill>
                  <a:srgbClr val="68717D"/>
                </a:solidFill>
                <a:latin typeface="Aptos"/>
              </a:rPr>
              <a:t>Through 30 Sep 2026</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r>
              <a:rPr lang="en-GB" sz="800" b="1" i="0" noProof="0" dirty="0">
                <a:solidFill>
                  <a:srgbClr val="FF0000"/>
                </a:solidFill>
                <a:latin typeface="Aptos"/>
              </a:rPr>
              <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October KPIs · figures not provided</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rIns="13716" tIns="0"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Oval 25"/>
          <p:cNvSpPr/>
          <p:nvPr/>
        </p:nvSpPr>
        <p:spPr>
          <a:xfrm>
            <a:off x="548640" y="1856231"/>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1764792"/>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All confined space rescue equipment was received on site.</a:t>
            </a:r>
          </a:p>
        </p:txBody>
      </p:sp>
      <p:sp>
        <p:nvSpPr>
          <p:cNvPr id="28" name="Oval 27"/>
          <p:cNvSpPr/>
          <p:nvPr/>
        </p:nvSpPr>
        <p:spPr>
          <a:xfrm>
            <a:off x="548640" y="3163824"/>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 y="3072384"/>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Training on the use of the confined space rescue equipment was completed.</a:t>
            </a:r>
          </a:p>
        </p:txBody>
      </p:sp>
      <p:sp>
        <p:nvSpPr>
          <p:cNvPr id="30" name="Oval 29"/>
          <p:cNvSpPr/>
          <p:nvPr/>
        </p:nvSpPr>
        <p:spPr>
          <a:xfrm>
            <a:off x="548640" y="4471416"/>
            <a:ext cx="91440" cy="9144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2104" y="4379976"/>
            <a:ext cx="7735824" cy="1033271"/>
          </a:xfrm>
          <a:prstGeom prst="rect">
            <a:avLst/>
          </a:prstGeom>
          <a:noFill/>
        </p:spPr>
        <p:txBody>
          <a:bodyPr wrap="square" lIns="13716" rIns="13716" tIns="0" bIns="0">
            <a:spAutoFit/>
          </a:bodyPr>
          <a:lstStyle/>
          <a:p>
            <a:pPr>
              <a:lnSpc>
                <a:spcPct val="112000"/>
              </a:lnSpc>
              <a:spcAft>
                <a:spcPts val="0"/>
              </a:spcAft>
            </a:pPr>
            <a:r>
              <a:rPr sz="190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04" name="TextBox 10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7</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6163</TotalTime>
  <Words>2028</Words>
  <Application>Microsoft Office PowerPoint</Application>
  <PresentationFormat>Presentación en pantalla (4:3)</PresentationFormat>
  <Paragraphs>168</Paragraphs>
  <Slides>9</Slides>
  <Notes>7</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9</vt:i4>
      </vt:variant>
    </vt:vector>
  </HeadingPairs>
  <TitlesOfParts>
    <vt:vector size="20"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v09 | General safety highlights without photos</dc:title>
  <dc:subject>Data unchanged; safety and environment photo/highlight slides inserted</dc:subject>
  <dc:creator>Agustina Briceño</dc:creator>
  <cp:lastModifiedBy>William Saenz santamaria</cp:lastModifiedBy>
  <cp:revision>9</cp:revision>
  <dcterms:created xsi:type="dcterms:W3CDTF">2026-03-04T19:10:22Z</dcterms:created>
  <dcterms:modified xsi:type="dcterms:W3CDTF">2026-10-27T15:06:42Z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