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commentAuthors" Target="commentAuthor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Sheet1!$B$2:$B$3</c:f>
              <c:numCache>
                <c:formatCode>General</c:formatCode>
                <c:ptCount val="2"/>
                <c:pt idx="0">
                  <c:v>2.0</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Sheet1!$C$2:$C$3</c:f>
              <c:numCache>
                <c:formatCode>General</c:formatCode>
                <c:ptCount val="2"/>
                <c:pt idx="0">
                  <c:v>2.0</c:v>
                </c:pt>
                <c:pt idx="1">
                  <c:v>9.0</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Sheet1!$B$2:$B$3</c:f>
              <c:numCache>
                <c:formatCode>General</c:formatCode>
                <c:ptCount val="2"/>
                <c:pt idx="0">
                  <c:v>2.0</c:v>
                </c:pt>
                <c:pt idx="1">
                  <c:v>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Sheet1!$C$2:$C$3</c:f>
              <c:numCache>
                <c:formatCode>General</c:formatCode>
                <c:ptCount val="2"/>
                <c:pt idx="0">
                  <c:v>2.0</c:v>
                </c:pt>
                <c:pt idx="1">
                  <c:v>6.0</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Sheet1!$B$2:$B$3</c:f>
              <c:numCache>
                <c:formatCode>General</c:formatCode>
                <c:ptCount val="2"/>
                <c:pt idx="0">
                  <c:v>2.0</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Sheet1!$C$2:$C$3</c:f>
              <c:numCache>
                <c:formatCode>General</c:formatCode>
                <c:ptCount val="2"/>
                <c:pt idx="0">
                  <c:v>2.0</c:v>
                </c:pt>
                <c:pt idx="1">
                  <c:v>4.0</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Sheet1!$B$2:$B$3</c:f>
              <c:numCache>
                <c:formatCode>General</c:formatCode>
                <c:ptCount val="2"/>
                <c:pt idx="0">
                  <c:v>167.0</c:v>
                </c:pt>
                <c:pt idx="1">
                  <c:v>295.0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Sheet1!$C$2:$C$3</c:f>
              <c:numCache>
                <c:formatCode>General</c:formatCode>
                <c:ptCount val="2"/>
                <c:pt idx="0">
                  <c:v>167.0</c:v>
                </c:pt>
                <c:pt idx="1">
                  <c:v>462.0</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Sheet1!$B$2:$B$3</c:f>
              <c:numCache>
                <c:formatCode>General</c:formatCode>
                <c:ptCount val="2"/>
                <c:pt idx="0">
                  <c:v>1853.0</c:v>
                </c:pt>
                <c:pt idx="1">
                  <c:v>1796.0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Sheet1!$C$2:$C$3</c:f>
              <c:numCache>
                <c:formatCode>General</c:formatCode>
                <c:ptCount val="2"/>
                <c:pt idx="0">
                  <c:v>1853.0</c:v>
                </c:pt>
                <c:pt idx="1">
                  <c:v>3649.0</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HISTORICAL DATA THROUGH SEPTEMBER 2026.</a:t>
            </a:r>
          </a:p>
          <a:p>
            <a:r>
              <a:t>Bars represent monthly totals; the green line represents cumulative totals since August 2026. Only August and September are shown because October values are not available.</a:t>
            </a:r>
          </a:p>
          <a:p>
            <a:r>
              <a:t>The user explicitly requested removal of the empty Oct · pending category from the five charts on this slide. The categories and numbers for August and September remain unchanged. October is not shown as zero and is not estimated.</a:t>
            </a:r>
          </a:p>
          <a:p>
            <a:r>
              <a:t>Management safety walks: August 2, September 7; cumulative 2 and 9.</a:t>
            </a:r>
          </a:p>
          <a:p>
            <a:r>
              <a:t>Safety campaigns: August 2, September 4; cumulative 2 and 6.</a:t>
            </a:r>
          </a:p>
          <a:p>
            <a:r>
              <a:t>Drills: August 2, September 2; cumulative 2 and 4. The target is 100% of scheduled drills; counts alone do not establish compliance.</a:t>
            </a:r>
          </a:p>
          <a:p>
            <a:r>
              <a:t>Observations (OCS): August 167, September 295; cumulative 167 and 462.</a:t>
            </a:r>
          </a:p>
          <a:p>
            <a:r>
              <a:t>Training hours (HHS): August 1853, September 1796; cumulative 1853 and 3649.</a:t>
            </a:r>
          </a:p>
          <a:p>
            <a:r>
              <a:t>The training card remains 2.87%, as previously confirmed by the user; its target remains ≥1%.</a:t>
            </a:r>
          </a:p>
          <a:p>
            <a:r>
              <a:t>Alcance de esta edición: únicamente los cinco gráficos de esta lámina y sus libros incrustados; se conservan las demás láminas del archivo adjunto, sus ediciones y The End como cierre. Los gráficos de frecuencia de otra lámina no están incluidos en este pedido específico.</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Rounded Rectangle 25"/>
          <p:cNvSpPr/>
          <p:nvPr/>
        </p:nvSpPr>
        <p:spPr>
          <a:xfrm>
            <a:off x="420624" y="1417320"/>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 y="1508760"/>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6656" y="1709928"/>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841247" y="1865376"/>
            <a:ext cx="201169"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2416" y="1865376"/>
            <a:ext cx="201168"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42416" y="1865376"/>
            <a:ext cx="0" cy="429768"/>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86968" y="2212848"/>
            <a:ext cx="310896"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05840" y="18196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64208" y="1581912"/>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RESCUE EQUIPMENT</a:t>
            </a:r>
          </a:p>
        </p:txBody>
      </p:sp>
      <p:sp>
        <p:nvSpPr>
          <p:cNvPr id="35" name="TextBox 34"/>
          <p:cNvSpPr txBox="1"/>
          <p:nvPr/>
        </p:nvSpPr>
        <p:spPr>
          <a:xfrm>
            <a:off x="1664208" y="2011680"/>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All confined space rescue equipment was received on site.</a:t>
            </a:r>
          </a:p>
        </p:txBody>
      </p:sp>
      <p:sp>
        <p:nvSpPr>
          <p:cNvPr id="36" name="Rounded Rectangle 35"/>
          <p:cNvSpPr/>
          <p:nvPr/>
        </p:nvSpPr>
        <p:spPr>
          <a:xfrm>
            <a:off x="420624" y="2944368"/>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624" y="3035808"/>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6656" y="3236976"/>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5840" y="3410712"/>
            <a:ext cx="265176" cy="256032"/>
          </a:xfrm>
          <a:prstGeom prst="rect">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1133856" y="3666744"/>
            <a:ext cx="0" cy="13716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0704" y="3803904"/>
            <a:ext cx="14630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22960" y="3465576"/>
            <a:ext cx="118872" cy="11887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77824" y="3602736"/>
            <a:ext cx="0" cy="219455"/>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77824" y="3575304"/>
            <a:ext cx="155447" cy="8229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86384" y="3657600"/>
            <a:ext cx="91440" cy="54864"/>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664208" y="3108960"/>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EQUIPMENT TRAINING</a:t>
            </a:r>
          </a:p>
        </p:txBody>
      </p:sp>
      <p:sp>
        <p:nvSpPr>
          <p:cNvPr id="47" name="TextBox 46"/>
          <p:cNvSpPr txBox="1"/>
          <p:nvPr/>
        </p:nvSpPr>
        <p:spPr>
          <a:xfrm>
            <a:off x="1664208" y="3538728"/>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Training on the use of the confined space rescue equipment was completed.</a:t>
            </a:r>
          </a:p>
        </p:txBody>
      </p:sp>
      <p:sp>
        <p:nvSpPr>
          <p:cNvPr id="48" name="Rounded Rectangle 47"/>
          <p:cNvSpPr/>
          <p:nvPr/>
        </p:nvSpPr>
        <p:spPr>
          <a:xfrm>
            <a:off x="420624" y="4471416"/>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0624" y="4562855"/>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6656" y="4764024"/>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8660" y="4855464"/>
            <a:ext cx="667512" cy="548640"/>
          </a:xfrm>
          <a:prstGeom prst="rect">
            <a:avLst/>
          </a:prstGeom>
          <a:noFill/>
        </p:spPr>
        <p:txBody>
          <a:bodyPr wrap="none" lIns="0" rIns="0" tIns="0" bIns="0" anchor="ctr">
            <a:spAutoFit/>
          </a:bodyPr>
          <a:lstStyle/>
          <a:p>
            <a:pPr algn="ctr">
              <a:lnSpc>
                <a:spcPct val="113000"/>
              </a:lnSpc>
              <a:spcAft>
                <a:spcPts val="0"/>
              </a:spcAft>
            </a:pPr>
            <a:r>
              <a:rPr sz="1550" b="1">
                <a:solidFill>
                  <a:srgbClr val="FFFFFF"/>
                </a:solidFill>
                <a:latin typeface="DejaVu Sans"/>
              </a:rPr>
              <a:t>100%</a:t>
            </a:r>
          </a:p>
        </p:txBody>
      </p:sp>
      <p:sp>
        <p:nvSpPr>
          <p:cNvPr id="52" name="TextBox 51"/>
          <p:cNvSpPr txBox="1"/>
          <p:nvPr/>
        </p:nvSpPr>
        <p:spPr>
          <a:xfrm>
            <a:off x="1664208" y="4636007"/>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MANAGEMENT SAFETY WALKS</a:t>
            </a:r>
          </a:p>
        </p:txBody>
      </p:sp>
      <p:sp>
        <p:nvSpPr>
          <p:cNvPr id="53" name="TextBox 52"/>
          <p:cNvSpPr txBox="1"/>
          <p:nvPr/>
        </p:nvSpPr>
        <p:spPr>
          <a:xfrm>
            <a:off x="1664208" y="5065776"/>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v13 | Enhanced general safety highlights design</dc:title>
  <dc:subject>Data unchanged; safety and environment photo/highlight slides inserted</dc:subject>
  <dc:creator>Agustina Briceño</dc:creator>
  <cp:lastModifiedBy>William Saenz santamaria</cp:lastModifiedBy>
  <cp:revision>13</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