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Lst>
  <p:notesMasterIdLst>
    <p:notesMasterId r:id="rId8"/>
  </p:notesMasterIdLst>
  <p:sldIdLst>
    <p:sldId id="2146850440" r:id="rId2"/>
    <p:sldId id="2146850441" r:id="rId3"/>
    <p:sldId id="2146850420" r:id="rId4"/>
    <p:sldId id="2146850547" r:id="rId5"/>
    <p:sldId id="2146850549" r:id="rId7"/>
    <p:sldId id="2146850550" r:id="rId16"/>
    <p:sldId id="2146850551" r:id="rId17"/>
    <p:sldId id="2146850482" r:id="rId6"/>
    <p:sldId id="2146850548"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40" userDrawn="1">
          <p15:clr>
            <a:srgbClr val="A4A3A4"/>
          </p15:clr>
        </p15:guide>
        <p15:guide id="2" pos="249" userDrawn="1">
          <p15:clr>
            <a:srgbClr val="A4A3A4"/>
          </p15:clr>
        </p15:guide>
        <p15:guide id="4" orient="horz" pos="346" userDrawn="1">
          <p15:clr>
            <a:srgbClr val="A4A3A4"/>
          </p15:clr>
        </p15:guide>
        <p15:guide id="5" orient="horz" pos="686" userDrawn="1">
          <p15:clr>
            <a:srgbClr val="A4A3A4"/>
          </p15:clr>
        </p15:guide>
        <p15:guide id="6" orient="horz" pos="3045" userDrawn="1">
          <p15:clr>
            <a:srgbClr val="A4A3A4"/>
          </p15:clr>
        </p15:guide>
        <p15:guide id="7" orient="horz" pos="2296" userDrawn="1">
          <p15:clr>
            <a:srgbClr val="A4A3A4"/>
          </p15:clr>
        </p15:guide>
        <p15:guide id="8" pos="5556" userDrawn="1">
          <p15:clr>
            <a:srgbClr val="A4A3A4"/>
          </p15:clr>
        </p15:guide>
        <p15:guide id="10" pos="1610" userDrawn="1">
          <p15:clr>
            <a:srgbClr val="A4A3A4"/>
          </p15:clr>
        </p15:guide>
        <p15:guide id="11" pos="2835" userDrawn="1">
          <p15:clr>
            <a:srgbClr val="A4A3A4"/>
          </p15:clr>
        </p15:guide>
        <p15:guide id="12" orient="horz" pos="3974" userDrawn="1">
          <p15:clr>
            <a:srgbClr val="A4A3A4"/>
          </p15:clr>
        </p15:guide>
        <p15:guide id="13" orient="horz" pos="913" userDrawn="1">
          <p15:clr>
            <a:srgbClr val="A4A3A4"/>
          </p15:clr>
        </p15:guide>
        <p15:guide id="14" pos="2971" userDrawn="1">
          <p15:clr>
            <a:srgbClr val="A4A3A4"/>
          </p15:clr>
        </p15:guide>
        <p15:guide id="15" pos="4195" userDrawn="1">
          <p15:clr>
            <a:srgbClr val="A4A3A4"/>
          </p15:clr>
        </p15:guide>
        <p15:guide id="16" pos="4309" userDrawn="1">
          <p15:clr>
            <a:srgbClr val="A4A3A4"/>
          </p15:clr>
        </p15:guide>
        <p15:guide id="17" pos="1474" userDrawn="1">
          <p15:clr>
            <a:srgbClr val="A4A3A4"/>
          </p15:clr>
        </p15:guide>
        <p15:guide id="18" pos="2018" userDrawn="1">
          <p15:clr>
            <a:srgbClr val="A4A3A4"/>
          </p15:clr>
        </p15:guide>
        <p15:guide id="19" pos="3765" userDrawn="1">
          <p15:clr>
            <a:srgbClr val="A4A3A4"/>
          </p15:clr>
        </p15:guide>
        <p15:guide id="20" pos="431"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E52273E-B549-4598-CCB8-47D6EE151A5F}" name="Evangelista, Marcelo" initials="ME" userId="S::Marcelo.Evangelista@southern-nrg.com::ea0ef0f1-05f0-4822-8944-e14182da2275"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Gonzalo Echevarria" initials="GE" lastIdx="6" clrIdx="0">
    <p:extLst>
      <p:ext uri="{19B8F6BF-5375-455C-9EA6-DF929625EA0E}">
        <p15:presenceInfo xmlns:p15="http://schemas.microsoft.com/office/powerpoint/2012/main" userId="Gonzalo Echevarri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71EC"/>
    <a:srgbClr val="03CB35"/>
    <a:srgbClr val="0000FF"/>
    <a:srgbClr val="007882"/>
    <a:srgbClr val="EFFE5E"/>
    <a:srgbClr val="CBDD00"/>
    <a:srgbClr val="00C535"/>
    <a:srgbClr val="00BB42"/>
    <a:srgbClr val="3B383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854" autoAdjust="0"/>
    <p:restoredTop sz="90436" autoAdjust="0"/>
  </p:normalViewPr>
  <p:slideViewPr>
    <p:cSldViewPr snapToGrid="0" showGuides="1">
      <p:cViewPr varScale="1">
        <p:scale>
          <a:sx n="96" d="100"/>
          <a:sy n="96" d="100"/>
        </p:scale>
        <p:origin x="1710" y="102"/>
      </p:cViewPr>
      <p:guideLst>
        <p:guide orient="horz" pos="2840"/>
        <p:guide pos="249"/>
        <p:guide orient="horz" pos="346"/>
        <p:guide orient="horz" pos="686"/>
        <p:guide orient="horz" pos="3045"/>
        <p:guide orient="horz" pos="2296"/>
        <p:guide pos="5556"/>
        <p:guide pos="1610"/>
        <p:guide pos="2835"/>
        <p:guide orient="horz" pos="3974"/>
        <p:guide orient="horz" pos="913"/>
        <p:guide pos="2971"/>
        <p:guide pos="4195"/>
        <p:guide pos="4309"/>
        <p:guide pos="1474"/>
        <p:guide pos="2018"/>
        <p:guide pos="3765"/>
        <p:guide pos="431"/>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7.xml"/><Relationship Id="rId8" Type="http://schemas.openxmlformats.org/officeDocument/2006/relationships/notesMaster" Target="notesMasters/notesMaster1.xml"/><Relationship Id="rId9" Type="http://schemas.openxmlformats.org/officeDocument/2006/relationships/commentAuthors" Target="commentAuthors.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microsoft.com/office/2018/10/relationships/authors" Target="authors.xml"/><Relationship Id="rId15" Type="http://schemas.openxmlformats.org/officeDocument/2006/relationships/slide" Target="slides/slide6.xml"/><Relationship Id="rId16" Type="http://schemas.openxmlformats.org/officeDocument/2006/relationships/slide" Target="slides/slide8.xml"/><Relationship Id="rId17" Type="http://schemas.openxmlformats.org/officeDocument/2006/relationships/slide" Target="slides/slide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1"/>
        <c:ser>
          <c:idx val="0"/>
          <c:order val="0"/>
          <c:tx>
            <c:strRef>
              <c:f>Sheet1!$B$1</c:f>
              <c:strCache>
                <c:ptCount val="1"/>
                <c:pt idx="0">
                  <c:v>Cases (left axis)</c:v>
                </c:pt>
              </c:strCache>
            </c:strRef>
          </c:tx>
          <c:spPr>
            <a:solidFill>
              <a:srgbClr val="013EF5"/>
            </a:solidFill>
          </c:spPr>
          <c:invertIfNegative val="1"/>
          <c:cat>
            <c:strRef>
              <c:f>Sheet1!$A$2:$A$4</c:f>
              <c:strCache>
                <c:ptCount val="3"/>
                <c:pt idx="0">
                  <c:v>August · 0 cases</c:v>
                </c:pt>
                <c:pt idx="1">
                  <c:v>September · 0 cases</c:v>
                </c:pt>
                <c:pt idx="2">
                  <c:v>October · pending</c:v>
                </c:pt>
              </c:strCache>
            </c:strRef>
          </c:cat>
          <c:val>
            <c:numRef>
              <c:f>Sheet1!$B$2:$B$4</c:f>
              <c:numCache>
                <c:formatCode>General</c:formatCode>
                <c:ptCount val="3"/>
                <c:pt idx="0">
                  <c:v>0</c:v>
                </c:pt>
                <c:pt idx="1">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F34F-4ACD-BA87-51A8DBE43DB7}"/>
            </c:ext>
          </c:extLst>
        </c:ser>
        <c:dLbls>
          <c:showLegendKey val="0"/>
          <c:showVal val="0"/>
          <c:showCatName val="0"/>
          <c:showSerName val="0"/>
          <c:showPercent val="0"/>
          <c:showBubbleSize val="0"/>
        </c:dLbls>
        <c:gapWidth val="90"/>
        <c:axId val="-2068027336"/>
        <c:axId val="-2113994440"/>
      </c:barChart>
      <c:lineChart>
        <c:grouping val="standard"/>
        <c:varyColors val="0"/>
        <c:ser>
          <c:idx val="1"/>
          <c:order val="1"/>
          <c:tx>
            <c:strRef>
              <c:f>Sheet1!$C$1</c:f>
              <c:strCache>
                <c:ptCount val="1"/>
                <c:pt idx="0">
                  <c:v>Frequency (right axis)</c:v>
                </c:pt>
              </c:strCache>
            </c:strRef>
          </c:tx>
          <c:spPr>
            <a:ln w="28575">
              <a:solidFill>
                <a:srgbClr val="2E7D32"/>
              </a:solidFill>
            </a:ln>
          </c:spPr>
          <c:marker>
            <c:symbol val="circle"/>
            <c:size val="6"/>
            <c:spPr>
              <a:solidFill>
                <a:srgbClr val="2E7D32"/>
              </a:solidFill>
            </c:spPr>
          </c:marker>
          <c:dLbls>
            <c:numFmt formatCode="0.##" sourceLinked="0"/>
            <c:spPr>
              <a:noFill/>
            </c:spPr>
            <c:txPr>
              <a:bodyPr/>
              <a:lstStyle/>
              <a:p>
                <a:pPr>
                  <a:defRPr sz="800" b="1">
                    <a:solidFill>
                      <a:srgbClr val="2E7D32"/>
                    </a:solidFill>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August · 0 cases</c:v>
                </c:pt>
                <c:pt idx="1">
                  <c:v>September · 0 cases</c:v>
                </c:pt>
                <c:pt idx="2">
                  <c:v>October · pending</c:v>
                </c:pt>
              </c:strCache>
            </c:strRef>
          </c:cat>
          <c:val>
            <c:numRef>
              <c:f>Sheet1!$C$2:$C$4</c:f>
              <c:numCache>
                <c:formatCode>General</c:formatCode>
                <c:ptCount val="3"/>
                <c:pt idx="0">
                  <c:v>0</c:v>
                </c:pt>
                <c:pt idx="1">
                  <c:v>0</c:v>
                </c:pt>
              </c:numCache>
            </c:numRef>
          </c:val>
          <c:smooth val="0"/>
          <c:extLst>
            <c:ext xmlns:c16="http://schemas.microsoft.com/office/drawing/2014/chart" uri="{C3380CC4-5D6E-409C-BE32-E72D297353CC}">
              <c16:uniqueId val="{00000001-F34F-4ACD-BA87-51A8DBE43DB7}"/>
            </c:ext>
          </c:extLst>
        </c:ser>
        <c:ser>
          <c:idx val="2"/>
          <c:order val="2"/>
          <c:tx>
            <c:strRef>
              <c:f>Sheet1!$D$1</c:f>
              <c:strCache>
                <c:ptCount val="1"/>
                <c:pt idx="0">
                  <c:v>Target (right axis)</c:v>
                </c:pt>
              </c:strCache>
            </c:strRef>
          </c:tx>
          <c:spPr>
            <a:ln w="19050">
              <a:solidFill>
                <a:srgbClr val="C62828"/>
              </a:solidFill>
              <a:prstDash val="dash"/>
            </a:ln>
          </c:spPr>
          <c:marker>
            <c:symbol val="none"/>
          </c:marker>
          <c:dLbls>
            <c:dLbl>
              <c:idx val="1"/>
              <c:tx>
                <c:rich>
                  <a:bodyPr/>
                  <a:lstStyle/>
                  <a:p>
                    <a:pPr>
                      <a:defRPr sz="900" b="1">
                        <a:solidFill>
                          <a:srgbClr val="C62828"/>
                        </a:solidFill>
                      </a:defRPr>
                    </a:pPr>
                    <a:r>
                      <a:rPr lang="en-US" dirty="0"/>
                      <a:t>2.35 (3</a:t>
                    </a:r>
                    <a:r>
                      <a:rPr lang="en-US" baseline="0" dirty="0"/>
                      <a:t> events)</a:t>
                    </a:r>
                  </a:p>
                </c:rich>
              </c:tx>
              <c:numFmt formatCode="0.##" sourceLinked="0"/>
              <c:spPr>
                <a:noFill/>
              </c:spPr>
              <c:dLblPos val="t"/>
              <c:showLegendKey val="0"/>
              <c:showVal val="1"/>
              <c:showCatName val="0"/>
              <c:showSerName val="0"/>
              <c:showPercent val="0"/>
              <c:showBubbleSize val="0"/>
              <c:extLst>
                <c:ext xmlns:c15="http://schemas.microsoft.com/office/drawing/2012/chart" uri="{CE6537A1-D6FC-4f65-9D91-7224C49458BB}">
                  <c15:layout>
                    <c:manualLayout>
                      <c:w val="0.19353864734299517"/>
                      <c:h val="0.11771918661682439"/>
                    </c:manualLayout>
                  </c15:layout>
                  <c15:showDataLabelsRange val="0"/>
                </c:ext>
                <c:ext xmlns:c16="http://schemas.microsoft.com/office/drawing/2014/chart" uri="{C3380CC4-5D6E-409C-BE32-E72D297353CC}">
                  <c16:uniqueId val="{00000002-F34F-4ACD-BA87-51A8DBE43DB7}"/>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Sheet1!$A$2:$A$4</c:f>
              <c:strCache>
                <c:ptCount val="3"/>
                <c:pt idx="0">
                  <c:v>August · 0 cases</c:v>
                </c:pt>
                <c:pt idx="1">
                  <c:v>September · 0 cases</c:v>
                </c:pt>
                <c:pt idx="2">
                  <c:v>October · pending</c:v>
                </c:pt>
              </c:strCache>
            </c:strRef>
          </c:cat>
          <c:val>
            <c:numRef>
              <c:f>Sheet1!$D$2:$D$4</c:f>
              <c:numCache>
                <c:formatCode>General</c:formatCode>
                <c:ptCount val="3"/>
                <c:pt idx="0">
                  <c:v>2.35</c:v>
                </c:pt>
                <c:pt idx="1">
                  <c:v>2.35</c:v>
                </c:pt>
                <c:pt idx="2">
                  <c:v>2.35</c:v>
                </c:pt>
              </c:numCache>
            </c:numRef>
          </c:val>
          <c:smooth val="0"/>
          <c:extLst>
            <c:ext xmlns:c16="http://schemas.microsoft.com/office/drawing/2014/chart" uri="{C3380CC4-5D6E-409C-BE32-E72D297353CC}">
              <c16:uniqueId val="{00000003-F34F-4ACD-BA87-51A8DBE43DB7}"/>
            </c:ext>
          </c:extLst>
        </c:ser>
        <c:dLbls>
          <c:showLegendKey val="0"/>
          <c:showVal val="0"/>
          <c:showCatName val="0"/>
          <c:showSerName val="0"/>
          <c:showPercent val="0"/>
          <c:showBubbleSize val="0"/>
        </c:dLbls>
        <c:marker val="1"/>
        <c:smooth val="0"/>
        <c:axId val="50010"/>
        <c:axId val="50020"/>
      </c:lineChart>
      <c:catAx>
        <c:axId val="-2068027336"/>
        <c:scaling>
          <c:orientation val="minMax"/>
        </c:scaling>
        <c:delete val="0"/>
        <c:axPos val="b"/>
        <c:numFmt formatCode="General" sourceLinked="0"/>
        <c:majorTickMark val="out"/>
        <c:minorTickMark val="none"/>
        <c:tickLblPos val="nextTo"/>
        <c:txPr>
          <a:bodyPr/>
          <a:lstStyle/>
          <a:p>
            <a:pPr>
              <a:defRPr sz="800"/>
            </a:pPr>
            <a:endParaRPr lang="es-AR"/>
          </a:p>
        </c:txPr>
        <c:crossAx val="-2113994440"/>
        <c:crosses val="autoZero"/>
        <c:auto val="1"/>
        <c:lblAlgn val="ctr"/>
        <c:lblOffset val="100"/>
        <c:noMultiLvlLbl val="0"/>
      </c:catAx>
      <c:valAx>
        <c:axId val="-2113994440"/>
        <c:scaling>
          <c:orientation val="minMax"/>
          <c:min val="0"/>
        </c:scaling>
        <c:delete val="0"/>
        <c:axPos val="l"/>
        <c:title>
          <c:tx>
            <c:rich>
              <a:bodyPr/>
              <a:lstStyle/>
              <a:p>
                <a:r>
                  <a:rPr lang="en-GB" sz="700" b="0" noProof="0" dirty="0">
                    <a:latin typeface="Aptos"/>
                  </a:rPr>
                  <a:t>Cases</a:t>
                </a:r>
              </a:p>
            </c:rich>
          </c:tx>
          <c:overlay val="0"/>
        </c:title>
        <c:numFmt formatCode="0" sourceLinked="0"/>
        <c:majorTickMark val="out"/>
        <c:minorTickMark val="none"/>
        <c:tickLblPos val="nextTo"/>
        <c:txPr>
          <a:bodyPr/>
          <a:lstStyle/>
          <a:p>
            <a:pPr>
              <a:defRPr sz="750"/>
            </a:pPr>
            <a:endParaRPr lang="es-AR"/>
          </a:p>
        </c:txPr>
        <c:crossAx val="-2068027336"/>
        <c:crosses val="autoZero"/>
        <c:crossBetween val="between"/>
        <c:majorUnit val="1"/>
      </c:valAx>
      <c:catAx>
        <c:axId val="50010"/>
        <c:scaling>
          <c:orientation val="minMax"/>
        </c:scaling>
        <c:delete val="1"/>
        <c:axPos val="b"/>
        <c:numFmt formatCode="General" sourceLinked="1"/>
        <c:majorTickMark val="none"/>
        <c:minorTickMark val="none"/>
        <c:tickLblPos val="nextTo"/>
        <c:crossAx val="50020"/>
        <c:crosses val="autoZero"/>
        <c:auto val="1"/>
        <c:lblAlgn val="ctr"/>
        <c:lblOffset val="100"/>
        <c:noMultiLvlLbl val="0"/>
      </c:catAx>
      <c:valAx>
        <c:axId val="50020"/>
        <c:scaling>
          <c:orientation val="minMax"/>
          <c:max val="3"/>
          <c:min val="0"/>
        </c:scaling>
        <c:delete val="0"/>
        <c:axPos val="r"/>
        <c:title>
          <c:tx>
            <c:rich>
              <a:bodyPr rot="-5400000" vert="horz"/>
              <a:lstStyle/>
              <a:p>
                <a:pPr>
                  <a:defRPr sz="700" b="0"/>
                </a:pPr>
                <a:r>
                  <a:rPr lang="en-GB" sz="700" b="0" noProof="0" dirty="0"/>
                  <a:t>Frequency</a:t>
                </a:r>
              </a:p>
            </c:rich>
          </c:tx>
          <c:overlay val="0"/>
        </c:title>
        <c:numFmt formatCode="0.##" sourceLinked="0"/>
        <c:majorTickMark val="out"/>
        <c:minorTickMark val="none"/>
        <c:tickLblPos val="nextTo"/>
        <c:txPr>
          <a:bodyPr/>
          <a:lstStyle/>
          <a:p>
            <a:pPr>
              <a:defRPr sz="750"/>
            </a:pPr>
            <a:endParaRPr lang="en-US"/>
          </a:p>
        </c:txPr>
        <c:crossAx val="50010"/>
        <c:crosses val="max"/>
        <c:crossBetween val="between"/>
      </c:valAx>
    </c:plotArea>
    <c:legend>
      <c:legendPos val="b"/>
      <c:overlay val="0"/>
      <c:txPr>
        <a:bodyPr/>
        <a:lstStyle/>
        <a:p>
          <a:pPr>
            <a:defRPr sz="700">
              <a:latin typeface="Aptos"/>
            </a:defRPr>
          </a:pPr>
          <a:endParaRPr lang="es-AR"/>
        </a:p>
      </c:txPr>
    </c:legend>
    <c:plotVisOnly val="1"/>
    <c:dispBlanksAs val="gap"/>
    <c:showDLblsOverMax val="1"/>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1"/>
        <c:ser>
          <c:idx val="0"/>
          <c:order val="0"/>
          <c:tx>
            <c:strRef>
              <c:f>Sheet1!$B$1</c:f>
              <c:strCache>
                <c:ptCount val="1"/>
                <c:pt idx="0">
                  <c:v>Cases (left axis)</c:v>
                </c:pt>
              </c:strCache>
            </c:strRef>
          </c:tx>
          <c:spPr>
            <a:solidFill>
              <a:srgbClr val="013EF5"/>
            </a:solidFill>
          </c:spPr>
          <c:invertIfNegative val="1"/>
          <c:cat>
            <c:strRef>
              <c:f>Sheet1!$A$2:$A$4</c:f>
              <c:strCache>
                <c:ptCount val="3"/>
                <c:pt idx="0">
                  <c:v>August · 0 cases</c:v>
                </c:pt>
                <c:pt idx="1">
                  <c:v>September · 0 cases</c:v>
                </c:pt>
                <c:pt idx="2">
                  <c:v>October · pending</c:v>
                </c:pt>
              </c:strCache>
            </c:strRef>
          </c:cat>
          <c:val>
            <c:numRef>
              <c:f>Sheet1!$B$2:$B$4</c:f>
              <c:numCache>
                <c:formatCode>General</c:formatCode>
                <c:ptCount val="3"/>
                <c:pt idx="0">
                  <c:v>0</c:v>
                </c:pt>
                <c:pt idx="1">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8A61-4E28-A2BE-F9C63FFCAA86}"/>
            </c:ext>
          </c:extLst>
        </c:ser>
        <c:dLbls>
          <c:showLegendKey val="0"/>
          <c:showVal val="0"/>
          <c:showCatName val="0"/>
          <c:showSerName val="0"/>
          <c:showPercent val="0"/>
          <c:showBubbleSize val="0"/>
        </c:dLbls>
        <c:gapWidth val="90"/>
        <c:axId val="-2068027336"/>
        <c:axId val="-2113994440"/>
      </c:barChart>
      <c:lineChart>
        <c:grouping val="standard"/>
        <c:varyColors val="0"/>
        <c:ser>
          <c:idx val="1"/>
          <c:order val="1"/>
          <c:tx>
            <c:strRef>
              <c:f>Sheet1!$C$1</c:f>
              <c:strCache>
                <c:ptCount val="1"/>
                <c:pt idx="0">
                  <c:v>Frequency (right axis)</c:v>
                </c:pt>
              </c:strCache>
            </c:strRef>
          </c:tx>
          <c:spPr>
            <a:ln w="28575">
              <a:solidFill>
                <a:srgbClr val="2E7D32"/>
              </a:solidFill>
            </a:ln>
          </c:spPr>
          <c:marker>
            <c:symbol val="circle"/>
            <c:size val="6"/>
            <c:spPr>
              <a:solidFill>
                <a:srgbClr val="2E7D32"/>
              </a:solidFill>
            </c:spPr>
          </c:marker>
          <c:dLbls>
            <c:numFmt formatCode="0.##" sourceLinked="0"/>
            <c:spPr>
              <a:noFill/>
            </c:spPr>
            <c:txPr>
              <a:bodyPr/>
              <a:lstStyle/>
              <a:p>
                <a:pPr>
                  <a:defRPr sz="800" b="1">
                    <a:solidFill>
                      <a:srgbClr val="2E7D32"/>
                    </a:solidFill>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August · 0 cases</c:v>
                </c:pt>
                <c:pt idx="1">
                  <c:v>September · 0 cases</c:v>
                </c:pt>
                <c:pt idx="2">
                  <c:v>October · pending</c:v>
                </c:pt>
              </c:strCache>
            </c:strRef>
          </c:cat>
          <c:val>
            <c:numRef>
              <c:f>Sheet1!$C$2:$C$4</c:f>
              <c:numCache>
                <c:formatCode>General</c:formatCode>
                <c:ptCount val="3"/>
                <c:pt idx="0">
                  <c:v>0</c:v>
                </c:pt>
                <c:pt idx="1">
                  <c:v>0</c:v>
                </c:pt>
              </c:numCache>
            </c:numRef>
          </c:val>
          <c:smooth val="0"/>
          <c:extLst>
            <c:ext xmlns:c16="http://schemas.microsoft.com/office/drawing/2014/chart" uri="{C3380CC4-5D6E-409C-BE32-E72D297353CC}">
              <c16:uniqueId val="{00000001-8A61-4E28-A2BE-F9C63FFCAA86}"/>
            </c:ext>
          </c:extLst>
        </c:ser>
        <c:ser>
          <c:idx val="2"/>
          <c:order val="2"/>
          <c:tx>
            <c:strRef>
              <c:f>Sheet1!$D$1</c:f>
              <c:strCache>
                <c:ptCount val="1"/>
                <c:pt idx="0">
                  <c:v>Target (right axis)</c:v>
                </c:pt>
              </c:strCache>
            </c:strRef>
          </c:tx>
          <c:spPr>
            <a:ln w="19050">
              <a:solidFill>
                <a:srgbClr val="C62828"/>
              </a:solidFill>
              <a:prstDash val="dash"/>
            </a:ln>
          </c:spPr>
          <c:marker>
            <c:symbol val="none"/>
          </c:marker>
          <c:dLbls>
            <c:dLbl>
              <c:idx val="1"/>
              <c:tx>
                <c:rich>
                  <a:bodyPr/>
                  <a:lstStyle/>
                  <a:p>
                    <a:pPr>
                      <a:defRPr sz="900" b="1">
                        <a:solidFill>
                          <a:srgbClr val="C62828"/>
                        </a:solidFill>
                      </a:defRPr>
                    </a:pPr>
                    <a:r>
                      <a:rPr lang="en-US" dirty="0"/>
                      <a:t>0.79 (2</a:t>
                    </a:r>
                    <a:r>
                      <a:rPr lang="en-US" baseline="0" dirty="0"/>
                      <a:t> events)</a:t>
                    </a:r>
                    <a:endParaRPr lang="en-US" dirty="0"/>
                  </a:p>
                </c:rich>
              </c:tx>
              <c:numFmt formatCode="0.##" sourceLinked="0"/>
              <c:spPr>
                <a:noFill/>
              </c:spPr>
              <c:dLblPos val="t"/>
              <c:showLegendKey val="0"/>
              <c:showVal val="1"/>
              <c:showCatName val="0"/>
              <c:showSerName val="0"/>
              <c:showPercent val="0"/>
              <c:showBubbleSize val="0"/>
              <c:extLst>
                <c:ext xmlns:c15="http://schemas.microsoft.com/office/drawing/2012/chart" uri="{CE6537A1-D6FC-4f65-9D91-7224C49458BB}">
                  <c15:layout>
                    <c:manualLayout>
                      <c:w val="0.22675120772946858"/>
                      <c:h val="7.5631644529282324E-2"/>
                    </c:manualLayout>
                  </c15:layout>
                  <c15:showDataLabelsRange val="0"/>
                </c:ext>
                <c:ext xmlns:c16="http://schemas.microsoft.com/office/drawing/2014/chart" uri="{C3380CC4-5D6E-409C-BE32-E72D297353CC}">
                  <c16:uniqueId val="{00000002-8A61-4E28-A2BE-F9C63FFCAA86}"/>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Sheet1!$A$2:$A$4</c:f>
              <c:strCache>
                <c:ptCount val="3"/>
                <c:pt idx="0">
                  <c:v>August · 0 cases</c:v>
                </c:pt>
                <c:pt idx="1">
                  <c:v>September · 0 cases</c:v>
                </c:pt>
                <c:pt idx="2">
                  <c:v>October · pending</c:v>
                </c:pt>
              </c:strCache>
            </c:strRef>
          </c:cat>
          <c:val>
            <c:numRef>
              <c:f>Sheet1!$D$2:$D$4</c:f>
              <c:numCache>
                <c:formatCode>General</c:formatCode>
                <c:ptCount val="3"/>
                <c:pt idx="0">
                  <c:v>0.79</c:v>
                </c:pt>
                <c:pt idx="1">
                  <c:v>0.79</c:v>
                </c:pt>
                <c:pt idx="2">
                  <c:v>0.79</c:v>
                </c:pt>
              </c:numCache>
            </c:numRef>
          </c:val>
          <c:smooth val="0"/>
          <c:extLst>
            <c:ext xmlns:c16="http://schemas.microsoft.com/office/drawing/2014/chart" uri="{C3380CC4-5D6E-409C-BE32-E72D297353CC}">
              <c16:uniqueId val="{00000003-8A61-4E28-A2BE-F9C63FFCAA86}"/>
            </c:ext>
          </c:extLst>
        </c:ser>
        <c:dLbls>
          <c:showLegendKey val="0"/>
          <c:showVal val="0"/>
          <c:showCatName val="0"/>
          <c:showSerName val="0"/>
          <c:showPercent val="0"/>
          <c:showBubbleSize val="0"/>
        </c:dLbls>
        <c:marker val="1"/>
        <c:smooth val="0"/>
        <c:axId val="50010"/>
        <c:axId val="50020"/>
      </c:lineChart>
      <c:catAx>
        <c:axId val="-2068027336"/>
        <c:scaling>
          <c:orientation val="minMax"/>
        </c:scaling>
        <c:delete val="0"/>
        <c:axPos val="b"/>
        <c:numFmt formatCode="General" sourceLinked="0"/>
        <c:majorTickMark val="out"/>
        <c:minorTickMark val="none"/>
        <c:tickLblPos val="nextTo"/>
        <c:txPr>
          <a:bodyPr/>
          <a:lstStyle/>
          <a:p>
            <a:pPr>
              <a:defRPr sz="800"/>
            </a:pPr>
            <a:endParaRPr lang="es-AR"/>
          </a:p>
        </c:txPr>
        <c:crossAx val="-2113994440"/>
        <c:crosses val="autoZero"/>
        <c:auto val="1"/>
        <c:lblAlgn val="ctr"/>
        <c:lblOffset val="100"/>
        <c:noMultiLvlLbl val="0"/>
      </c:catAx>
      <c:valAx>
        <c:axId val="-2113994440"/>
        <c:scaling>
          <c:orientation val="minMax"/>
          <c:min val="0"/>
        </c:scaling>
        <c:delete val="0"/>
        <c:axPos val="l"/>
        <c:title>
          <c:tx>
            <c:rich>
              <a:bodyPr/>
              <a:lstStyle/>
              <a:p>
                <a:r>
                  <a:rPr lang="en-GB" sz="700" b="0" noProof="0" dirty="0">
                    <a:latin typeface="Aptos"/>
                  </a:rPr>
                  <a:t>Cases</a:t>
                </a:r>
              </a:p>
            </c:rich>
          </c:tx>
          <c:overlay val="0"/>
        </c:title>
        <c:numFmt formatCode="0" sourceLinked="0"/>
        <c:majorTickMark val="out"/>
        <c:minorTickMark val="none"/>
        <c:tickLblPos val="nextTo"/>
        <c:txPr>
          <a:bodyPr/>
          <a:lstStyle/>
          <a:p>
            <a:pPr>
              <a:defRPr sz="750"/>
            </a:pPr>
            <a:endParaRPr lang="es-AR"/>
          </a:p>
        </c:txPr>
        <c:crossAx val="-2068027336"/>
        <c:crosses val="autoZero"/>
        <c:crossBetween val="between"/>
        <c:majorUnit val="1"/>
      </c:valAx>
      <c:catAx>
        <c:axId val="50010"/>
        <c:scaling>
          <c:orientation val="minMax"/>
        </c:scaling>
        <c:delete val="1"/>
        <c:axPos val="b"/>
        <c:numFmt formatCode="General" sourceLinked="1"/>
        <c:majorTickMark val="none"/>
        <c:minorTickMark val="none"/>
        <c:tickLblPos val="nextTo"/>
        <c:crossAx val="50020"/>
        <c:crosses val="autoZero"/>
        <c:auto val="1"/>
        <c:lblAlgn val="ctr"/>
        <c:lblOffset val="100"/>
        <c:noMultiLvlLbl val="0"/>
      </c:catAx>
      <c:valAx>
        <c:axId val="50020"/>
        <c:scaling>
          <c:orientation val="minMax"/>
          <c:max val="1"/>
          <c:min val="0"/>
        </c:scaling>
        <c:delete val="0"/>
        <c:axPos val="r"/>
        <c:title>
          <c:tx>
            <c:rich>
              <a:bodyPr rot="-5400000" vert="horz"/>
              <a:lstStyle/>
              <a:p>
                <a:pPr>
                  <a:defRPr sz="700" b="0"/>
                </a:pPr>
                <a:r>
                  <a:rPr lang="en-GB" sz="700" b="0" noProof="0" dirty="0"/>
                  <a:t>Frequency</a:t>
                </a:r>
              </a:p>
            </c:rich>
          </c:tx>
          <c:overlay val="0"/>
        </c:title>
        <c:numFmt formatCode="0.##" sourceLinked="0"/>
        <c:majorTickMark val="out"/>
        <c:minorTickMark val="none"/>
        <c:tickLblPos val="nextTo"/>
        <c:txPr>
          <a:bodyPr/>
          <a:lstStyle/>
          <a:p>
            <a:pPr>
              <a:defRPr sz="750"/>
            </a:pPr>
            <a:endParaRPr lang="en-US"/>
          </a:p>
        </c:txPr>
        <c:crossAx val="50010"/>
        <c:crosses val="max"/>
        <c:crossBetween val="between"/>
      </c:valAx>
    </c:plotArea>
    <c:legend>
      <c:legendPos val="b"/>
      <c:overlay val="0"/>
      <c:txPr>
        <a:bodyPr/>
        <a:lstStyle/>
        <a:p>
          <a:pPr>
            <a:defRPr sz="700">
              <a:latin typeface="Aptos"/>
            </a:defRPr>
          </a:pPr>
          <a:endParaRPr lang="es-AR"/>
        </a:p>
      </c:txPr>
    </c:legend>
    <c:plotVisOnly val="1"/>
    <c:dispBlanksAs val="gap"/>
    <c:showDLblsOverMax val="1"/>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1"/>
        <c:ser>
          <c:idx val="0"/>
          <c:order val="0"/>
          <c:tx>
            <c:strRef>
              <c:f>Sheet1!$B$1</c:f>
              <c:strCache>
                <c:ptCount val="1"/>
                <c:pt idx="0">
                  <c:v>Monthly total</c:v>
                </c:pt>
              </c:strCache>
            </c:strRef>
          </c:tx>
          <c:spPr>
            <a:solidFill>
              <a:srgbClr val="013EF5"/>
            </a:solidFill>
          </c:spPr>
          <c:invertIfNegative val="1"/>
          <c:dLbls>
            <c:numFmt formatCode="#,##0;\-#,##0;;" sourceLinked="0"/>
            <c:spPr>
              <a:noFill/>
              <a:ln>
                <a:noFill/>
              </a:ln>
              <a:effectLst/>
            </c:spPr>
            <c:txPr>
              <a:bodyPr/>
              <a:lstStyle/>
              <a:p>
                <a:pPr>
                  <a:defRPr sz="900" b="1">
                    <a:solidFill>
                      <a:srgbClr val="FFFFFF"/>
                    </a:solidFill>
                  </a:defRPr>
                </a:pPr>
                <a:endParaRPr lang="es-A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2</c:v>
                </c:pt>
                <c:pt idx="1">
                  <c:v>Sep · total 7</c:v>
                </c:pt>
                <c:pt idx="2">
                  <c:v>Oct · pending</c:v>
                </c:pt>
              </c:strCache>
            </c:strRef>
          </c:cat>
          <c:val>
            <c:numRef>
              <c:f>Sheet1!$B$2:$B$4</c:f>
              <c:numCache>
                <c:formatCode>General</c:formatCode>
                <c:ptCount val="3"/>
                <c:pt idx="0">
                  <c:v>2</c:v>
                </c:pt>
                <c:pt idx="1">
                  <c:v>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7102-4594-AC15-0581E82D7D69}"/>
            </c:ext>
          </c:extLst>
        </c:ser>
        <c:dLbls>
          <c:showLegendKey val="0"/>
          <c:showVal val="0"/>
          <c:showCatName val="0"/>
          <c:showSerName val="0"/>
          <c:showPercent val="0"/>
          <c:showBubbleSize val="0"/>
        </c:dLbls>
        <c:gapWidth val="70"/>
        <c:overlap val="100"/>
        <c:axId val="-2068027336"/>
        <c:axId val="-2113994440"/>
      </c:barChart>
      <c:lineChart>
        <c:grouping val="standard"/>
        <c:varyColors val="0"/>
        <c:ser>
          <c:idx val="1"/>
          <c:order val="1"/>
          <c:tx>
            <c:strRef>
              <c:f>Sheet1!$C$1</c:f>
              <c:strCache>
                <c:ptCount val="1"/>
                <c:pt idx="0">
                  <c:v>Cumulative total</c:v>
                </c:pt>
              </c:strCache>
            </c:strRef>
          </c:tx>
          <c:spPr>
            <a:ln w="28575">
              <a:solidFill>
                <a:srgbClr val="2E7D32"/>
              </a:solidFill>
            </a:ln>
          </c:spPr>
          <c:marker>
            <c:symbol val="circle"/>
            <c:size val="6"/>
            <c:spPr>
              <a:solidFill>
                <a:srgbClr val="2E7D32"/>
              </a:solidFill>
            </c:spPr>
          </c:marker>
          <c:dLbls>
            <c:numFmt formatCode="#,##0" sourceLinked="0"/>
            <c:spPr>
              <a:noFill/>
              <a:ln>
                <a:noFill/>
              </a:ln>
              <a:effectLst/>
            </c:spPr>
            <c:txPr>
              <a:bodyPr/>
              <a:lstStyle/>
              <a:p>
                <a:pPr>
                  <a:defRPr sz="900" b="1">
                    <a:solidFill>
                      <a:srgbClr val="2E7D32"/>
                    </a:solidFill>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2</c:v>
                </c:pt>
                <c:pt idx="1">
                  <c:v>Sep · total 7</c:v>
                </c:pt>
                <c:pt idx="2">
                  <c:v>Oct · pending</c:v>
                </c:pt>
              </c:strCache>
            </c:strRef>
          </c:cat>
          <c:val>
            <c:numRef>
              <c:f>Sheet1!$C$2:$C$4</c:f>
              <c:numCache>
                <c:formatCode>General</c:formatCode>
                <c:ptCount val="3"/>
                <c:pt idx="0">
                  <c:v>2</c:v>
                </c:pt>
                <c:pt idx="1">
                  <c:v>9</c:v>
                </c:pt>
              </c:numCache>
            </c:numRef>
          </c:val>
          <c:smooth val="1"/>
          <c:extLst>
            <c:ext xmlns:c16="http://schemas.microsoft.com/office/drawing/2014/chart" uri="{C3380CC4-5D6E-409C-BE32-E72D297353CC}">
              <c16:uniqueId val="{00000001-7102-4594-AC15-0581E82D7D69}"/>
            </c:ext>
          </c:extLst>
        </c:ser>
        <c:dLbls>
          <c:showLegendKey val="0"/>
          <c:showVal val="0"/>
          <c:showCatName val="0"/>
          <c:showSerName val="0"/>
          <c:showPercent val="0"/>
          <c:showBubbleSize val="0"/>
        </c:dLbls>
        <c:marker val="1"/>
        <c:smooth val="0"/>
        <c:axId val="-2068027336"/>
        <c:axId val="-2113994440"/>
      </c:lineChart>
      <c:catAx>
        <c:axId val="-2068027336"/>
        <c:scaling>
          <c:orientation val="minMax"/>
        </c:scaling>
        <c:delete val="0"/>
        <c:axPos val="b"/>
        <c:numFmt formatCode="General" sourceLinked="0"/>
        <c:majorTickMark val="out"/>
        <c:minorTickMark val="none"/>
        <c:tickLblPos val="nextTo"/>
        <c:txPr>
          <a:bodyPr/>
          <a:lstStyle/>
          <a:p>
            <a:pPr>
              <a:defRPr sz="850"/>
            </a:pPr>
            <a:endParaRPr lang="es-AR"/>
          </a:p>
        </c:txPr>
        <c:crossAx val="-2113994440"/>
        <c:crosses val="autoZero"/>
        <c:auto val="1"/>
        <c:lblAlgn val="ctr"/>
        <c:lblOffset val="100"/>
        <c:noMultiLvlLbl val="0"/>
      </c:catAx>
      <c:valAx>
        <c:axId val="-2113994440"/>
        <c:scaling>
          <c:orientation val="minMax"/>
          <c:min val="0"/>
        </c:scaling>
        <c:delete val="0"/>
        <c:axPos val="l"/>
        <c:numFmt formatCode="#,##0" sourceLinked="0"/>
        <c:majorTickMark val="out"/>
        <c:minorTickMark val="none"/>
        <c:tickLblPos val="nextTo"/>
        <c:txPr>
          <a:bodyPr/>
          <a:lstStyle/>
          <a:p>
            <a:pPr>
              <a:defRPr sz="800"/>
            </a:pPr>
            <a:endParaRPr lang="es-AR"/>
          </a:p>
        </c:txPr>
        <c:crossAx val="-2068027336"/>
        <c:crosses val="autoZero"/>
        <c:crossBetween val="between"/>
      </c:valAx>
    </c:plotArea>
    <c:legend>
      <c:legendPos val="b"/>
      <c:overlay val="0"/>
      <c:txPr>
        <a:bodyPr/>
        <a:lstStyle/>
        <a:p>
          <a:pPr>
            <a:defRPr sz="750"/>
          </a:pPr>
          <a:endParaRPr lang="es-AR"/>
        </a:p>
      </c:txPr>
    </c:legend>
    <c:plotVisOnly val="1"/>
    <c:dispBlanksAs val="gap"/>
    <c:showDLblsOverMax val="1"/>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1"/>
        <c:ser>
          <c:idx val="0"/>
          <c:order val="0"/>
          <c:tx>
            <c:strRef>
              <c:f>Sheet1!$B$1</c:f>
              <c:strCache>
                <c:ptCount val="1"/>
                <c:pt idx="0">
                  <c:v>Monthly total</c:v>
                </c:pt>
              </c:strCache>
            </c:strRef>
          </c:tx>
          <c:spPr>
            <a:solidFill>
              <a:srgbClr val="013EF5"/>
            </a:solidFill>
          </c:spPr>
          <c:invertIfNegative val="1"/>
          <c:dLbls>
            <c:numFmt formatCode="#,##0;\-#,##0;;" sourceLinked="0"/>
            <c:spPr>
              <a:noFill/>
              <a:ln>
                <a:noFill/>
              </a:ln>
              <a:effectLst/>
            </c:spPr>
            <c:txPr>
              <a:bodyPr/>
              <a:lstStyle/>
              <a:p>
                <a:pPr>
                  <a:defRPr sz="900" b="1">
                    <a:solidFill>
                      <a:srgbClr val="FFFFFF"/>
                    </a:solidFill>
                  </a:defRPr>
                </a:pPr>
                <a:endParaRPr lang="es-A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2</c:v>
                </c:pt>
                <c:pt idx="1">
                  <c:v>Sep · total 4</c:v>
                </c:pt>
                <c:pt idx="2">
                  <c:v>Oct · pending</c:v>
                </c:pt>
              </c:strCache>
            </c:strRef>
          </c:cat>
          <c:val>
            <c:numRef>
              <c:f>Sheet1!$B$2:$B$4</c:f>
              <c:numCache>
                <c:formatCode>General</c:formatCode>
                <c:ptCount val="3"/>
                <c:pt idx="0">
                  <c:v>2</c:v>
                </c:pt>
                <c:pt idx="1">
                  <c:v>4</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D4F4-4233-BA4E-FB86BD9944D4}"/>
            </c:ext>
          </c:extLst>
        </c:ser>
        <c:dLbls>
          <c:showLegendKey val="0"/>
          <c:showVal val="0"/>
          <c:showCatName val="0"/>
          <c:showSerName val="0"/>
          <c:showPercent val="0"/>
          <c:showBubbleSize val="0"/>
        </c:dLbls>
        <c:gapWidth val="70"/>
        <c:overlap val="100"/>
        <c:axId val="-2068027336"/>
        <c:axId val="-2113994440"/>
      </c:barChart>
      <c:lineChart>
        <c:grouping val="standard"/>
        <c:varyColors val="0"/>
        <c:ser>
          <c:idx val="1"/>
          <c:order val="1"/>
          <c:tx>
            <c:strRef>
              <c:f>Sheet1!$C$1</c:f>
              <c:strCache>
                <c:ptCount val="1"/>
                <c:pt idx="0">
                  <c:v>Cumulative total</c:v>
                </c:pt>
              </c:strCache>
            </c:strRef>
          </c:tx>
          <c:spPr>
            <a:ln w="28575">
              <a:solidFill>
                <a:srgbClr val="2E7D32"/>
              </a:solidFill>
            </a:ln>
          </c:spPr>
          <c:marker>
            <c:symbol val="circle"/>
            <c:size val="6"/>
            <c:spPr>
              <a:solidFill>
                <a:srgbClr val="2E7D32"/>
              </a:solidFill>
            </c:spPr>
          </c:marker>
          <c:dLbls>
            <c:numFmt formatCode="#,##0" sourceLinked="0"/>
            <c:spPr>
              <a:noFill/>
              <a:ln>
                <a:noFill/>
              </a:ln>
              <a:effectLst/>
            </c:spPr>
            <c:txPr>
              <a:bodyPr/>
              <a:lstStyle/>
              <a:p>
                <a:pPr>
                  <a:defRPr sz="900" b="1">
                    <a:solidFill>
                      <a:srgbClr val="2E7D32"/>
                    </a:solidFill>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2</c:v>
                </c:pt>
                <c:pt idx="1">
                  <c:v>Sep · total 4</c:v>
                </c:pt>
                <c:pt idx="2">
                  <c:v>Oct · pending</c:v>
                </c:pt>
              </c:strCache>
            </c:strRef>
          </c:cat>
          <c:val>
            <c:numRef>
              <c:f>Sheet1!$C$2:$C$4</c:f>
              <c:numCache>
                <c:formatCode>General</c:formatCode>
                <c:ptCount val="3"/>
                <c:pt idx="0">
                  <c:v>2</c:v>
                </c:pt>
                <c:pt idx="1">
                  <c:v>6</c:v>
                </c:pt>
              </c:numCache>
            </c:numRef>
          </c:val>
          <c:smooth val="1"/>
          <c:extLst>
            <c:ext xmlns:c16="http://schemas.microsoft.com/office/drawing/2014/chart" uri="{C3380CC4-5D6E-409C-BE32-E72D297353CC}">
              <c16:uniqueId val="{00000001-D4F4-4233-BA4E-FB86BD9944D4}"/>
            </c:ext>
          </c:extLst>
        </c:ser>
        <c:dLbls>
          <c:showLegendKey val="0"/>
          <c:showVal val="0"/>
          <c:showCatName val="0"/>
          <c:showSerName val="0"/>
          <c:showPercent val="0"/>
          <c:showBubbleSize val="0"/>
        </c:dLbls>
        <c:marker val="1"/>
        <c:smooth val="0"/>
        <c:axId val="-2068027336"/>
        <c:axId val="-2113994440"/>
      </c:lineChart>
      <c:catAx>
        <c:axId val="-2068027336"/>
        <c:scaling>
          <c:orientation val="minMax"/>
        </c:scaling>
        <c:delete val="0"/>
        <c:axPos val="b"/>
        <c:numFmt formatCode="General" sourceLinked="0"/>
        <c:majorTickMark val="out"/>
        <c:minorTickMark val="none"/>
        <c:tickLblPos val="nextTo"/>
        <c:txPr>
          <a:bodyPr/>
          <a:lstStyle/>
          <a:p>
            <a:pPr>
              <a:defRPr sz="850"/>
            </a:pPr>
            <a:endParaRPr lang="es-AR"/>
          </a:p>
        </c:txPr>
        <c:crossAx val="-2113994440"/>
        <c:crosses val="autoZero"/>
        <c:auto val="1"/>
        <c:lblAlgn val="ctr"/>
        <c:lblOffset val="100"/>
        <c:noMultiLvlLbl val="0"/>
      </c:catAx>
      <c:valAx>
        <c:axId val="-2113994440"/>
        <c:scaling>
          <c:orientation val="minMax"/>
          <c:min val="0"/>
        </c:scaling>
        <c:delete val="0"/>
        <c:axPos val="l"/>
        <c:numFmt formatCode="#,##0" sourceLinked="0"/>
        <c:majorTickMark val="out"/>
        <c:minorTickMark val="none"/>
        <c:tickLblPos val="nextTo"/>
        <c:txPr>
          <a:bodyPr/>
          <a:lstStyle/>
          <a:p>
            <a:pPr>
              <a:defRPr sz="800"/>
            </a:pPr>
            <a:endParaRPr lang="es-AR"/>
          </a:p>
        </c:txPr>
        <c:crossAx val="-2068027336"/>
        <c:crosses val="autoZero"/>
        <c:crossBetween val="between"/>
      </c:valAx>
    </c:plotArea>
    <c:legend>
      <c:legendPos val="b"/>
      <c:overlay val="0"/>
      <c:txPr>
        <a:bodyPr/>
        <a:lstStyle/>
        <a:p>
          <a:pPr>
            <a:defRPr sz="750"/>
          </a:pPr>
          <a:endParaRPr lang="es-AR"/>
        </a:p>
      </c:txPr>
    </c:legend>
    <c:plotVisOnly val="1"/>
    <c:dispBlanksAs val="gap"/>
    <c:showDLblsOverMax val="1"/>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1"/>
        <c:ser>
          <c:idx val="0"/>
          <c:order val="0"/>
          <c:tx>
            <c:strRef>
              <c:f>Sheet1!$B$1</c:f>
              <c:strCache>
                <c:ptCount val="1"/>
                <c:pt idx="0">
                  <c:v>Monthly total</c:v>
                </c:pt>
              </c:strCache>
            </c:strRef>
          </c:tx>
          <c:spPr>
            <a:solidFill>
              <a:srgbClr val="013EF5"/>
            </a:solidFill>
          </c:spPr>
          <c:invertIfNegative val="1"/>
          <c:dLbls>
            <c:numFmt formatCode="#,##0;\-#,##0;;" sourceLinked="0"/>
            <c:spPr>
              <a:noFill/>
              <a:ln>
                <a:noFill/>
              </a:ln>
              <a:effectLst/>
            </c:spPr>
            <c:txPr>
              <a:bodyPr/>
              <a:lstStyle/>
              <a:p>
                <a:pPr>
                  <a:defRPr sz="900" b="1">
                    <a:solidFill>
                      <a:srgbClr val="FFFFFF"/>
                    </a:solidFill>
                  </a:defRPr>
                </a:pPr>
                <a:endParaRPr lang="es-A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2</c:v>
                </c:pt>
                <c:pt idx="1">
                  <c:v>Sep · total 2</c:v>
                </c:pt>
                <c:pt idx="2">
                  <c:v>Oct · pending</c:v>
                </c:pt>
              </c:strCache>
            </c:strRef>
          </c:cat>
          <c:val>
            <c:numRef>
              <c:f>Sheet1!$B$2:$B$4</c:f>
              <c:numCache>
                <c:formatCode>General</c:formatCode>
                <c:ptCount val="3"/>
                <c:pt idx="0">
                  <c:v>2</c:v>
                </c:pt>
                <c:pt idx="1">
                  <c:v>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7983-4333-8C7B-1929538D009B}"/>
            </c:ext>
          </c:extLst>
        </c:ser>
        <c:dLbls>
          <c:showLegendKey val="0"/>
          <c:showVal val="0"/>
          <c:showCatName val="0"/>
          <c:showSerName val="0"/>
          <c:showPercent val="0"/>
          <c:showBubbleSize val="0"/>
        </c:dLbls>
        <c:gapWidth val="70"/>
        <c:overlap val="100"/>
        <c:axId val="-2068027336"/>
        <c:axId val="-2113994440"/>
      </c:barChart>
      <c:lineChart>
        <c:grouping val="standard"/>
        <c:varyColors val="0"/>
        <c:ser>
          <c:idx val="1"/>
          <c:order val="1"/>
          <c:tx>
            <c:strRef>
              <c:f>Sheet1!$C$1</c:f>
              <c:strCache>
                <c:ptCount val="1"/>
                <c:pt idx="0">
                  <c:v>Cumulative total</c:v>
                </c:pt>
              </c:strCache>
            </c:strRef>
          </c:tx>
          <c:spPr>
            <a:ln w="28575">
              <a:solidFill>
                <a:srgbClr val="2E7D32"/>
              </a:solidFill>
            </a:ln>
          </c:spPr>
          <c:marker>
            <c:symbol val="circle"/>
            <c:size val="6"/>
            <c:spPr>
              <a:solidFill>
                <a:srgbClr val="2E7D32"/>
              </a:solidFill>
            </c:spPr>
          </c:marker>
          <c:dLbls>
            <c:numFmt formatCode="#,##0" sourceLinked="0"/>
            <c:spPr>
              <a:noFill/>
              <a:ln>
                <a:noFill/>
              </a:ln>
              <a:effectLst/>
            </c:spPr>
            <c:txPr>
              <a:bodyPr/>
              <a:lstStyle/>
              <a:p>
                <a:pPr>
                  <a:defRPr sz="900" b="1">
                    <a:solidFill>
                      <a:srgbClr val="2E7D32"/>
                    </a:solidFill>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2</c:v>
                </c:pt>
                <c:pt idx="1">
                  <c:v>Sep · total 2</c:v>
                </c:pt>
                <c:pt idx="2">
                  <c:v>Oct · pending</c:v>
                </c:pt>
              </c:strCache>
            </c:strRef>
          </c:cat>
          <c:val>
            <c:numRef>
              <c:f>Sheet1!$C$2:$C$4</c:f>
              <c:numCache>
                <c:formatCode>General</c:formatCode>
                <c:ptCount val="3"/>
                <c:pt idx="0">
                  <c:v>2</c:v>
                </c:pt>
                <c:pt idx="1">
                  <c:v>4</c:v>
                </c:pt>
              </c:numCache>
            </c:numRef>
          </c:val>
          <c:smooth val="1"/>
          <c:extLst>
            <c:ext xmlns:c16="http://schemas.microsoft.com/office/drawing/2014/chart" uri="{C3380CC4-5D6E-409C-BE32-E72D297353CC}">
              <c16:uniqueId val="{00000001-7983-4333-8C7B-1929538D009B}"/>
            </c:ext>
          </c:extLst>
        </c:ser>
        <c:dLbls>
          <c:showLegendKey val="0"/>
          <c:showVal val="0"/>
          <c:showCatName val="0"/>
          <c:showSerName val="0"/>
          <c:showPercent val="0"/>
          <c:showBubbleSize val="0"/>
        </c:dLbls>
        <c:marker val="1"/>
        <c:smooth val="0"/>
        <c:axId val="-2068027336"/>
        <c:axId val="-2113994440"/>
      </c:lineChart>
      <c:catAx>
        <c:axId val="-2068027336"/>
        <c:scaling>
          <c:orientation val="minMax"/>
        </c:scaling>
        <c:delete val="0"/>
        <c:axPos val="b"/>
        <c:numFmt formatCode="General" sourceLinked="0"/>
        <c:majorTickMark val="out"/>
        <c:minorTickMark val="none"/>
        <c:tickLblPos val="nextTo"/>
        <c:txPr>
          <a:bodyPr/>
          <a:lstStyle/>
          <a:p>
            <a:pPr>
              <a:defRPr sz="850"/>
            </a:pPr>
            <a:endParaRPr lang="es-AR"/>
          </a:p>
        </c:txPr>
        <c:crossAx val="-2113994440"/>
        <c:crosses val="autoZero"/>
        <c:auto val="1"/>
        <c:lblAlgn val="ctr"/>
        <c:lblOffset val="100"/>
        <c:noMultiLvlLbl val="0"/>
      </c:catAx>
      <c:valAx>
        <c:axId val="-2113994440"/>
        <c:scaling>
          <c:orientation val="minMax"/>
          <c:min val="0"/>
        </c:scaling>
        <c:delete val="0"/>
        <c:axPos val="l"/>
        <c:numFmt formatCode="#,##0" sourceLinked="0"/>
        <c:majorTickMark val="out"/>
        <c:minorTickMark val="none"/>
        <c:tickLblPos val="nextTo"/>
        <c:txPr>
          <a:bodyPr/>
          <a:lstStyle/>
          <a:p>
            <a:pPr>
              <a:defRPr sz="800"/>
            </a:pPr>
            <a:endParaRPr lang="es-AR"/>
          </a:p>
        </c:txPr>
        <c:crossAx val="-2068027336"/>
        <c:crosses val="autoZero"/>
        <c:crossBetween val="between"/>
      </c:valAx>
    </c:plotArea>
    <c:legend>
      <c:legendPos val="b"/>
      <c:overlay val="0"/>
      <c:txPr>
        <a:bodyPr/>
        <a:lstStyle/>
        <a:p>
          <a:pPr>
            <a:defRPr sz="750"/>
          </a:pPr>
          <a:endParaRPr lang="es-AR"/>
        </a:p>
      </c:txPr>
    </c:legend>
    <c:plotVisOnly val="1"/>
    <c:dispBlanksAs val="gap"/>
    <c:showDLblsOverMax val="1"/>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1"/>
        <c:ser>
          <c:idx val="0"/>
          <c:order val="0"/>
          <c:tx>
            <c:strRef>
              <c:f>Sheet1!$B$1</c:f>
              <c:strCache>
                <c:ptCount val="1"/>
                <c:pt idx="0">
                  <c:v>Monthly total</c:v>
                </c:pt>
              </c:strCache>
            </c:strRef>
          </c:tx>
          <c:spPr>
            <a:solidFill>
              <a:srgbClr val="013EF5"/>
            </a:solidFill>
          </c:spPr>
          <c:invertIfNegative val="1"/>
          <c:dLbls>
            <c:numFmt formatCode="#,##0;\-#,##0;;" sourceLinked="0"/>
            <c:spPr>
              <a:noFill/>
              <a:ln>
                <a:noFill/>
              </a:ln>
              <a:effectLst/>
            </c:spPr>
            <c:txPr>
              <a:bodyPr/>
              <a:lstStyle/>
              <a:p>
                <a:pPr>
                  <a:defRPr sz="900" b="1">
                    <a:solidFill>
                      <a:srgbClr val="FFFFFF"/>
                    </a:solidFill>
                  </a:defRPr>
                </a:pPr>
                <a:endParaRPr lang="es-A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167</c:v>
                </c:pt>
                <c:pt idx="1">
                  <c:v>Sep · total 295</c:v>
                </c:pt>
                <c:pt idx="2">
                  <c:v>Oct · pending</c:v>
                </c:pt>
              </c:strCache>
            </c:strRef>
          </c:cat>
          <c:val>
            <c:numRef>
              <c:f>Sheet1!$B$2:$B$4</c:f>
              <c:numCache>
                <c:formatCode>General</c:formatCode>
                <c:ptCount val="3"/>
                <c:pt idx="0">
                  <c:v>167</c:v>
                </c:pt>
                <c:pt idx="1">
                  <c:v>295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269E-4574-8138-D3BA43F1EBCD}"/>
            </c:ext>
          </c:extLst>
        </c:ser>
        <c:dLbls>
          <c:showLegendKey val="0"/>
          <c:showVal val="0"/>
          <c:showCatName val="0"/>
          <c:showSerName val="0"/>
          <c:showPercent val="0"/>
          <c:showBubbleSize val="0"/>
        </c:dLbls>
        <c:gapWidth val="70"/>
        <c:overlap val="100"/>
        <c:axId val="-2068027336"/>
        <c:axId val="-2113994440"/>
      </c:barChart>
      <c:lineChart>
        <c:grouping val="standard"/>
        <c:varyColors val="0"/>
        <c:ser>
          <c:idx val="1"/>
          <c:order val="1"/>
          <c:tx>
            <c:strRef>
              <c:f>Sheet1!$C$1</c:f>
              <c:strCache>
                <c:ptCount val="1"/>
                <c:pt idx="0">
                  <c:v>Cumulative total</c:v>
                </c:pt>
              </c:strCache>
            </c:strRef>
          </c:tx>
          <c:spPr>
            <a:ln w="28575">
              <a:solidFill>
                <a:srgbClr val="2E7D32"/>
              </a:solidFill>
            </a:ln>
          </c:spPr>
          <c:marker>
            <c:symbol val="circle"/>
            <c:size val="6"/>
            <c:spPr>
              <a:solidFill>
                <a:srgbClr val="2E7D32"/>
              </a:solidFill>
            </c:spPr>
          </c:marker>
          <c:dLbls>
            <c:numFmt formatCode="#,##0" sourceLinked="0"/>
            <c:spPr>
              <a:noFill/>
              <a:ln>
                <a:noFill/>
              </a:ln>
              <a:effectLst/>
            </c:spPr>
            <c:txPr>
              <a:bodyPr/>
              <a:lstStyle/>
              <a:p>
                <a:pPr>
                  <a:defRPr sz="900" b="1">
                    <a:solidFill>
                      <a:srgbClr val="2E7D32"/>
                    </a:solidFill>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167</c:v>
                </c:pt>
                <c:pt idx="1">
                  <c:v>Sep · total 295</c:v>
                </c:pt>
                <c:pt idx="2">
                  <c:v>Oct · pending</c:v>
                </c:pt>
              </c:strCache>
            </c:strRef>
          </c:cat>
          <c:val>
            <c:numRef>
              <c:f>Sheet1!$C$2:$C$4</c:f>
              <c:numCache>
                <c:formatCode>General</c:formatCode>
                <c:ptCount val="3"/>
                <c:pt idx="0">
                  <c:v>167</c:v>
                </c:pt>
                <c:pt idx="1">
                  <c:v>462</c:v>
                </c:pt>
              </c:numCache>
            </c:numRef>
          </c:val>
          <c:smooth val="1"/>
          <c:extLst>
            <c:ext xmlns:c16="http://schemas.microsoft.com/office/drawing/2014/chart" uri="{C3380CC4-5D6E-409C-BE32-E72D297353CC}">
              <c16:uniqueId val="{00000001-269E-4574-8138-D3BA43F1EBCD}"/>
            </c:ext>
          </c:extLst>
        </c:ser>
        <c:dLbls>
          <c:showLegendKey val="0"/>
          <c:showVal val="0"/>
          <c:showCatName val="0"/>
          <c:showSerName val="0"/>
          <c:showPercent val="0"/>
          <c:showBubbleSize val="0"/>
        </c:dLbls>
        <c:marker val="1"/>
        <c:smooth val="0"/>
        <c:axId val="-2068027336"/>
        <c:axId val="-2113994440"/>
      </c:lineChart>
      <c:catAx>
        <c:axId val="-2068027336"/>
        <c:scaling>
          <c:orientation val="minMax"/>
        </c:scaling>
        <c:delete val="0"/>
        <c:axPos val="b"/>
        <c:numFmt formatCode="General" sourceLinked="0"/>
        <c:majorTickMark val="out"/>
        <c:minorTickMark val="none"/>
        <c:tickLblPos val="nextTo"/>
        <c:txPr>
          <a:bodyPr/>
          <a:lstStyle/>
          <a:p>
            <a:pPr>
              <a:defRPr sz="850"/>
            </a:pPr>
            <a:endParaRPr lang="es-AR"/>
          </a:p>
        </c:txPr>
        <c:crossAx val="-2113994440"/>
        <c:crosses val="autoZero"/>
        <c:auto val="1"/>
        <c:lblAlgn val="ctr"/>
        <c:lblOffset val="100"/>
        <c:noMultiLvlLbl val="0"/>
      </c:catAx>
      <c:valAx>
        <c:axId val="-2113994440"/>
        <c:scaling>
          <c:orientation val="minMax"/>
          <c:min val="0"/>
        </c:scaling>
        <c:delete val="0"/>
        <c:axPos val="l"/>
        <c:numFmt formatCode="#,##0" sourceLinked="0"/>
        <c:majorTickMark val="out"/>
        <c:minorTickMark val="none"/>
        <c:tickLblPos val="nextTo"/>
        <c:txPr>
          <a:bodyPr/>
          <a:lstStyle/>
          <a:p>
            <a:pPr>
              <a:defRPr sz="800"/>
            </a:pPr>
            <a:endParaRPr lang="es-AR"/>
          </a:p>
        </c:txPr>
        <c:crossAx val="-2068027336"/>
        <c:crosses val="autoZero"/>
        <c:crossBetween val="between"/>
      </c:valAx>
    </c:plotArea>
    <c:legend>
      <c:legendPos val="b"/>
      <c:overlay val="0"/>
      <c:txPr>
        <a:bodyPr/>
        <a:lstStyle/>
        <a:p>
          <a:pPr>
            <a:defRPr sz="750"/>
          </a:pPr>
          <a:endParaRPr lang="es-AR"/>
        </a:p>
      </c:txPr>
    </c:legend>
    <c:plotVisOnly val="1"/>
    <c:dispBlanksAs val="gap"/>
    <c:showDLblsOverMax val="1"/>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1"/>
        <c:ser>
          <c:idx val="0"/>
          <c:order val="0"/>
          <c:tx>
            <c:strRef>
              <c:f>Sheet1!$B$1</c:f>
              <c:strCache>
                <c:ptCount val="1"/>
                <c:pt idx="0">
                  <c:v>Monthly total</c:v>
                </c:pt>
              </c:strCache>
            </c:strRef>
          </c:tx>
          <c:spPr>
            <a:solidFill>
              <a:srgbClr val="013EF5"/>
            </a:solidFill>
          </c:spPr>
          <c:invertIfNegative val="1"/>
          <c:dLbls>
            <c:numFmt formatCode="#,##0;\-#,##0;;" sourceLinked="0"/>
            <c:spPr>
              <a:noFill/>
              <a:ln>
                <a:noFill/>
              </a:ln>
              <a:effectLst/>
            </c:spPr>
            <c:txPr>
              <a:bodyPr/>
              <a:lstStyle/>
              <a:p>
                <a:pPr>
                  <a:defRPr sz="900" b="1">
                    <a:solidFill>
                      <a:srgbClr val="FFFFFF"/>
                    </a:solidFill>
                  </a:defRPr>
                </a:pPr>
                <a:endParaRPr lang="es-A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1,853</c:v>
                </c:pt>
                <c:pt idx="1">
                  <c:v>Sep · total 1,796</c:v>
                </c:pt>
                <c:pt idx="2">
                  <c:v>Oct · pending</c:v>
                </c:pt>
              </c:strCache>
            </c:strRef>
          </c:cat>
          <c:val>
            <c:numRef>
              <c:f>Sheet1!$B$2:$B$4</c:f>
              <c:numCache>
                <c:formatCode>General</c:formatCode>
                <c:ptCount val="3"/>
                <c:pt idx="0">
                  <c:v>1853</c:v>
                </c:pt>
                <c:pt idx="1">
                  <c:v>1796</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7447-4A6C-84B6-55D9C8C76B30}"/>
            </c:ext>
          </c:extLst>
        </c:ser>
        <c:dLbls>
          <c:showLegendKey val="0"/>
          <c:showVal val="0"/>
          <c:showCatName val="0"/>
          <c:showSerName val="0"/>
          <c:showPercent val="0"/>
          <c:showBubbleSize val="0"/>
        </c:dLbls>
        <c:gapWidth val="70"/>
        <c:overlap val="100"/>
        <c:axId val="-2068027336"/>
        <c:axId val="-2113994440"/>
      </c:barChart>
      <c:lineChart>
        <c:grouping val="standard"/>
        <c:varyColors val="0"/>
        <c:ser>
          <c:idx val="1"/>
          <c:order val="1"/>
          <c:tx>
            <c:strRef>
              <c:f>Sheet1!$C$1</c:f>
              <c:strCache>
                <c:ptCount val="1"/>
                <c:pt idx="0">
                  <c:v>Cumulative total</c:v>
                </c:pt>
              </c:strCache>
            </c:strRef>
          </c:tx>
          <c:spPr>
            <a:ln w="28575">
              <a:solidFill>
                <a:srgbClr val="2E7D32"/>
              </a:solidFill>
            </a:ln>
          </c:spPr>
          <c:marker>
            <c:symbol val="circle"/>
            <c:size val="6"/>
            <c:spPr>
              <a:solidFill>
                <a:srgbClr val="2E7D32"/>
              </a:solidFill>
            </c:spPr>
          </c:marker>
          <c:dLbls>
            <c:numFmt formatCode="#,##0" sourceLinked="0"/>
            <c:spPr>
              <a:noFill/>
              <a:ln>
                <a:noFill/>
              </a:ln>
              <a:effectLst/>
            </c:spPr>
            <c:txPr>
              <a:bodyPr/>
              <a:lstStyle/>
              <a:p>
                <a:pPr>
                  <a:defRPr sz="900" b="1">
                    <a:solidFill>
                      <a:srgbClr val="2E7D32"/>
                    </a:solidFill>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1,853</c:v>
                </c:pt>
                <c:pt idx="1">
                  <c:v>Sep · total 1,796</c:v>
                </c:pt>
                <c:pt idx="2">
                  <c:v>Oct · pending</c:v>
                </c:pt>
              </c:strCache>
            </c:strRef>
          </c:cat>
          <c:val>
            <c:numRef>
              <c:f>Sheet1!$C$2:$C$4</c:f>
              <c:numCache>
                <c:formatCode>General</c:formatCode>
                <c:ptCount val="3"/>
                <c:pt idx="0">
                  <c:v>1853</c:v>
                </c:pt>
                <c:pt idx="1">
                  <c:v>3649</c:v>
                </c:pt>
              </c:numCache>
            </c:numRef>
          </c:val>
          <c:smooth val="1"/>
          <c:extLst>
            <c:ext xmlns:c16="http://schemas.microsoft.com/office/drawing/2014/chart" uri="{C3380CC4-5D6E-409C-BE32-E72D297353CC}">
              <c16:uniqueId val="{00000001-7447-4A6C-84B6-55D9C8C76B30}"/>
            </c:ext>
          </c:extLst>
        </c:ser>
        <c:dLbls>
          <c:showLegendKey val="0"/>
          <c:showVal val="0"/>
          <c:showCatName val="0"/>
          <c:showSerName val="0"/>
          <c:showPercent val="0"/>
          <c:showBubbleSize val="0"/>
        </c:dLbls>
        <c:marker val="1"/>
        <c:smooth val="0"/>
        <c:axId val="-2068027336"/>
        <c:axId val="-2113994440"/>
      </c:lineChart>
      <c:catAx>
        <c:axId val="-2068027336"/>
        <c:scaling>
          <c:orientation val="minMax"/>
        </c:scaling>
        <c:delete val="0"/>
        <c:axPos val="b"/>
        <c:numFmt formatCode="General" sourceLinked="0"/>
        <c:majorTickMark val="out"/>
        <c:minorTickMark val="none"/>
        <c:tickLblPos val="nextTo"/>
        <c:txPr>
          <a:bodyPr/>
          <a:lstStyle/>
          <a:p>
            <a:pPr>
              <a:defRPr sz="850"/>
            </a:pPr>
            <a:endParaRPr lang="es-AR"/>
          </a:p>
        </c:txPr>
        <c:crossAx val="-2113994440"/>
        <c:crosses val="autoZero"/>
        <c:auto val="1"/>
        <c:lblAlgn val="ctr"/>
        <c:lblOffset val="100"/>
        <c:noMultiLvlLbl val="0"/>
      </c:catAx>
      <c:valAx>
        <c:axId val="-2113994440"/>
        <c:scaling>
          <c:orientation val="minMax"/>
          <c:min val="0"/>
        </c:scaling>
        <c:delete val="0"/>
        <c:axPos val="l"/>
        <c:numFmt formatCode="#,##0" sourceLinked="0"/>
        <c:majorTickMark val="out"/>
        <c:minorTickMark val="none"/>
        <c:tickLblPos val="nextTo"/>
        <c:txPr>
          <a:bodyPr/>
          <a:lstStyle/>
          <a:p>
            <a:pPr>
              <a:defRPr sz="800"/>
            </a:pPr>
            <a:endParaRPr lang="es-AR"/>
          </a:p>
        </c:txPr>
        <c:crossAx val="-2068027336"/>
        <c:crosses val="autoZero"/>
        <c:crossBetween val="between"/>
      </c:valAx>
    </c:plotArea>
    <c:legend>
      <c:legendPos val="b"/>
      <c:overlay val="0"/>
      <c:txPr>
        <a:bodyPr/>
        <a:lstStyle/>
        <a:p>
          <a:pPr>
            <a:defRPr sz="750"/>
          </a:pPr>
          <a:endParaRPr lang="es-AR"/>
        </a:p>
      </c:txPr>
    </c:legend>
    <c:plotVisOnly val="1"/>
    <c:dispBlanksAs val="gap"/>
    <c:showDLblsOverMax val="1"/>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Monthly total</c:v>
                </c:pt>
              </c:strCache>
            </c:strRef>
          </c:tx>
          <c:spPr>
            <a:solidFill>
              <a:srgbClr val="013EF5"/>
            </a:solidFill>
            <a:ln>
              <a:noFill/>
            </a:ln>
          </c:spPr>
          <c:cat>
            <c:strRef>
              <c:f>Sheet1!$A$2:$A$3</c:f>
              <c:strCache>
                <c:ptCount val="2"/>
                <c:pt idx="0">
                  <c:v>Aug · total</c:v>
                </c:pt>
                <c:pt idx="1">
                  <c:v>Sep · total</c:v>
                </c:pt>
              </c:strCache>
            </c:strRef>
          </c:cat>
          <c:val>
            <c:numRef>
              <c:f>Sheet1!$B$2:$B$3</c:f>
              <c:numCache>
                <c:formatCode>General</c:formatCode>
                <c:ptCount val="2"/>
                <c:pt idx="0">
                  <c:v>99</c:v>
                </c:pt>
                <c:pt idx="1">
                  <c:v>93</c:v>
                </c:pt>
              </c:numCache>
            </c:numRef>
          </c:val>
        </c:ser>
        <c:dLbls>
          <c:numFmt formatCode="0" sourceLinked="0"/>
          <c:txPr>
            <a:bodyPr/>
            <a:lstStyle/>
            <a:p>
              <a:pPr>
                <a:defRPr sz="1000" b="1">
                  <a:solidFill>
                    <a:srgbClr val="FFFFFF"/>
                  </a:solidFill>
                </a:defRPr>
              </a:pPr>
            </a:p>
          </c:txPr>
          <c:dLblPos val="inEnd"/>
          <c:showLegendKey val="0"/>
          <c:showVal val="1"/>
          <c:showCatName val="0"/>
          <c:showSerName val="0"/>
          <c:showPercent val="0"/>
          <c:showBubbleSize val="0"/>
          <c:showLeaderLines val="1"/>
        </c:dLbls>
        <c:axId val="-2068027336"/>
        <c:axId val="-2113994440"/>
      </c:barChart>
      <c:lineChart>
        <c:grouping val="standard"/>
        <c:varyColors val="0"/>
        <c:ser>
          <c:idx val="1"/>
          <c:order val="1"/>
          <c:tx>
            <c:strRef>
              <c:f>Sheet1!$C$1</c:f>
              <c:strCache>
                <c:ptCount val="1"/>
                <c:pt idx="0">
                  <c:v>Cumulative total</c:v>
                </c:pt>
              </c:strCache>
            </c:strRef>
          </c:tx>
          <c:spPr>
            <a:ln w="28575">
              <a:solidFill>
                <a:srgbClr val="2F7D32"/>
              </a:solidFill>
            </a:ln>
          </c:spPr>
          <c:marker>
            <c:symbol val="circle"/>
            <c:size val="6"/>
            <c:spPr>
              <a:solidFill>
                <a:srgbClr val="2F7D32"/>
              </a:solidFill>
            </c:spPr>
          </c:marker>
          <c:cat>
            <c:strRef>
              <c:f>Sheet1!$A$2:$A$3</c:f>
              <c:strCache>
                <c:ptCount val="2"/>
                <c:pt idx="0">
                  <c:v>Aug · total</c:v>
                </c:pt>
                <c:pt idx="1">
                  <c:v>Sep · total</c:v>
                </c:pt>
              </c:strCache>
            </c:strRef>
          </c:cat>
          <c:val>
            <c:numRef>
              <c:f>Sheet1!$C$2:$C$3</c:f>
              <c:numCache>
                <c:formatCode>General</c:formatCode>
                <c:ptCount val="2"/>
                <c:pt idx="0">
                  <c:v>99</c:v>
                </c:pt>
                <c:pt idx="1">
                  <c:v>192</c:v>
                </c:pt>
              </c:numCache>
            </c:numRef>
          </c:val>
        </c:ser>
        <c:dLbls>
          <c:numFmt formatCode="0" sourceLinked="0"/>
          <c:txPr>
            <a:bodyPr/>
            <a:lstStyle/>
            <a:p>
              <a:pPr>
                <a:defRPr sz="1000" b="1">
                  <a:solidFill>
                    <a:srgbClr val="2F7D32"/>
                  </a:solidFill>
                </a:defRPr>
              </a:pPr>
              <a:endParaRPr lang="en-US"/>
            </a:p>
          </c:txPr>
          <c:dLblPos val="t"/>
          <c:showLegendKey val="0"/>
          <c:showVal val="1"/>
          <c:showCatName val="0"/>
          <c:showSerName val="0"/>
        </c:dLbls>
        <c:marker val="1"/>
        <c:smooth val="0"/>
        <c:axId val="-2068027336"/>
        <c:axId val="-2113994440"/>
      </c:lineChart>
      <c:catAx>
        <c:axId val="-2068027336"/>
        <c:scaling>
          <c:orientation val="minMax"/>
        </c:scaling>
        <c:delete val="0"/>
        <c:axPos val="b"/>
        <c:majorTickMark val="out"/>
        <c:minorTickMark val="none"/>
        <c:tickLblPos val="nextTo"/>
        <c:txPr>
          <a:bodyPr/>
          <a:lstStyle/>
          <a:p>
            <a:pPr>
              <a:defRPr sz="800"/>
            </a:pPr>
          </a:p>
        </c:txPr>
        <c:crossAx val="-2113994440"/>
        <c:crosses val="autoZero"/>
        <c:auto val="1"/>
        <c:lblAlgn val="ctr"/>
        <c:lblOffset val="100"/>
        <c:noMultiLvlLbl val="0"/>
      </c:catAx>
      <c:valAx>
        <c:axId val="-2113994440"/>
        <c:scaling>
          <c:max val="250.0"/>
          <c:min val="0.0"/>
        </c:scaling>
        <c:delete val="0"/>
        <c:axPos val="l"/>
        <c:numFmt formatCode="0" sourceLinked="0"/>
        <c:majorTickMark val="out"/>
        <c:minorTickMark val="none"/>
        <c:tickLblPos val="nextTo"/>
        <c:txPr>
          <a:bodyPr/>
          <a:lstStyle/>
          <a:p>
            <a:pPr>
              <a:defRPr sz="800"/>
            </a:pPr>
          </a:p>
        </c:txPr>
        <c:crossAx val="-2068027336"/>
        <c:crosses val="autoZero"/>
        <c:majorUnit val="50.0"/>
      </c:valAx>
    </c:plotArea>
    <c:legend>
      <c:legendPos val="b"/>
      <c:overlay val="0"/>
      <c:txPr>
        <a:bodyPr/>
        <a:lstStyle/>
        <a:p>
          <a:pPr>
            <a:defRPr sz="700">
              <a:latin typeface="DejaVu Sans"/>
            </a:defRPr>
          </a:pPr>
        </a:p>
      </c:txPr>
    </c:legend>
    <c:dispBlanksAs val="gap"/>
  </c:chart>
  <c:txPr>
    <a:bodyPr/>
    <a:lstStyle/>
    <a:p>
      <a:pPr>
        <a:defRPr sz="800">
          <a:latin typeface="DejaVu Sans"/>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Monthly total</c:v>
                </c:pt>
              </c:strCache>
            </c:strRef>
          </c:tx>
          <c:spPr>
            <a:solidFill>
              <a:srgbClr val="013EF5"/>
            </a:solidFill>
            <a:ln>
              <a:noFill/>
            </a:ln>
          </c:spPr>
          <c:cat>
            <c:strRef>
              <c:f>Sheet1!$A$2:$A$3</c:f>
              <c:strCache>
                <c:ptCount val="2"/>
                <c:pt idx="0">
                  <c:v>Aug · total</c:v>
                </c:pt>
                <c:pt idx="1">
                  <c:v>Sep · total</c:v>
                </c:pt>
              </c:strCache>
            </c:strRef>
          </c:cat>
          <c:val>
            <c:numRef>
              <c:f>Sheet1!$B$2:$B$3</c:f>
              <c:numCache>
                <c:formatCode>General</c:formatCode>
                <c:ptCount val="2"/>
                <c:pt idx="0">
                  <c:v>695</c:v>
                </c:pt>
                <c:pt idx="1">
                  <c:v>2182</c:v>
                </c:pt>
              </c:numCache>
            </c:numRef>
          </c:val>
        </c:ser>
        <c:dLbls>
          <c:numFmt formatCode="0" sourceLinked="0"/>
          <c:txPr>
            <a:bodyPr/>
            <a:lstStyle/>
            <a:p>
              <a:pPr>
                <a:defRPr sz="1000" b="1">
                  <a:solidFill>
                    <a:srgbClr val="FFFFFF"/>
                  </a:solidFill>
                </a:defRPr>
              </a:pPr>
            </a:p>
          </c:txPr>
          <c:dLblPos val="inEnd"/>
          <c:showLegendKey val="0"/>
          <c:showVal val="1"/>
          <c:showCatName val="0"/>
          <c:showSerName val="0"/>
          <c:showPercent val="0"/>
          <c:showBubbleSize val="0"/>
          <c:showLeaderLines val="1"/>
        </c:dLbls>
        <c:axId val="-2068027336"/>
        <c:axId val="-2113994440"/>
      </c:barChart>
      <c:lineChart>
        <c:grouping val="standard"/>
        <c:varyColors val="0"/>
        <c:ser>
          <c:idx val="1"/>
          <c:order val="1"/>
          <c:tx>
            <c:strRef>
              <c:f>Sheet1!$C$1</c:f>
              <c:strCache>
                <c:ptCount val="1"/>
                <c:pt idx="0">
                  <c:v>Cumulative total</c:v>
                </c:pt>
              </c:strCache>
            </c:strRef>
          </c:tx>
          <c:spPr>
            <a:ln w="28575">
              <a:solidFill>
                <a:srgbClr val="2F7D32"/>
              </a:solidFill>
            </a:ln>
          </c:spPr>
          <c:marker>
            <c:symbol val="circle"/>
            <c:size val="6"/>
            <c:spPr>
              <a:solidFill>
                <a:srgbClr val="2F7D32"/>
              </a:solidFill>
            </c:spPr>
          </c:marker>
          <c:cat>
            <c:strRef>
              <c:f>Sheet1!$A$2:$A$3</c:f>
              <c:strCache>
                <c:ptCount val="2"/>
                <c:pt idx="0">
                  <c:v>Aug · total</c:v>
                </c:pt>
                <c:pt idx="1">
                  <c:v>Sep · total</c:v>
                </c:pt>
              </c:strCache>
            </c:strRef>
          </c:cat>
          <c:val>
            <c:numRef>
              <c:f>Sheet1!$C$2:$C$3</c:f>
              <c:numCache>
                <c:formatCode>General</c:formatCode>
                <c:ptCount val="2"/>
                <c:pt idx="0">
                  <c:v>695</c:v>
                </c:pt>
                <c:pt idx="1">
                  <c:v>2877</c:v>
                </c:pt>
              </c:numCache>
            </c:numRef>
          </c:val>
        </c:ser>
        <c:dLbls>
          <c:numFmt formatCode="0" sourceLinked="0"/>
          <c:txPr>
            <a:bodyPr/>
            <a:lstStyle/>
            <a:p>
              <a:pPr>
                <a:defRPr sz="1000" b="1">
                  <a:solidFill>
                    <a:srgbClr val="2F7D32"/>
                  </a:solidFill>
                </a:defRPr>
              </a:pPr>
              <a:endParaRPr lang="en-US"/>
            </a:p>
          </c:txPr>
          <c:dLblPos val="t"/>
          <c:showLegendKey val="0"/>
          <c:showVal val="1"/>
          <c:showCatName val="0"/>
          <c:showSerName val="0"/>
        </c:dLbls>
        <c:marker val="1"/>
        <c:smooth val="0"/>
        <c:axId val="-2068027336"/>
        <c:axId val="-2113994440"/>
      </c:lineChart>
      <c:catAx>
        <c:axId val="-2068027336"/>
        <c:scaling>
          <c:orientation val="minMax"/>
        </c:scaling>
        <c:delete val="0"/>
        <c:axPos val="b"/>
        <c:majorTickMark val="out"/>
        <c:minorTickMark val="none"/>
        <c:tickLblPos val="nextTo"/>
        <c:txPr>
          <a:bodyPr/>
          <a:lstStyle/>
          <a:p>
            <a:pPr>
              <a:defRPr sz="800"/>
            </a:pPr>
          </a:p>
        </c:txPr>
        <c:crossAx val="-2113994440"/>
        <c:crosses val="autoZero"/>
        <c:auto val="1"/>
        <c:lblAlgn val="ctr"/>
        <c:lblOffset val="100"/>
        <c:noMultiLvlLbl val="0"/>
      </c:catAx>
      <c:valAx>
        <c:axId val="-2113994440"/>
        <c:scaling>
          <c:max val="3500.0"/>
          <c:min val="0.0"/>
        </c:scaling>
        <c:delete val="0"/>
        <c:axPos val="l"/>
        <c:numFmt formatCode="0" sourceLinked="0"/>
        <c:majorTickMark val="out"/>
        <c:minorTickMark val="none"/>
        <c:tickLblPos val="nextTo"/>
        <c:txPr>
          <a:bodyPr/>
          <a:lstStyle/>
          <a:p>
            <a:pPr>
              <a:defRPr sz="800"/>
            </a:pPr>
          </a:p>
        </c:txPr>
        <c:crossAx val="-2068027336"/>
        <c:crosses val="autoZero"/>
        <c:majorUnit val="500.0"/>
      </c:valAx>
    </c:plotArea>
    <c:legend>
      <c:legendPos val="b"/>
      <c:overlay val="0"/>
      <c:txPr>
        <a:bodyPr/>
        <a:lstStyle/>
        <a:p>
          <a:pPr>
            <a:defRPr sz="700">
              <a:latin typeface="DejaVu Sans"/>
            </a:defRPr>
          </a:pPr>
        </a:p>
      </c:txPr>
    </c:legend>
    <c:dispBlanksAs val="gap"/>
  </c:chart>
  <c:txPr>
    <a:bodyPr/>
    <a:lstStyle/>
    <a:p>
      <a:pPr>
        <a:defRPr sz="800">
          <a:latin typeface="DejaVu Sans"/>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es-AR"/>
          </a:p>
        </p:txBody>
      </p:sp>
      <p:sp>
        <p:nvSpPr>
          <p:cNvPr id="3" name="Marcador de fecha 2"/>
          <p:cNvSpPr>
            <a:spLocks noGrp="1"/>
          </p:cNvSpPr>
          <p:nvPr>
            <p:ph type="dt" idx="1"/>
          </p:nvPr>
        </p:nvSpPr>
        <p:spPr>
          <a:xfrm>
            <a:off x="3884613" y="1"/>
            <a:ext cx="2971800" cy="458788"/>
          </a:xfrm>
          <a:prstGeom prst="rect">
            <a:avLst/>
          </a:prstGeom>
        </p:spPr>
        <p:txBody>
          <a:bodyPr vert="horz" lIns="91440" tIns="45720" rIns="91440" bIns="45720" rtlCol="0"/>
          <a:lstStyle>
            <a:lvl1pPr algn="r">
              <a:defRPr sz="1200"/>
            </a:lvl1pPr>
          </a:lstStyle>
          <a:p>
            <a:fld id="{66A27EAB-02EC-DF49-A3ED-D6B7405E2758}" type="datetimeFigureOut">
              <a:rPr lang="es-AR" smtClean="0"/>
              <a:t>26/10/2026</a:t>
            </a:fld>
            <a:endParaRPr lang="es-AR"/>
          </a:p>
        </p:txBody>
      </p:sp>
      <p:sp>
        <p:nvSpPr>
          <p:cNvPr id="4" name="Marcador de imagen de diapositiva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s-AR"/>
          </a:p>
        </p:txBody>
      </p:sp>
      <p:sp>
        <p:nvSpPr>
          <p:cNvPr id="5" name="Marcador de notas 4"/>
          <p:cNvSpPr>
            <a:spLocks noGrp="1"/>
          </p:cNvSpPr>
          <p:nvPr>
            <p:ph type="body" sz="quarter" idx="3"/>
          </p:nvPr>
        </p:nvSpPr>
        <p:spPr>
          <a:xfrm>
            <a:off x="685800" y="4400549"/>
            <a:ext cx="5486400" cy="3600451"/>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AR"/>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B5ED3D-3D81-8B44-9A44-D30D8C104DB9}" type="slidenum">
              <a:rPr lang="es-AR" smtClean="0"/>
              <a:t>‹Nº›</a:t>
            </a:fld>
            <a:endParaRPr lang="es-AR"/>
          </a:p>
        </p:txBody>
      </p:sp>
    </p:spTree>
    <p:extLst>
      <p:ext uri="{BB962C8B-B14F-4D97-AF65-F5344CB8AC3E}">
        <p14:creationId xmlns:p14="http://schemas.microsoft.com/office/powerpoint/2010/main" val="38571866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HSE INDICATORS - TALKING POINTS (cut-off Oct 27, 2026; Oct figures pending data load)</a:t>
            </a:r>
          </a:p>
          <a:p/>
          <a:p>
            <a:r>
              <a:t>DAFWCF - Lost-time case frequency. Lost-time cases (DAFWC) x 10^6 / man-hours worked (HHT). Target 0. Aug-Sep: 0.</a:t>
            </a:r>
          </a:p>
          <a:p>
            <a:r>
              <a:t>TRICF - Total recordable case frequency. (FAT + DAFWC + MTC + RWC) x 10^6 / HHT. Target 2.35 (range 2.35-3.00). Aug-Sep: 0.00, within target.</a:t>
            </a:r>
          </a:p>
          <a:p>
            <a:r>
              <a:t>TVCR - Total vehicle accident rate. Work-related vehicle accidents x 10^6 / km travelled. Target 0.79 (range 0.79-2.00). Aug-Sep: 0.00, within target.</a:t>
            </a:r>
          </a:p>
          <a:p>
            <a:r>
              <a:t>FAC - First aid cases. Reported for visibility, no target. Aug-Sep: 0.</a:t>
            </a:r>
          </a:p>
          <a:p>
            <a:r>
              <a:t>HHT - Man-hours worked (denominator of TRICF/DAFWCF). Km driven - denominator of TVCR. Total workers - headcount in the month.</a:t>
            </a:r>
          </a:p>
          <a:p/>
          <a:p>
            <a:r>
              <a:t>How to read the charts: bars = number of cases (left axis); green line = frequency (right axis); red dashed line = target (right axis). Frequency below the dashed line means the indicator is within target.</a:t>
            </a:r>
          </a:p>
          <a:p>
            <a:r>
              <a:t>Pyramid (cumulative since Aug-26): FAT / DAFWC (top), MTC / RWC, FAC, incidents, and safety observations at the base. A wide base with an empty top is the expected profile: many proactive observations, no injuries.</a:t>
            </a:r>
          </a:p>
          <a:p>
            <a:r>
              <a:t>Pending for Oct-26: all values marked in red must be loaded in the Compressor Plant and Pipeline monthly workbooks before issuing.</a:t>
            </a:r>
          </a:p>
          <a:p/>
          <a:p>
            <a:r>
              <a:t>ANTECEDENTES SIN FECHA (texto original trasladado por legibilidad):</a:t>
            </a:r>
          </a:p>
          <a:p>
            <a:r>
              <a:t>Road Traffic Accident Drill conducted on National Route N3.</a:t>
            </a:r>
          </a:p>
          <a:p>
            <a:r>
              <a:t>Work Programs implemented for the transportation of pipelines from the port to the construction site.</a:t>
            </a:r>
          </a:p>
          <a:p>
            <a:r>
              <a:t>No atribuir estos hechos a octubre sin confirmación de fecha y alcance.</a:t>
            </a:r>
          </a:p>
          <a:p/>
          <a:p>
            <a:r>
              <a:t>FORMATO: 3.00 se muestra como 3; 2.00 como 2; 0.00 como 0. 2.35 y 0.79 se conservan porque son valores fraccionarios, no ceros de formato. No cambian las metas ni los datos. Se mantiene pendiente aclarar los rangos 2.35–3 y 0.79–2 frente a las metas de línea 2.35 y 0.79. Los históricos agosto–septiembre no pasan a ser resultados de octubre. Guion: DAFWCF = casos con días perdidos × 10^6/HHT; TRICF = casos registrables × 10^6/HHT; TVCR = accidentes vehiculares laborales × 10^6/km. FAC es conteo de primeros auxilios. Consolidar sumando numeradores y exposición; no promediar tasas.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PROACTIVE ACTIONS - TALKING POINTS</a:t>
            </a:r>
          </a:p>
          <a:p>
            <a:r>
              <a:t>Management safety walks, safety campaigns and drills: bars = monthly total, line = cumulative since Aug-26. Drills target: 100% of those programmed.</a:t>
            </a:r>
          </a:p>
          <a:p>
            <a:r>
              <a:t>Observations (OCS): safe-behaviour observations recorded in the month. Training hours (HHS): safety training man-hours; the Training % vs HHT card shows HHS / HHT, target &gt;= 1.00%.</a:t>
            </a:r>
          </a:p>
          <a:p>
            <a:r>
              <a:t>Pending for Oct-26: October bars and the training % card are marked in red until the data is loaded.</a:t>
            </a:r>
          </a:p>
          <a:p/>
          <a:p>
            <a:r>
              <a:t>La nueva lámina de seguridad con espacios para fotos y novedades de octubre va inmediatamente después de esta lámina de barras. Los gráficos y sus valores no se actualizan. Simulacros: meta 100% de los programados exigibles al corte; el conteo por sí solo no demuestra cumplimiento. Capacitación: (HHS/HHT) ×100, meta de la fuente ≥1%. No se requiere carga de datos en esta fase temática.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REVISIÓN v02 — 27/10/2026. Se vuelve a la PPT original conservando sus gráficos y series. La v02 sustituye al borrador temático v01 como base vigente. El usuario confirma datos iguales y nuevas láminas de fotos/temas relevantes. Novedades pendientes de Leandro Doglio; no se recibieron fotografías reales. Fecha del comité conservada del original: 28/10/2026. No se ha emitido el informe.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afirmaciones sobre contratos regionales y contexto laboral son antecedentes de la fuente, no verificaciones nuevas. MODENA está citada como prestador, no como auditora. La utilización histórica no acredita por sí sola capacidad o disponibilidad de respuesta. Validar la información aplicable antes de emitir, sin inventar avances.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NUEVA LÁMINA solicitada por el usuario a partir del comentario del jefe. Es una plantilla: no hay fotos reales ni novedades nuevas recibidas. Sustituir los recuadros por fotografías auténticas de octubre y completar fecha, lugar y actividad. No generar imágenes que aparenten evidencia de obra. Las novedades están pendientes de Leandro Doglio. La aclaración vigente es temas relevantes y datos iguales, sin exigir actualización de cifras. Describir hecho confirmado, relevancia y próximo paso. En seguridad, RN3 y programas de transporte pueden servir como antecedentes solo si se confirma su fecha; en ambiente no se informaron actividades específicas. No convertir sugerencias en hechos ejecutados.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FUENTE: tercer pantallazo aportado por el usuario, no lámina presente en la PPTX inicial. Reconstrucción editable de sus datos, sin actualización de valores. Residuos agosto 99 kg, septiembre 93 kg, acumulado agosto 99 y septiembre 192 kg. Agua agosto 695 m³, septiembre 2182 m³, acumulado agosto 695 y septiembre 2877 m³. Recuperación 0,00% se muestra como 0%; disposición final/incineración 100,00% como 100%. La captura muestra agosto y septiembre; no hay dato de octubre, por eso no se añade cero ni una barra de octubre. Los números de los gráficos se muestran como enteros sin separadores para evitar confusión entre miles y decimales. No se aportó denominador, alcance ni meta aprobada para los porcentajes; conservar como valores históricos de la captura. Año contextual del informe: 2026, no expresado en el gráfico de la captura. Inmediatamente después se coloca la nueva lámina de novedades relevantes de ambiente.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NUEVA LÁMINA solicitada por el usuario a partir del comentario del jefe. Es una plantilla: no hay fotos reales ni novedades nuevas recibidas. Sustituir los recuadros por fotografías auténticas de octubre y completar fecha, lugar y actividad. No generar imágenes que aparenten evidencia de obra. Las novedades están pendientes de Leandro Doglio. La aclaración vigente es temas relevantes y datos iguales, sin exigir actualización de cifras. Describir hecho confirmado, relevancia y próximo paso. En seguridad, RN3 y programas de transporte pueden servir como antecedentes solo si se confirma su fecha; en ambiente no se informaron actividades específicas. No convertir sugerencias en hechos ejecutados.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257DCE62-483B-394E-B72D-EEF7967B97F0}" type="datetimeFigureOut">
              <a:rPr lang="es-AR" smtClean="0"/>
              <a:t>26/10/2026</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22331139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Editar los estilos de texto del patrón
Segundo nivel
Tercer nivel
Cuarto nivel
Quinto nivel</a:t>
            </a:r>
            <a:endParaRPr lang="en-US" dirty="0"/>
          </a:p>
        </p:txBody>
      </p:sp>
      <p:sp>
        <p:nvSpPr>
          <p:cNvPr id="4" name="Date Placeholder 3"/>
          <p:cNvSpPr>
            <a:spLocks noGrp="1"/>
          </p:cNvSpPr>
          <p:nvPr>
            <p:ph type="dt" sz="half" idx="10"/>
          </p:nvPr>
        </p:nvSpPr>
        <p:spPr/>
        <p:txBody>
          <a:bodyPr/>
          <a:lstStyle/>
          <a:p>
            <a:fld id="{257DCE62-483B-394E-B72D-EEF7967B97F0}" type="datetimeFigureOut">
              <a:rPr lang="es-AR" smtClean="0"/>
              <a:t>26/10/2026</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14703550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los estilos de texto del patrón
Segundo nivel
Tercer nivel
Cuarto nivel
Quinto nivel</a:t>
            </a:r>
            <a:endParaRPr lang="en-US" dirty="0"/>
          </a:p>
        </p:txBody>
      </p:sp>
      <p:sp>
        <p:nvSpPr>
          <p:cNvPr id="4" name="Date Placeholder 3"/>
          <p:cNvSpPr>
            <a:spLocks noGrp="1"/>
          </p:cNvSpPr>
          <p:nvPr>
            <p:ph type="dt" sz="half" idx="10"/>
          </p:nvPr>
        </p:nvSpPr>
        <p:spPr/>
        <p:txBody>
          <a:bodyPr/>
          <a:lstStyle/>
          <a:p>
            <a:fld id="{257DCE62-483B-394E-B72D-EEF7967B97F0}" type="datetimeFigureOut">
              <a:rPr lang="es-AR" smtClean="0"/>
              <a:t>26/10/2026</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11449834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s-ES"/>
              <a:t>Editar los estilos de texto del patrón
Segundo nivel
Tercer nivel
Cuarto nivel
Quinto nivel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s-ES"/>
              <a:t>Editar los estilos de texto del patrón
Segundo nivel
Tercer nivel
Cuarto nivel
Quinto nivel</a:t>
            </a:r>
            <a:endParaRPr lang="en-US" dirty="0"/>
          </a:p>
        </p:txBody>
      </p:sp>
      <p:sp>
        <p:nvSpPr>
          <p:cNvPr id="5" name="Date Placeholder 4"/>
          <p:cNvSpPr>
            <a:spLocks noGrp="1"/>
          </p:cNvSpPr>
          <p:nvPr>
            <p:ph type="dt" sz="half" idx="10"/>
          </p:nvPr>
        </p:nvSpPr>
        <p:spPr/>
        <p:txBody>
          <a:bodyPr/>
          <a:lstStyle/>
          <a:p>
            <a:fld id="{257DCE62-483B-394E-B72D-EEF7967B97F0}" type="datetimeFigureOut">
              <a:rPr lang="es-AR" smtClean="0"/>
              <a:t>26/10/2026</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41654065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
Segundo nivel
Tercer nivel
Cuarto nivel
Quinto nivel</a:t>
            </a:r>
            <a:endParaRPr lang="en-US" dirty="0"/>
          </a:p>
        </p:txBody>
      </p:sp>
      <p:sp>
        <p:nvSpPr>
          <p:cNvPr id="4" name="Content Placeholder 3"/>
          <p:cNvSpPr>
            <a:spLocks noGrp="1"/>
          </p:cNvSpPr>
          <p:nvPr>
            <p:ph sz="half" idx="2"/>
          </p:nvPr>
        </p:nvSpPr>
        <p:spPr>
          <a:xfrm>
            <a:off x="629842" y="2505075"/>
            <a:ext cx="3868340" cy="3684588"/>
          </a:xfrm>
        </p:spPr>
        <p:txBody>
          <a:bodyPr/>
          <a:lstStyle/>
          <a:p>
            <a:pPr lvl="0"/>
            <a:r>
              <a:rPr lang="es-ES"/>
              <a:t>Editar los estilos de texto del patrón
Segundo nivel
Tercer nivel
Cuarto nivel
Quinto nivel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
Segundo nivel
Tercer nivel
Cuarto nivel
Quinto nivel</a:t>
            </a:r>
            <a:endParaRPr lang="en-US" dirty="0"/>
          </a:p>
        </p:txBody>
      </p:sp>
      <p:sp>
        <p:nvSpPr>
          <p:cNvPr id="6" name="Content Placeholder 5"/>
          <p:cNvSpPr>
            <a:spLocks noGrp="1"/>
          </p:cNvSpPr>
          <p:nvPr>
            <p:ph sz="quarter" idx="4"/>
          </p:nvPr>
        </p:nvSpPr>
        <p:spPr>
          <a:xfrm>
            <a:off x="4629150" y="2505075"/>
            <a:ext cx="3887391" cy="3684588"/>
          </a:xfrm>
        </p:spPr>
        <p:txBody>
          <a:bodyPr/>
          <a:lstStyle/>
          <a:p>
            <a:pPr lvl="0"/>
            <a:r>
              <a:rPr lang="es-ES"/>
              <a:t>Editar los estilos de texto del patrón
Segundo nivel
Tercer nivel
Cuarto nivel
Quinto nivel</a:t>
            </a:r>
            <a:endParaRPr lang="en-US" dirty="0"/>
          </a:p>
        </p:txBody>
      </p:sp>
      <p:sp>
        <p:nvSpPr>
          <p:cNvPr id="7" name="Date Placeholder 6"/>
          <p:cNvSpPr>
            <a:spLocks noGrp="1"/>
          </p:cNvSpPr>
          <p:nvPr>
            <p:ph type="dt" sz="half" idx="10"/>
          </p:nvPr>
        </p:nvSpPr>
        <p:spPr/>
        <p:txBody>
          <a:bodyPr/>
          <a:lstStyle/>
          <a:p>
            <a:fld id="{257DCE62-483B-394E-B72D-EEF7967B97F0}" type="datetimeFigureOut">
              <a:rPr lang="es-AR" smtClean="0"/>
              <a:t>26/10/2026</a:t>
            </a:fld>
            <a:endParaRPr lang="es-AR"/>
          </a:p>
        </p:txBody>
      </p:sp>
      <p:sp>
        <p:nvSpPr>
          <p:cNvPr id="8" name="Footer Placeholder 7"/>
          <p:cNvSpPr>
            <a:spLocks noGrp="1"/>
          </p:cNvSpPr>
          <p:nvPr>
            <p:ph type="ftr" sz="quarter" idx="11"/>
          </p:nvPr>
        </p:nvSpPr>
        <p:spPr/>
        <p:txBody>
          <a:bodyPr/>
          <a:lstStyle/>
          <a:p>
            <a:endParaRPr lang="es-AR"/>
          </a:p>
        </p:txBody>
      </p:sp>
      <p:sp>
        <p:nvSpPr>
          <p:cNvPr id="9" name="Slide Number Placeholder 8"/>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29154791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257DCE62-483B-394E-B72D-EEF7967B97F0}" type="datetimeFigureOut">
              <a:rPr lang="es-AR" smtClean="0"/>
              <a:t>26/10/2026</a:t>
            </a:fld>
            <a:endParaRPr lang="es-AR"/>
          </a:p>
        </p:txBody>
      </p:sp>
      <p:sp>
        <p:nvSpPr>
          <p:cNvPr id="4" name="Footer Placeholder 3"/>
          <p:cNvSpPr>
            <a:spLocks noGrp="1"/>
          </p:cNvSpPr>
          <p:nvPr>
            <p:ph type="ftr" sz="quarter" idx="11"/>
          </p:nvPr>
        </p:nvSpPr>
        <p:spPr/>
        <p:txBody>
          <a:bodyPr/>
          <a:lstStyle/>
          <a:p>
            <a:endParaRPr lang="es-AR"/>
          </a:p>
        </p:txBody>
      </p:sp>
      <p:sp>
        <p:nvSpPr>
          <p:cNvPr id="5" name="Slide Number Placeholder 4"/>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1598212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57DCE62-483B-394E-B72D-EEF7967B97F0}" type="datetimeFigureOut">
              <a:rPr lang="es-AR" smtClean="0"/>
              <a:t>26/10/2026</a:t>
            </a:fld>
            <a:endParaRPr lang="es-AR"/>
          </a:p>
        </p:txBody>
      </p:sp>
      <p:sp>
        <p:nvSpPr>
          <p:cNvPr id="3" name="Footer Placeholder 2"/>
          <p:cNvSpPr>
            <a:spLocks noGrp="1"/>
          </p:cNvSpPr>
          <p:nvPr>
            <p:ph type="ftr" sz="quarter" idx="11"/>
          </p:nvPr>
        </p:nvSpPr>
        <p:spPr/>
        <p:txBody>
          <a:bodyPr/>
          <a:lstStyle/>
          <a:p>
            <a:endParaRPr lang="es-AR"/>
          </a:p>
        </p:txBody>
      </p:sp>
      <p:sp>
        <p:nvSpPr>
          <p:cNvPr id="4" name="Slide Number Placeholder 3"/>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37927895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los estilos de texto del patrón
Segundo nivel
Tercer nivel
Cuarto nivel
Quinto nivel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
Segundo nivel
Tercer nivel
Cuarto nivel
Quinto nivel</a:t>
            </a:r>
            <a:endParaRPr lang="en-US" dirty="0"/>
          </a:p>
        </p:txBody>
      </p:sp>
      <p:sp>
        <p:nvSpPr>
          <p:cNvPr id="5" name="Date Placeholder 4"/>
          <p:cNvSpPr>
            <a:spLocks noGrp="1"/>
          </p:cNvSpPr>
          <p:nvPr>
            <p:ph type="dt" sz="half" idx="10"/>
          </p:nvPr>
        </p:nvSpPr>
        <p:spPr/>
        <p:txBody>
          <a:bodyPr/>
          <a:lstStyle/>
          <a:p>
            <a:fld id="{257DCE62-483B-394E-B72D-EEF7967B97F0}" type="datetimeFigureOut">
              <a:rPr lang="es-AR" smtClean="0"/>
              <a:t>26/10/2026</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39738145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
Segundo nivel
Tercer nivel
Cuarto nivel
Quinto nivel</a:t>
            </a:r>
            <a:endParaRPr lang="en-US" dirty="0"/>
          </a:p>
        </p:txBody>
      </p:sp>
      <p:sp>
        <p:nvSpPr>
          <p:cNvPr id="5" name="Date Placeholder 4"/>
          <p:cNvSpPr>
            <a:spLocks noGrp="1"/>
          </p:cNvSpPr>
          <p:nvPr>
            <p:ph type="dt" sz="half" idx="10"/>
          </p:nvPr>
        </p:nvSpPr>
        <p:spPr/>
        <p:txBody>
          <a:bodyPr/>
          <a:lstStyle/>
          <a:p>
            <a:fld id="{257DCE62-483B-394E-B72D-EEF7967B97F0}" type="datetimeFigureOut">
              <a:rPr lang="es-AR" smtClean="0"/>
              <a:t>26/10/2026</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12364792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Editar los estilos de texto del patrón
Segundo nivel
Tercer nivel
Cuarto nivel
Quinto nivel</a:t>
            </a:r>
            <a:endParaRPr lang="en-US" dirty="0"/>
          </a:p>
        </p:txBody>
      </p:sp>
      <p:sp>
        <p:nvSpPr>
          <p:cNvPr id="4" name="Date Placeholder 3"/>
          <p:cNvSpPr>
            <a:spLocks noGrp="1"/>
          </p:cNvSpPr>
          <p:nvPr>
            <p:ph type="dt" sz="half" idx="10"/>
          </p:nvPr>
        </p:nvSpPr>
        <p:spPr/>
        <p:txBody>
          <a:bodyPr/>
          <a:lstStyle/>
          <a:p>
            <a:fld id="{257DCE62-483B-394E-B72D-EEF7967B97F0}" type="datetimeFigureOut">
              <a:rPr lang="es-AR" smtClean="0"/>
              <a:t>26/10/2026</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21697737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s-ES"/>
              <a:t>Editar los estilos de texto del patrón
Segundo nivel
Tercer nivel
Cuarto nivel
Quinto nivel</a:t>
            </a:r>
            <a:endParaRPr lang="en-US" dirty="0"/>
          </a:p>
        </p:txBody>
      </p:sp>
      <p:sp>
        <p:nvSpPr>
          <p:cNvPr id="4" name="Date Placeholder 3"/>
          <p:cNvSpPr>
            <a:spLocks noGrp="1"/>
          </p:cNvSpPr>
          <p:nvPr>
            <p:ph type="dt" sz="half" idx="10"/>
          </p:nvPr>
        </p:nvSpPr>
        <p:spPr/>
        <p:txBody>
          <a:bodyPr/>
          <a:lstStyle/>
          <a:p>
            <a:fld id="{257DCE62-483B-394E-B72D-EEF7967B97F0}" type="datetimeFigureOut">
              <a:rPr lang="es-AR" smtClean="0"/>
              <a:t>26/10/2026</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2117538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spTree>
      <p:nvGrpSpPr>
        <p:cNvPr id="1" name=""/>
        <p:cNvGrpSpPr/>
        <p:nvPr/>
      </p:nvGrpSpPr>
      <p:grpSpPr>
        <a:xfrm>
          <a:off x="0" y="0"/>
          <a:ext cx="0" cy="0"/>
          <a:chOff x="0" y="0"/>
          <a:chExt cx="0" cy="0"/>
        </a:xfrm>
      </p:grpSpPr>
    </p:spTree>
    <p:extLst>
      <p:ext uri="{BB962C8B-B14F-4D97-AF65-F5344CB8AC3E}">
        <p14:creationId xmlns:p14="http://schemas.microsoft.com/office/powerpoint/2010/main" val="317707939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s-ES"/>
              <a:t>Editar los estilos de texto del patrón
Segundo nivel
Tercer nivel
Cuarto nivel
Quinto nivel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7DCE62-483B-394E-B72D-EEF7967B97F0}" type="datetimeFigureOut">
              <a:rPr lang="es-AR" smtClean="0"/>
              <a:t>26/10/2026</a:t>
            </a:fld>
            <a:endParaRPr lang="es-AR"/>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A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EB75163-B7E5-054B-94F5-D3F78F046D59}" type="slidenum">
              <a:rPr lang="es-AR" smtClean="0"/>
              <a:t>‹Nº›</a:t>
            </a:fld>
            <a:endParaRPr lang="es-AR"/>
          </a:p>
        </p:txBody>
      </p:sp>
      <p:sp>
        <p:nvSpPr>
          <p:cNvPr id="9" name="CuadroTexto 8">
            <a:extLst>
              <a:ext uri="{FF2B5EF4-FFF2-40B4-BE49-F238E27FC236}">
                <a16:creationId xmlns:a16="http://schemas.microsoft.com/office/drawing/2014/main" id="{D9042BED-D80E-F505-2533-9CF540CC603D}"/>
              </a:ext>
            </a:extLst>
          </p:cNvPr>
          <p:cNvSpPr txBox="1"/>
          <p:nvPr userDrawn="1">
            <p:extLst>
              <p:ext uri="{1162E1C5-73C7-4A58-AE30-91384D911F3F}">
                <p184:classification xmlns:p184="http://schemas.microsoft.com/office/powerpoint/2018/4/main" val="hdr"/>
              </p:ext>
            </p:extLst>
          </p:nvPr>
        </p:nvSpPr>
        <p:spPr>
          <a:xfrm>
            <a:off x="7700963" y="63500"/>
            <a:ext cx="1404937" cy="152400"/>
          </a:xfrm>
          <a:prstGeom prst="rect">
            <a:avLst/>
          </a:prstGeom>
        </p:spPr>
        <p:txBody>
          <a:bodyPr horzOverflow="overflow" lIns="0" tIns="0" rIns="0" bIns="0">
            <a:spAutoFit/>
          </a:bodyPr>
          <a:lstStyle/>
          <a:p>
            <a:pPr algn="l"/>
            <a:r>
              <a:rPr lang="es-AR" sz="1000">
                <a:solidFill>
                  <a:srgbClr val="000000">
                    <a:alpha val="50000"/>
                  </a:srgbClr>
                </a:solidFill>
                <a:latin typeface="Aptos" panose="020B0004020202020204" pitchFamily="34" charset="0"/>
              </a:rPr>
              <a:t>Documento: YPF-Público</a:t>
            </a:r>
          </a:p>
        </p:txBody>
      </p:sp>
      <p:sp>
        <p:nvSpPr>
          <p:cNvPr id="10" name="CuadroTexto 9">
            <a:extLst>
              <a:ext uri="{FF2B5EF4-FFF2-40B4-BE49-F238E27FC236}">
                <a16:creationId xmlns:a16="http://schemas.microsoft.com/office/drawing/2014/main" id="{BB26E82E-B60C-0364-A377-5588458FF47A}"/>
              </a:ext>
            </a:extLst>
          </p:cNvPr>
          <p:cNvSpPr txBox="1"/>
          <p:nvPr userDrawn="1">
            <p:extLst>
              <p:ext uri="{1162E1C5-73C7-4A58-AE30-91384D911F3F}">
                <p184:classification xmlns:p184="http://schemas.microsoft.com/office/powerpoint/2018/4/main" val="ftr"/>
              </p:ext>
            </p:extLst>
          </p:nvPr>
        </p:nvSpPr>
        <p:spPr>
          <a:xfrm>
            <a:off x="7700963" y="6642100"/>
            <a:ext cx="1404937" cy="152400"/>
          </a:xfrm>
          <a:prstGeom prst="rect">
            <a:avLst/>
          </a:prstGeom>
        </p:spPr>
        <p:txBody>
          <a:bodyPr horzOverflow="overflow" lIns="0" tIns="0" rIns="0" bIns="0">
            <a:spAutoFit/>
          </a:bodyPr>
          <a:lstStyle/>
          <a:p>
            <a:pPr algn="l"/>
            <a:r>
              <a:rPr lang="es-AR" sz="1000">
                <a:solidFill>
                  <a:srgbClr val="000000">
                    <a:alpha val="50000"/>
                  </a:srgbClr>
                </a:solidFill>
                <a:latin typeface="Aptos" panose="020B0004020202020204" pitchFamily="34" charset="0"/>
              </a:rPr>
              <a:t>Documento: YPF-Público</a:t>
            </a:r>
          </a:p>
        </p:txBody>
      </p:sp>
    </p:spTree>
    <p:extLst>
      <p:ext uri="{BB962C8B-B14F-4D97-AF65-F5344CB8AC3E}">
        <p14:creationId xmlns:p14="http://schemas.microsoft.com/office/powerpoint/2010/main" val="3318153333"/>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emf"/><Relationship Id="rId5" Type="http://schemas.openxmlformats.org/officeDocument/2006/relationships/notesSlide" Target="../notesSlides/notesSlide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em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emf"/><Relationship Id="rId3" Type="http://schemas.openxmlformats.org/officeDocument/2006/relationships/chart" Target="../charts/chart1.xml"/><Relationship Id="rId4" Type="http://schemas.openxmlformats.org/officeDocument/2006/relationships/chart" Target="../charts/chart2.xml"/><Relationship Id="rId5" Type="http://schemas.openxmlformats.org/officeDocument/2006/relationships/image" Target="../media/image5.png"/><Relationship Id="rId6"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emf"/><Relationship Id="rId3" Type="http://schemas.openxmlformats.org/officeDocument/2006/relationships/chart" Target="../charts/chart3.xml"/><Relationship Id="rId4" Type="http://schemas.openxmlformats.org/officeDocument/2006/relationships/chart" Target="../charts/chart4.xml"/><Relationship Id="rId5" Type="http://schemas.openxmlformats.org/officeDocument/2006/relationships/chart" Target="../charts/chart5.xml"/><Relationship Id="rId6" Type="http://schemas.openxmlformats.org/officeDocument/2006/relationships/chart" Target="../charts/chart6.xml"/><Relationship Id="rId7" Type="http://schemas.openxmlformats.org/officeDocument/2006/relationships/chart" Target="../charts/chart7.xml"/><Relationship Id="rId8"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emf"/><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emf"/><Relationship Id="rId3" Type="http://schemas.openxmlformats.org/officeDocument/2006/relationships/image" Target="../media/image6.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emf"/><Relationship Id="rId3"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emf"/><Relationship Id="rId3" Type="http://schemas.openxmlformats.org/officeDocument/2006/relationships/chart" Target="../charts/chart8.xml"/><Relationship Id="rId4" Type="http://schemas.openxmlformats.org/officeDocument/2006/relationships/chart" Target="../charts/chart9.xml"/><Relationship Id="rId5"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emf"/><Relationship Id="rId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B77D12DC-A94E-1D48-830B-77CD72222BF6}"/>
              </a:ext>
            </a:extLst>
          </p:cNvPr>
          <p:cNvSpPr/>
          <p:nvPr/>
        </p:nvSpPr>
        <p:spPr>
          <a:xfrm rot="5400000">
            <a:off x="839581" y="-839587"/>
            <a:ext cx="7481455" cy="9160629"/>
          </a:xfrm>
          <a:prstGeom prst="rect">
            <a:avLst/>
          </a:prstGeom>
          <a:solidFill>
            <a:srgbClr val="3709E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rgbClr val="013EF5"/>
              </a:solidFill>
            </a:endParaRPr>
          </a:p>
        </p:txBody>
      </p:sp>
      <p:pic>
        <p:nvPicPr>
          <p:cNvPr id="4" name="Imagen 3">
            <a:extLst>
              <a:ext uri="{FF2B5EF4-FFF2-40B4-BE49-F238E27FC236}">
                <a16:creationId xmlns:a16="http://schemas.microsoft.com/office/drawing/2014/main" id="{B315D585-FE8E-EA4E-B4EC-ED87EC19A53D}"/>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rot="10800000">
            <a:off x="-6" y="5548744"/>
            <a:ext cx="5685912" cy="2015837"/>
          </a:xfrm>
          <a:prstGeom prst="rect">
            <a:avLst/>
          </a:prstGeom>
        </p:spPr>
      </p:pic>
      <p:pic>
        <p:nvPicPr>
          <p:cNvPr id="11" name="Imagen 10">
            <a:extLst>
              <a:ext uri="{FF2B5EF4-FFF2-40B4-BE49-F238E27FC236}">
                <a16:creationId xmlns:a16="http://schemas.microsoft.com/office/drawing/2014/main" id="{9E2FAC0C-4F42-9344-92EE-79D85E878C72}"/>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rot="10800000">
            <a:off x="5685904" y="5548744"/>
            <a:ext cx="3474717" cy="2015838"/>
          </a:xfrm>
          <a:prstGeom prst="rect">
            <a:avLst/>
          </a:prstGeom>
        </p:spPr>
      </p:pic>
      <p:sp>
        <p:nvSpPr>
          <p:cNvPr id="14" name="TextBox 7">
            <a:extLst>
              <a:ext uri="{FF2B5EF4-FFF2-40B4-BE49-F238E27FC236}">
                <a16:creationId xmlns:a16="http://schemas.microsoft.com/office/drawing/2014/main" id="{9566807F-83FD-1A4D-9424-886300E93201}"/>
              </a:ext>
            </a:extLst>
          </p:cNvPr>
          <p:cNvSpPr txBox="1"/>
          <p:nvPr/>
        </p:nvSpPr>
        <p:spPr>
          <a:xfrm>
            <a:off x="297100" y="472000"/>
            <a:ext cx="2905620" cy="230832"/>
          </a:xfrm>
          <a:prstGeom prst="rect">
            <a:avLst/>
          </a:prstGeom>
          <a:noFill/>
        </p:spPr>
        <p:txBody>
          <a:bodyPr wrap="square" rtlCol="0">
            <a:spAutoFit/>
          </a:bodyPr>
          <a:lstStyle/>
          <a:p>
            <a:r>
              <a:rPr lang="en-GB" sz="900" spc="100" noProof="0" dirty="0">
                <a:solidFill>
                  <a:schemeClr val="bg1"/>
                </a:solidFill>
                <a:latin typeface="Aptos Light" panose="020B0004020202020204" pitchFamily="34" charset="0"/>
                <a:cs typeface="Arial" panose="020B0604020202020204" pitchFamily="34" charset="0"/>
              </a:rPr>
              <a:t>OCTOBER 28</a:t>
            </a:r>
            <a:r>
              <a:rPr lang="en-GB" sz="900" spc="100" baseline="30000" noProof="0" dirty="0">
                <a:solidFill>
                  <a:schemeClr val="bg1"/>
                </a:solidFill>
                <a:latin typeface="Aptos Light" panose="020B0004020202020204" pitchFamily="34" charset="0"/>
                <a:cs typeface="Arial" panose="020B0604020202020204" pitchFamily="34" charset="0"/>
              </a:rPr>
              <a:t>TH</a:t>
            </a:r>
            <a:r>
              <a:rPr lang="en-GB" sz="900" spc="100" noProof="0" dirty="0">
                <a:solidFill>
                  <a:schemeClr val="bg1"/>
                </a:solidFill>
                <a:latin typeface="Aptos Light" panose="020B0004020202020204" pitchFamily="34" charset="0"/>
                <a:cs typeface="Arial" panose="020B0604020202020204" pitchFamily="34" charset="0"/>
              </a:rPr>
              <a:t>, 2026</a:t>
            </a:r>
            <a:endParaRPr lang="en-GB" sz="900" spc="100" baseline="30000" noProof="0" dirty="0">
              <a:solidFill>
                <a:schemeClr val="bg1"/>
              </a:solidFill>
              <a:latin typeface="Aptos Light" panose="020B0004020202020204" pitchFamily="34" charset="0"/>
              <a:cs typeface="Arial" panose="020B0604020202020204" pitchFamily="34" charset="0"/>
            </a:endParaRPr>
          </a:p>
        </p:txBody>
      </p:sp>
      <p:sp>
        <p:nvSpPr>
          <p:cNvPr id="18" name="CuadroTexto 17">
            <a:extLst>
              <a:ext uri="{FF2B5EF4-FFF2-40B4-BE49-F238E27FC236}">
                <a16:creationId xmlns:a16="http://schemas.microsoft.com/office/drawing/2014/main" id="{8F24F8F8-D8EA-2C4A-868E-5B58C994A5EB}"/>
              </a:ext>
            </a:extLst>
          </p:cNvPr>
          <p:cNvSpPr txBox="1"/>
          <p:nvPr/>
        </p:nvSpPr>
        <p:spPr>
          <a:xfrm>
            <a:off x="297099" y="3053186"/>
            <a:ext cx="8566451" cy="1864421"/>
          </a:xfrm>
          <a:prstGeom prst="rect">
            <a:avLst/>
          </a:prstGeom>
          <a:noFill/>
        </p:spPr>
        <p:txBody>
          <a:bodyPr wrap="square" rtlCol="0">
            <a:spAutoFit/>
          </a:bodyPr>
          <a:lstStyle/>
          <a:p>
            <a:pPr>
              <a:lnSpc>
                <a:spcPts val="7220"/>
              </a:lnSpc>
            </a:pPr>
            <a:r>
              <a:rPr lang="en-GB" sz="6600" b="1" noProof="0" dirty="0">
                <a:solidFill>
                  <a:schemeClr val="bg1"/>
                </a:solidFill>
                <a:latin typeface="Aptos ExtraBold" panose="020B0004020202020204" pitchFamily="34" charset="0"/>
              </a:rPr>
              <a:t>San Matías Pipeline</a:t>
            </a:r>
          </a:p>
          <a:p>
            <a:pPr>
              <a:lnSpc>
                <a:spcPts val="7220"/>
              </a:lnSpc>
            </a:pPr>
            <a:r>
              <a:rPr lang="en-GB" sz="4400" noProof="0" dirty="0">
                <a:solidFill>
                  <a:schemeClr val="bg1"/>
                </a:solidFill>
                <a:latin typeface="Aptos Light" panose="020B0004020202020204" pitchFamily="34" charset="0"/>
              </a:rPr>
              <a:t>Technical Committee Meeting N°5</a:t>
            </a:r>
          </a:p>
        </p:txBody>
      </p:sp>
      <p:pic>
        <p:nvPicPr>
          <p:cNvPr id="20" name="Imagen 19">
            <a:extLst>
              <a:ext uri="{FF2B5EF4-FFF2-40B4-BE49-F238E27FC236}">
                <a16:creationId xmlns:a16="http://schemas.microsoft.com/office/drawing/2014/main" id="{643506B7-9DDE-D244-806F-FC02701AA7B8}"/>
              </a:ext>
            </a:extLst>
          </p:cNvPr>
          <p:cNvPicPr>
            <a:picLocks noChangeAspect="1"/>
          </p:cNvPicPr>
          <p:nvPr/>
        </p:nvPicPr>
        <p:blipFill>
          <a:blip r:embed="rId4"/>
          <a:stretch>
            <a:fillRect/>
          </a:stretch>
        </p:blipFill>
        <p:spPr>
          <a:xfrm>
            <a:off x="8026903" y="244233"/>
            <a:ext cx="738436" cy="52053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ángulo 10">
            <a:extLst>
              <a:ext uri="{FF2B5EF4-FFF2-40B4-BE49-F238E27FC236}">
                <a16:creationId xmlns:a16="http://schemas.microsoft.com/office/drawing/2014/main" id="{0A8ADFC4-2BD6-A44C-AE82-EB0B4ECD404D}"/>
              </a:ext>
            </a:extLst>
          </p:cNvPr>
          <p:cNvSpPr/>
          <p:nvPr/>
        </p:nvSpPr>
        <p:spPr>
          <a:xfrm rot="5400000">
            <a:off x="3901637" y="1687949"/>
            <a:ext cx="1419099" cy="9222377"/>
          </a:xfrm>
          <a:prstGeom prst="rect">
            <a:avLst/>
          </a:prstGeom>
          <a:solidFill>
            <a:srgbClr val="3709E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rgbClr val="013EF5"/>
              </a:solidFill>
            </a:endParaRPr>
          </a:p>
        </p:txBody>
      </p:sp>
      <p:sp>
        <p:nvSpPr>
          <p:cNvPr id="17" name="CuadroTexto 16">
            <a:extLst>
              <a:ext uri="{FF2B5EF4-FFF2-40B4-BE49-F238E27FC236}">
                <a16:creationId xmlns:a16="http://schemas.microsoft.com/office/drawing/2014/main" id="{6AB0C042-B1E3-7643-903A-112B2E707573}"/>
              </a:ext>
            </a:extLst>
          </p:cNvPr>
          <p:cNvSpPr txBox="1"/>
          <p:nvPr/>
        </p:nvSpPr>
        <p:spPr>
          <a:xfrm rot="16200000">
            <a:off x="266486" y="5597901"/>
            <a:ext cx="8482228" cy="1015663"/>
          </a:xfrm>
          <a:prstGeom prst="rect">
            <a:avLst/>
          </a:prstGeom>
          <a:noFill/>
        </p:spPr>
        <p:txBody>
          <a:bodyPr wrap="square" rtlCol="0">
            <a:spAutoFit/>
          </a:bodyPr>
          <a:lstStyle/>
          <a:p>
            <a:pPr>
              <a:lnSpc>
                <a:spcPts val="7220"/>
              </a:lnSpc>
            </a:pPr>
            <a:r>
              <a:rPr lang="en-GB" sz="6000" noProof="0" dirty="0">
                <a:solidFill>
                  <a:schemeClr val="bg1"/>
                </a:solidFill>
                <a:latin typeface="Aptos Light" panose="020B0004020202020204" pitchFamily="34" charset="0"/>
              </a:rPr>
              <a:t>AGENDA</a:t>
            </a:r>
          </a:p>
        </p:txBody>
      </p:sp>
      <p:sp>
        <p:nvSpPr>
          <p:cNvPr id="18" name="CuadroTexto 17">
            <a:extLst>
              <a:ext uri="{FF2B5EF4-FFF2-40B4-BE49-F238E27FC236}">
                <a16:creationId xmlns:a16="http://schemas.microsoft.com/office/drawing/2014/main" id="{93E4F80C-4187-3944-BE79-A449AD251467}"/>
              </a:ext>
            </a:extLst>
          </p:cNvPr>
          <p:cNvSpPr txBox="1"/>
          <p:nvPr/>
        </p:nvSpPr>
        <p:spPr>
          <a:xfrm>
            <a:off x="1210199" y="714256"/>
            <a:ext cx="8305276" cy="898516"/>
          </a:xfrm>
          <a:prstGeom prst="rect">
            <a:avLst/>
          </a:prstGeom>
          <a:noFill/>
        </p:spPr>
        <p:txBody>
          <a:bodyPr wrap="square" rtlCol="0">
            <a:spAutoFit/>
          </a:bodyPr>
          <a:lstStyle>
            <a:defPPr>
              <a:defRPr lang="en-US"/>
            </a:defPPr>
            <a:lvl1pPr>
              <a:lnSpc>
                <a:spcPts val="7220"/>
              </a:lnSpc>
              <a:defRPr sz="3200">
                <a:solidFill>
                  <a:srgbClr val="013EF5"/>
                </a:solidFill>
                <a:latin typeface="Aptos Light" panose="020B0004020202020204" pitchFamily="34" charset="0"/>
              </a:defRPr>
            </a:lvl1pPr>
          </a:lstStyle>
          <a:p>
            <a:r>
              <a:rPr lang="en-GB" noProof="0" dirty="0"/>
              <a:t>1 &gt; DEDICATED GAS PIPELINE UPDATE </a:t>
            </a:r>
          </a:p>
        </p:txBody>
      </p:sp>
      <p:sp>
        <p:nvSpPr>
          <p:cNvPr id="19" name="CuadroTexto 18">
            <a:extLst>
              <a:ext uri="{FF2B5EF4-FFF2-40B4-BE49-F238E27FC236}">
                <a16:creationId xmlns:a16="http://schemas.microsoft.com/office/drawing/2014/main" id="{81CB6108-5EE0-F548-B2F0-8272F7375575}"/>
              </a:ext>
            </a:extLst>
          </p:cNvPr>
          <p:cNvSpPr txBox="1"/>
          <p:nvPr/>
        </p:nvSpPr>
        <p:spPr>
          <a:xfrm>
            <a:off x="1210200" y="2889672"/>
            <a:ext cx="9044868" cy="926857"/>
          </a:xfrm>
          <a:prstGeom prst="rect">
            <a:avLst/>
          </a:prstGeom>
          <a:noFill/>
        </p:spPr>
        <p:txBody>
          <a:bodyPr wrap="square" rtlCol="0">
            <a:spAutoFit/>
          </a:bodyPr>
          <a:lstStyle/>
          <a:p>
            <a:pPr>
              <a:lnSpc>
                <a:spcPts val="7220"/>
              </a:lnSpc>
            </a:pPr>
            <a:r>
              <a:rPr lang="en-GB" sz="3200" noProof="0" dirty="0">
                <a:solidFill>
                  <a:srgbClr val="013EF5"/>
                </a:solidFill>
                <a:latin typeface="Aptos Light" panose="020B0004020202020204" pitchFamily="34" charset="0"/>
              </a:rPr>
              <a:t>2 &gt; PERMITS</a:t>
            </a:r>
          </a:p>
        </p:txBody>
      </p:sp>
      <p:sp>
        <p:nvSpPr>
          <p:cNvPr id="24" name="CuadroTexto 23">
            <a:extLst>
              <a:ext uri="{FF2B5EF4-FFF2-40B4-BE49-F238E27FC236}">
                <a16:creationId xmlns:a16="http://schemas.microsoft.com/office/drawing/2014/main" id="{CE1B56DB-D606-1C4D-8705-3878D31CCD3C}"/>
              </a:ext>
            </a:extLst>
          </p:cNvPr>
          <p:cNvSpPr txBox="1"/>
          <p:nvPr/>
        </p:nvSpPr>
        <p:spPr>
          <a:xfrm>
            <a:off x="2294470" y="1612772"/>
            <a:ext cx="4305515" cy="1508105"/>
          </a:xfrm>
          <a:prstGeom prst="rect">
            <a:avLst/>
          </a:prstGeom>
          <a:noFill/>
        </p:spPr>
        <p:txBody>
          <a:bodyPr wrap="square" rtlCol="0">
            <a:spAutoFit/>
          </a:bodyPr>
          <a:lstStyle/>
          <a:p>
            <a:pPr marL="0" lvl="1">
              <a:buClr>
                <a:srgbClr val="0D49F1"/>
              </a:buClr>
            </a:pPr>
            <a:r>
              <a:rPr lang="en-GB" sz="2000" noProof="0" dirty="0">
                <a:solidFill>
                  <a:srgbClr val="013EF5"/>
                </a:solidFill>
                <a:latin typeface="Aptos" panose="020B0004020202020204" pitchFamily="34" charset="0"/>
              </a:rPr>
              <a:t>1.1 &gt; </a:t>
            </a:r>
            <a:r>
              <a:rPr lang="en-GB" sz="2000" noProof="0" dirty="0">
                <a:latin typeface="Aptos" panose="020B0004020202020204" pitchFamily="34" charset="0"/>
              </a:rPr>
              <a:t>HSE Indicators</a:t>
            </a:r>
          </a:p>
          <a:p>
            <a:pPr marL="0" lvl="1">
              <a:buClr>
                <a:srgbClr val="0D49F1"/>
              </a:buClr>
            </a:pPr>
            <a:r>
              <a:rPr lang="en-GB" sz="2000" dirty="0">
                <a:solidFill>
                  <a:srgbClr val="013EF5"/>
                </a:solidFill>
                <a:latin typeface="Aptos" panose="020B0004020202020204" pitchFamily="34" charset="0"/>
              </a:rPr>
              <a:t>1.2 &gt; </a:t>
            </a:r>
            <a:r>
              <a:rPr lang="en-GB" sz="2000" noProof="0" dirty="0">
                <a:latin typeface="Aptos" panose="020B0004020202020204" pitchFamily="34" charset="0"/>
              </a:rPr>
              <a:t>Schedule</a:t>
            </a:r>
          </a:p>
          <a:p>
            <a:pPr marL="0" lvl="1">
              <a:buClr>
                <a:srgbClr val="0D49F1"/>
              </a:buClr>
            </a:pPr>
            <a:r>
              <a:rPr lang="en-GB" sz="2000" dirty="0">
                <a:solidFill>
                  <a:srgbClr val="013EF5"/>
                </a:solidFill>
                <a:latin typeface="Aptos" panose="020B0004020202020204" pitchFamily="34" charset="0"/>
              </a:rPr>
              <a:t>1.3 &gt; </a:t>
            </a:r>
            <a:r>
              <a:rPr lang="en-GB" sz="2000" dirty="0">
                <a:latin typeface="Aptos" panose="020B0004020202020204" pitchFamily="34" charset="0"/>
              </a:rPr>
              <a:t>Project’s Key Milestones</a:t>
            </a:r>
            <a:endParaRPr lang="en-GB" sz="2000" noProof="0" dirty="0">
              <a:latin typeface="Aptos" panose="020B0004020202020204" pitchFamily="34" charset="0"/>
            </a:endParaRPr>
          </a:p>
          <a:p>
            <a:pPr marL="0" lvl="1">
              <a:buClr>
                <a:srgbClr val="0D49F1"/>
              </a:buClr>
            </a:pPr>
            <a:r>
              <a:rPr lang="en-GB" sz="2000" dirty="0">
                <a:solidFill>
                  <a:srgbClr val="013EF5"/>
                </a:solidFill>
                <a:latin typeface="Aptos" panose="020B0004020202020204" pitchFamily="34" charset="0"/>
              </a:rPr>
              <a:t>1.4 &gt; </a:t>
            </a:r>
            <a:r>
              <a:rPr lang="en-GB" sz="2000" dirty="0">
                <a:latin typeface="Aptos" panose="020B0004020202020204" pitchFamily="34" charset="0"/>
              </a:rPr>
              <a:t>Project Progress</a:t>
            </a:r>
            <a:r>
              <a:rPr lang="en-GB" sz="2000" dirty="0">
                <a:solidFill>
                  <a:srgbClr val="013EF5"/>
                </a:solidFill>
                <a:latin typeface="Aptos" panose="020B0004020202020204" pitchFamily="34" charset="0"/>
              </a:rPr>
              <a:t>	</a:t>
            </a:r>
            <a:r>
              <a:rPr lang="en-GB" sz="3200" noProof="0" dirty="0">
                <a:solidFill>
                  <a:srgbClr val="013EF5"/>
                </a:solidFill>
                <a:latin typeface="Aptos Light" panose="020B0004020202020204" pitchFamily="34" charset="0"/>
              </a:rPr>
              <a:t> </a:t>
            </a:r>
          </a:p>
        </p:txBody>
      </p:sp>
      <p:sp>
        <p:nvSpPr>
          <p:cNvPr id="29" name="CuadroTexto 28">
            <a:extLst>
              <a:ext uri="{FF2B5EF4-FFF2-40B4-BE49-F238E27FC236}">
                <a16:creationId xmlns:a16="http://schemas.microsoft.com/office/drawing/2014/main" id="{4BE374E7-DFC7-F04D-9802-7DFCBBB3972E}"/>
              </a:ext>
            </a:extLst>
          </p:cNvPr>
          <p:cNvSpPr txBox="1"/>
          <p:nvPr/>
        </p:nvSpPr>
        <p:spPr>
          <a:xfrm>
            <a:off x="266485" y="5605269"/>
            <a:ext cx="4806915" cy="923330"/>
          </a:xfrm>
          <a:prstGeom prst="rect">
            <a:avLst/>
          </a:prstGeom>
          <a:noFill/>
        </p:spPr>
        <p:txBody>
          <a:bodyPr wrap="square" rtlCol="0">
            <a:spAutoFit/>
          </a:bodyPr>
          <a:lstStyle/>
          <a:p>
            <a:r>
              <a:rPr lang="en-GB" sz="5200" b="1" noProof="0" dirty="0">
                <a:solidFill>
                  <a:schemeClr val="bg1"/>
                </a:solidFill>
                <a:latin typeface="Aptos ExtraBold" panose="020B0004020202020204" pitchFamily="34" charset="0"/>
              </a:rPr>
              <a:t>Agenda</a:t>
            </a:r>
          </a:p>
        </p:txBody>
      </p:sp>
      <p:pic>
        <p:nvPicPr>
          <p:cNvPr id="5" name="Imagen 4">
            <a:extLst>
              <a:ext uri="{FF2B5EF4-FFF2-40B4-BE49-F238E27FC236}">
                <a16:creationId xmlns:a16="http://schemas.microsoft.com/office/drawing/2014/main" id="{B994889B-C90B-879D-BF18-244A03872AF0}"/>
              </a:ext>
            </a:extLst>
          </p:cNvPr>
          <p:cNvPicPr>
            <a:picLocks noChangeAspect="1"/>
          </p:cNvPicPr>
          <p:nvPr/>
        </p:nvPicPr>
        <p:blipFill rotWithShape="1">
          <a:blip r:embed="rId2"/>
          <a:srcRect t="-1" r="54800" b="49955"/>
          <a:stretch/>
        </p:blipFill>
        <p:spPr>
          <a:xfrm>
            <a:off x="8549908" y="117682"/>
            <a:ext cx="274715" cy="232529"/>
          </a:xfrm>
          <a:prstGeom prst="rect">
            <a:avLst/>
          </a:prstGeom>
        </p:spPr>
      </p:pic>
      <p:sp>
        <p:nvSpPr>
          <p:cNvPr id="6" name="CuadroTexto 5">
            <a:extLst>
              <a:ext uri="{FF2B5EF4-FFF2-40B4-BE49-F238E27FC236}">
                <a16:creationId xmlns:a16="http://schemas.microsoft.com/office/drawing/2014/main" id="{7D2B2C82-6356-8D62-DF13-C7AEF8CCC456}"/>
              </a:ext>
            </a:extLst>
          </p:cNvPr>
          <p:cNvSpPr txBox="1"/>
          <p:nvPr/>
        </p:nvSpPr>
        <p:spPr>
          <a:xfrm>
            <a:off x="8231453" y="321314"/>
            <a:ext cx="1151431" cy="215444"/>
          </a:xfrm>
          <a:prstGeom prst="rect">
            <a:avLst/>
          </a:prstGeom>
          <a:noFill/>
        </p:spPr>
        <p:txBody>
          <a:bodyPr wrap="square" rtlCol="0">
            <a:spAutoFit/>
          </a:bodyPr>
          <a:lstStyle/>
          <a:p>
            <a:r>
              <a:rPr lang="en-GB" sz="800" spc="100" noProof="0" dirty="0">
                <a:solidFill>
                  <a:srgbClr val="FF0000"/>
                </a:solidFill>
                <a:latin typeface="Aptos Display" panose="020B0004020202020204" pitchFamily="34" charset="0"/>
              </a:rPr>
              <a:t>CONFIDENTIAL</a:t>
            </a:r>
          </a:p>
        </p:txBody>
      </p:sp>
      <p:sp>
        <p:nvSpPr>
          <p:cNvPr id="2" name="CuadroTexto 1">
            <a:extLst>
              <a:ext uri="{FF2B5EF4-FFF2-40B4-BE49-F238E27FC236}">
                <a16:creationId xmlns:a16="http://schemas.microsoft.com/office/drawing/2014/main" id="{ED308EA5-F80F-B97B-08A6-F3C0C498FBA6}"/>
              </a:ext>
            </a:extLst>
          </p:cNvPr>
          <p:cNvSpPr txBox="1"/>
          <p:nvPr/>
        </p:nvSpPr>
        <p:spPr>
          <a:xfrm>
            <a:off x="1210200" y="3414431"/>
            <a:ext cx="9044868" cy="926857"/>
          </a:xfrm>
          <a:prstGeom prst="rect">
            <a:avLst/>
          </a:prstGeom>
          <a:noFill/>
        </p:spPr>
        <p:txBody>
          <a:bodyPr wrap="square" rtlCol="0">
            <a:spAutoFit/>
          </a:bodyPr>
          <a:lstStyle/>
          <a:p>
            <a:pPr>
              <a:lnSpc>
                <a:spcPts val="7220"/>
              </a:lnSpc>
            </a:pPr>
            <a:r>
              <a:rPr lang="en-GB" sz="3200" noProof="0" dirty="0">
                <a:solidFill>
                  <a:srgbClr val="013EF5"/>
                </a:solidFill>
                <a:latin typeface="Aptos Light" panose="020B0004020202020204" pitchFamily="34" charset="0"/>
              </a:rPr>
              <a:t>3 &gt; HELICOPTER SERVICE (</a:t>
            </a:r>
            <a:r>
              <a:rPr lang="en-GB" sz="3200" dirty="0">
                <a:solidFill>
                  <a:srgbClr val="013EF5"/>
                </a:solidFill>
                <a:latin typeface="Aptos Light" panose="020B0004020202020204" pitchFamily="34" charset="0"/>
              </a:rPr>
              <a:t>Update</a:t>
            </a:r>
            <a:r>
              <a:rPr lang="en-GB" sz="3200" noProof="0" dirty="0">
                <a:solidFill>
                  <a:srgbClr val="013EF5"/>
                </a:solidFill>
                <a:latin typeface="Aptos Light" panose="020B0004020202020204" pitchFamily="34" charset="0"/>
              </a:rPr>
              <a:t>)</a:t>
            </a:r>
          </a:p>
        </p:txBody>
      </p:sp>
      <p:sp>
        <p:nvSpPr>
          <p:cNvPr id="30" name="TextBox 29"/>
          <p:cNvSpPr txBox="1"/>
          <p:nvPr/>
        </p:nvSpPr>
        <p:spPr>
          <a:xfrm>
            <a:off x="3474720" y="6601968"/>
            <a:ext cx="4389120" cy="155448"/>
          </a:xfrm>
          <a:prstGeom prst="rect">
            <a:avLst/>
          </a:prstGeom>
          <a:noFill/>
        </p:spPr>
        <p:txBody>
          <a:bodyPr wrap="square" lIns="18288" rIns="18288" tIns="0" bIns="0">
            <a:spAutoFit/>
          </a:bodyPr>
          <a:lstStyle/>
          <a:p>
            <a:pPr>
              <a:spcAft>
                <a:spcPts val="500"/>
              </a:spcAft>
              <a:defRPr sz="650" b="0">
                <a:solidFill>
                  <a:srgbClr val="68717D"/>
                </a:solidFill>
                <a:latin typeface="DejaVu Sans"/>
              </a:defRPr>
            </a:pPr>
            <a:r>
              <a:t>WORKING DRAFT · October topics pending</a:t>
            </a:r>
          </a:p>
        </p:txBody>
      </p:sp>
      <p:sp>
        <p:nvSpPr>
          <p:cNvPr id="31" name="TextBox 30"/>
          <p:cNvSpPr txBox="1"/>
          <p:nvPr/>
        </p:nvSpPr>
        <p:spPr>
          <a:xfrm>
            <a:off x="8595360" y="6556248"/>
            <a:ext cx="274320" cy="201168"/>
          </a:xfrm>
          <a:prstGeom prst="rect">
            <a:avLst/>
          </a:prstGeom>
          <a:noFill/>
        </p:spPr>
        <p:txBody>
          <a:bodyPr wrap="square" lIns="18288" rIns="18288" tIns="0" bIns="0">
            <a:spAutoFit/>
          </a:bodyPr>
          <a:lstStyle/>
          <a:p>
            <a:pPr algn="r">
              <a:spcAft>
                <a:spcPts val="500"/>
              </a:spcAft>
              <a:defRPr sz="800" b="0">
                <a:solidFill>
                  <a:srgbClr val="68717D"/>
                </a:solidFill>
                <a:latin typeface="DejaVu Sans"/>
              </a:defRPr>
            </a:pPr>
            <a:r>
              <a:t>2</a:t>
            </a:r>
          </a:p>
        </p:txBody>
      </p:sp>
    </p:spTree>
    <p:extLst>
      <p:ext uri="{BB962C8B-B14F-4D97-AF65-F5344CB8AC3E}">
        <p14:creationId xmlns:p14="http://schemas.microsoft.com/office/powerpoint/2010/main" val="14294316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A71B41-9D7A-3C2A-C9D8-0DBFB1207DB8}"/>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3012ED27-D616-13ED-A16A-D47D2DDFDE0B}"/>
              </a:ext>
            </a:extLst>
          </p:cNvPr>
          <p:cNvSpPr/>
          <p:nvPr/>
        </p:nvSpPr>
        <p:spPr>
          <a:xfrm>
            <a:off x="0" y="0"/>
            <a:ext cx="9144000" cy="7065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9" name="Título 1">
            <a:extLst>
              <a:ext uri="{FF2B5EF4-FFF2-40B4-BE49-F238E27FC236}">
                <a16:creationId xmlns:a16="http://schemas.microsoft.com/office/drawing/2014/main" id="{D5BA9931-EC90-D556-037A-524AD3CCAF25}"/>
              </a:ext>
            </a:extLst>
          </p:cNvPr>
          <p:cNvSpPr txBox="1">
            <a:spLocks/>
          </p:cNvSpPr>
          <p:nvPr/>
        </p:nvSpPr>
        <p:spPr>
          <a:xfrm>
            <a:off x="179509" y="142504"/>
            <a:ext cx="7364291" cy="79006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1800" b="1" noProof="0" dirty="0">
                <a:solidFill>
                  <a:srgbClr val="013EF5"/>
                </a:solidFill>
                <a:latin typeface="Aptos" panose="020B0004020202020204" pitchFamily="34" charset="0"/>
              </a:rPr>
              <a:t>1.</a:t>
            </a:r>
            <a:r>
              <a:rPr lang="en-GB" sz="1800" b="1" dirty="0">
                <a:solidFill>
                  <a:srgbClr val="013EF5"/>
                </a:solidFill>
                <a:latin typeface="Aptos" panose="020B0004020202020204" pitchFamily="34" charset="0"/>
              </a:rPr>
              <a:t>1</a:t>
            </a:r>
            <a:r>
              <a:rPr lang="en-GB" sz="1800" b="1" spc="100" noProof="0" dirty="0">
                <a:solidFill>
                  <a:srgbClr val="013EF5"/>
                </a:solidFill>
                <a:latin typeface="Aptos" panose="020B0004020202020204" pitchFamily="34" charset="0"/>
              </a:rPr>
              <a:t> &gt; DEDICATED GAS PIPELINE UPDATE </a:t>
            </a:r>
            <a:r>
              <a:rPr lang="en-GB" sz="1800" spc="100" noProof="0" dirty="0">
                <a:solidFill>
                  <a:srgbClr val="013EF5"/>
                </a:solidFill>
                <a:latin typeface="Aptos Light" panose="020B0004020202020204" pitchFamily="34" charset="0"/>
              </a:rPr>
              <a:t>&gt; HSE Indicators</a:t>
            </a:r>
          </a:p>
          <a:p>
            <a:pPr algn="l"/>
            <a:endParaRPr lang="en-GB" sz="2400" b="1" noProof="0" dirty="0">
              <a:solidFill>
                <a:srgbClr val="789AF8"/>
              </a:solidFill>
              <a:latin typeface="Calibri" pitchFamily="34" charset="0"/>
            </a:endParaRPr>
          </a:p>
        </p:txBody>
      </p:sp>
      <p:pic>
        <p:nvPicPr>
          <p:cNvPr id="11" name="Imagen 10">
            <a:extLst>
              <a:ext uri="{FF2B5EF4-FFF2-40B4-BE49-F238E27FC236}">
                <a16:creationId xmlns:a16="http://schemas.microsoft.com/office/drawing/2014/main" id="{8A05AE7A-7C8D-80CF-214B-A6C328DC4B90}"/>
              </a:ext>
            </a:extLst>
          </p:cNvPr>
          <p:cNvPicPr>
            <a:picLocks noChangeAspect="1"/>
          </p:cNvPicPr>
          <p:nvPr/>
        </p:nvPicPr>
        <p:blipFill rotWithShape="1">
          <a:blip r:embed="rId2"/>
          <a:srcRect t="-1" r="54800" b="49955"/>
          <a:stretch/>
        </p:blipFill>
        <p:spPr>
          <a:xfrm>
            <a:off x="8549908" y="117682"/>
            <a:ext cx="274715" cy="232529"/>
          </a:xfrm>
          <a:prstGeom prst="rect">
            <a:avLst/>
          </a:prstGeom>
        </p:spPr>
      </p:pic>
      <p:sp>
        <p:nvSpPr>
          <p:cNvPr id="12" name="CuadroTexto 11">
            <a:extLst>
              <a:ext uri="{FF2B5EF4-FFF2-40B4-BE49-F238E27FC236}">
                <a16:creationId xmlns:a16="http://schemas.microsoft.com/office/drawing/2014/main" id="{C72DCA57-5DD6-4F16-3B2C-1623E21647ED}"/>
              </a:ext>
            </a:extLst>
          </p:cNvPr>
          <p:cNvSpPr txBox="1"/>
          <p:nvPr/>
        </p:nvSpPr>
        <p:spPr>
          <a:xfrm>
            <a:off x="8231453" y="321314"/>
            <a:ext cx="1151431" cy="215444"/>
          </a:xfrm>
          <a:prstGeom prst="rect">
            <a:avLst/>
          </a:prstGeom>
          <a:noFill/>
        </p:spPr>
        <p:txBody>
          <a:bodyPr wrap="square" rtlCol="0">
            <a:spAutoFit/>
          </a:bodyPr>
          <a:lstStyle/>
          <a:p>
            <a:r>
              <a:rPr lang="en-GB" sz="800" spc="100" noProof="0" dirty="0">
                <a:solidFill>
                  <a:srgbClr val="FF0000"/>
                </a:solidFill>
                <a:latin typeface="Aptos Display" panose="020B0004020202020204" pitchFamily="34" charset="0"/>
              </a:rPr>
              <a:t>CONFIDENTIAL</a:t>
            </a:r>
          </a:p>
        </p:txBody>
      </p:sp>
      <p:sp>
        <p:nvSpPr>
          <p:cNvPr id="308" name="TextBox 12">
            <a:extLst>
              <a:ext uri="{FF2B5EF4-FFF2-40B4-BE49-F238E27FC236}">
                <a16:creationId xmlns:a16="http://schemas.microsoft.com/office/drawing/2014/main" id="{432B1FAB-4F6A-7812-5181-6D4E2E0BF37A}"/>
              </a:ext>
            </a:extLst>
          </p:cNvPr>
          <p:cNvSpPr txBox="1"/>
          <p:nvPr/>
        </p:nvSpPr>
        <p:spPr>
          <a:xfrm>
            <a:off x="391705" y="851445"/>
            <a:ext cx="8595360" cy="228600"/>
          </a:xfrm>
          <a:prstGeom prst="rect">
            <a:avLst/>
          </a:prstGeom>
          <a:noFill/>
        </p:spPr>
        <p:txBody>
          <a:bodyPr wrap="square" lIns="45720" tIns="27432" rIns="45720" bIns="27432" anchor="t">
            <a:spAutoFit/>
          </a:bodyPr>
          <a:lstStyle/>
          <a:p>
            <a:pPr algn="l"/>
            <a:r>
              <a:rPr lang="en-GB" sz="900" b="0" i="0" noProof="0" dirty="0">
                <a:solidFill>
                  <a:srgbClr val="6B7280"/>
                </a:solidFill>
                <a:latin typeface="Aptos"/>
              </a:rPr>
              <a:t>October 2026 · cut-off Oct 27 · consolidated Compressor Plant (CP) + Pipeline</a:t>
            </a:r>
            <a:r>
              <a:rPr lang="en-GB" sz="900" b="0" i="0" noProof="0" dirty="0">
                <a:solidFill>
                  <a:srgbClr val="FF0000"/>
                </a:solidFill>
                <a:latin typeface="Aptos"/>
              </a:rPr>
              <a:t> · Oct-26 figures pending data load</a:t>
            </a:r>
          </a:p>
        </p:txBody>
      </p:sp>
      <p:sp>
        <p:nvSpPr>
          <p:cNvPr id="309" name="Rectangle 13">
            <a:extLst>
              <a:ext uri="{FF2B5EF4-FFF2-40B4-BE49-F238E27FC236}">
                <a16:creationId xmlns:a16="http://schemas.microsoft.com/office/drawing/2014/main" id="{982F2D75-DF9C-349E-AB75-76AFBBC31524}"/>
              </a:ext>
            </a:extLst>
          </p:cNvPr>
          <p:cNvSpPr/>
          <p:nvPr/>
        </p:nvSpPr>
        <p:spPr>
          <a:xfrm>
            <a:off x="391705" y="1089189"/>
            <a:ext cx="4197680" cy="8686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0" dirty="0"/>
          </a:p>
        </p:txBody>
      </p:sp>
      <p:sp>
        <p:nvSpPr>
          <p:cNvPr id="310" name="Rectangle 14">
            <a:extLst>
              <a:ext uri="{FF2B5EF4-FFF2-40B4-BE49-F238E27FC236}">
                <a16:creationId xmlns:a16="http://schemas.microsoft.com/office/drawing/2014/main" id="{E261C013-D5E4-0D26-A0A5-06B94D034046}"/>
              </a:ext>
            </a:extLst>
          </p:cNvPr>
          <p:cNvSpPr/>
          <p:nvPr/>
        </p:nvSpPr>
        <p:spPr>
          <a:xfrm>
            <a:off x="391705" y="1089189"/>
            <a:ext cx="54864" cy="868680"/>
          </a:xfrm>
          <a:prstGeom prst="rect">
            <a:avLst/>
          </a:prstGeom>
          <a:solidFill>
            <a:srgbClr val="013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0" dirty="0"/>
          </a:p>
        </p:txBody>
      </p:sp>
      <p:sp>
        <p:nvSpPr>
          <p:cNvPr id="311" name="TextBox 15">
            <a:extLst>
              <a:ext uri="{FF2B5EF4-FFF2-40B4-BE49-F238E27FC236}">
                <a16:creationId xmlns:a16="http://schemas.microsoft.com/office/drawing/2014/main" id="{2406B7B1-B4A2-9E0D-A2A3-2FA0CF50D520}"/>
              </a:ext>
            </a:extLst>
          </p:cNvPr>
          <p:cNvSpPr txBox="1"/>
          <p:nvPr/>
        </p:nvSpPr>
        <p:spPr>
          <a:xfrm>
            <a:off x="483145" y="1107477"/>
            <a:ext cx="4087952" cy="201168"/>
          </a:xfrm>
          <a:prstGeom prst="rect">
            <a:avLst/>
          </a:prstGeom>
          <a:noFill/>
        </p:spPr>
        <p:txBody>
          <a:bodyPr wrap="square" lIns="45720" tIns="27432" rIns="45720" bIns="27432" anchor="t">
            <a:spAutoFit/>
          </a:bodyPr>
          <a:lstStyle/>
          <a:p>
            <a:pPr algn="l"/>
            <a:r>
              <a:rPr lang="en-GB" sz="800" b="1" i="0" noProof="0" dirty="0">
                <a:solidFill>
                  <a:srgbClr val="6B7280"/>
                </a:solidFill>
                <a:latin typeface="Aptos"/>
              </a:rPr>
              <a:t>TRICF Frequency</a:t>
            </a:r>
          </a:p>
        </p:txBody>
      </p:sp>
      <p:sp>
        <p:nvSpPr>
          <p:cNvPr id="312" name="TextBox 16">
            <a:extLst>
              <a:ext uri="{FF2B5EF4-FFF2-40B4-BE49-F238E27FC236}">
                <a16:creationId xmlns:a16="http://schemas.microsoft.com/office/drawing/2014/main" id="{A16E4164-D038-E004-A99F-B3F12C72ABC2}"/>
              </a:ext>
            </a:extLst>
          </p:cNvPr>
          <p:cNvSpPr txBox="1"/>
          <p:nvPr/>
        </p:nvSpPr>
        <p:spPr>
          <a:xfrm>
            <a:off x="483145" y="1290357"/>
            <a:ext cx="4087952" cy="365760"/>
          </a:xfrm>
          <a:prstGeom prst="rect">
            <a:avLst/>
          </a:prstGeom>
          <a:noFill/>
        </p:spPr>
        <p:txBody>
          <a:bodyPr wrap="square" lIns="45720" tIns="27432" rIns="45720" bIns="27432" anchor="t">
            <a:spAutoFit/>
          </a:bodyPr>
          <a:lstStyle/>
          <a:p>
            <a:pPr algn="l"/>
            <a:r>
              <a:rPr lang="en-GB" sz="2000" b="1" i="0" noProof="0" dirty="0">
                <a:solidFill>
                  <a:srgbClr val="013EF5"/>
                </a:solidFill>
                <a:latin typeface="Aptos"/>
              </a:rPr>
              <a:t>0</a:t>
            </a:r>
          </a:p>
        </p:txBody>
      </p:sp>
      <p:sp>
        <p:nvSpPr>
          <p:cNvPr id="313" name="TextBox 17">
            <a:extLst>
              <a:ext uri="{FF2B5EF4-FFF2-40B4-BE49-F238E27FC236}">
                <a16:creationId xmlns:a16="http://schemas.microsoft.com/office/drawing/2014/main" id="{FB330628-B996-AACC-C208-E46F35C068E6}"/>
              </a:ext>
            </a:extLst>
          </p:cNvPr>
          <p:cNvSpPr txBox="1"/>
          <p:nvPr/>
        </p:nvSpPr>
        <p:spPr>
          <a:xfrm>
            <a:off x="483145" y="1637829"/>
            <a:ext cx="4087952" cy="310896"/>
          </a:xfrm>
          <a:prstGeom prst="rect">
            <a:avLst/>
          </a:prstGeom>
          <a:noFill/>
        </p:spPr>
        <p:txBody>
          <a:bodyPr wrap="square" lIns="45720" tIns="27432" rIns="45720" bIns="27432" anchor="t">
            <a:spAutoFit/>
          </a:bodyPr>
          <a:lstStyle/>
          <a:p>
            <a:pPr algn="l"/>
            <a:r>
              <a:rPr lang="en-GB" sz="750" b="0" i="0" noProof="0" dirty="0">
                <a:solidFill>
                  <a:srgbClr val="6B7280"/>
                </a:solidFill>
                <a:latin typeface="Aptos"/>
              </a:rPr>
              <a:t>Cum. Aug–Sep · target 2.35</a:t>
            </a:r>
            <a:br>
              <a:rPr lang="en-GB" sz="750" b="0" i="0" noProof="0" dirty="0">
                <a:solidFill>
                  <a:srgbClr val="6B7280"/>
                </a:solidFill>
                <a:latin typeface="Aptos"/>
              </a:rPr>
            </a:br>
            <a:r>
              <a:rPr lang="en-GB" sz="750" b="0" i="0" noProof="0" dirty="0">
                <a:solidFill>
                  <a:srgbClr val="FF0000"/>
                </a:solidFill>
                <a:latin typeface="Aptos"/>
              </a:rPr>
              <a:t>Oct-26 cum.: pending</a:t>
            </a:r>
          </a:p>
        </p:txBody>
      </p:sp>
      <p:sp>
        <p:nvSpPr>
          <p:cNvPr id="314" name="Rectangle 18">
            <a:extLst>
              <a:ext uri="{FF2B5EF4-FFF2-40B4-BE49-F238E27FC236}">
                <a16:creationId xmlns:a16="http://schemas.microsoft.com/office/drawing/2014/main" id="{AEA93BC8-49B1-34FA-F73E-EED27B06E1DD}"/>
              </a:ext>
            </a:extLst>
          </p:cNvPr>
          <p:cNvSpPr/>
          <p:nvPr/>
        </p:nvSpPr>
        <p:spPr>
          <a:xfrm>
            <a:off x="4789385" y="1089189"/>
            <a:ext cx="4197680" cy="8686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0" dirty="0"/>
          </a:p>
        </p:txBody>
      </p:sp>
      <p:sp>
        <p:nvSpPr>
          <p:cNvPr id="315" name="Rectangle 19">
            <a:extLst>
              <a:ext uri="{FF2B5EF4-FFF2-40B4-BE49-F238E27FC236}">
                <a16:creationId xmlns:a16="http://schemas.microsoft.com/office/drawing/2014/main" id="{6B4841DD-EE04-D73E-2E33-D1179A9416A1}"/>
              </a:ext>
            </a:extLst>
          </p:cNvPr>
          <p:cNvSpPr/>
          <p:nvPr/>
        </p:nvSpPr>
        <p:spPr>
          <a:xfrm>
            <a:off x="4789385" y="1089189"/>
            <a:ext cx="54864" cy="868680"/>
          </a:xfrm>
          <a:prstGeom prst="rect">
            <a:avLst/>
          </a:prstGeom>
          <a:solidFill>
            <a:srgbClr val="013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0" dirty="0"/>
          </a:p>
        </p:txBody>
      </p:sp>
      <p:sp>
        <p:nvSpPr>
          <p:cNvPr id="316" name="TextBox 20">
            <a:extLst>
              <a:ext uri="{FF2B5EF4-FFF2-40B4-BE49-F238E27FC236}">
                <a16:creationId xmlns:a16="http://schemas.microsoft.com/office/drawing/2014/main" id="{3AB03E7B-EF38-90A4-FA99-F82427D1C6E7}"/>
              </a:ext>
            </a:extLst>
          </p:cNvPr>
          <p:cNvSpPr txBox="1"/>
          <p:nvPr/>
        </p:nvSpPr>
        <p:spPr>
          <a:xfrm>
            <a:off x="4880825" y="1107477"/>
            <a:ext cx="4087952" cy="201168"/>
          </a:xfrm>
          <a:prstGeom prst="rect">
            <a:avLst/>
          </a:prstGeom>
          <a:noFill/>
        </p:spPr>
        <p:txBody>
          <a:bodyPr wrap="square" lIns="45720" tIns="27432" rIns="45720" bIns="27432" anchor="t">
            <a:spAutoFit/>
          </a:bodyPr>
          <a:lstStyle/>
          <a:p>
            <a:pPr algn="l"/>
            <a:r>
              <a:rPr lang="en-GB" sz="800" b="1" i="0" noProof="0" dirty="0">
                <a:solidFill>
                  <a:srgbClr val="6B7280"/>
                </a:solidFill>
                <a:latin typeface="Aptos"/>
              </a:rPr>
              <a:t>TVCR Frequency</a:t>
            </a:r>
          </a:p>
        </p:txBody>
      </p:sp>
      <p:sp>
        <p:nvSpPr>
          <p:cNvPr id="317" name="TextBox 21">
            <a:extLst>
              <a:ext uri="{FF2B5EF4-FFF2-40B4-BE49-F238E27FC236}">
                <a16:creationId xmlns:a16="http://schemas.microsoft.com/office/drawing/2014/main" id="{50A78C86-7488-F971-49F4-E1884B229777}"/>
              </a:ext>
            </a:extLst>
          </p:cNvPr>
          <p:cNvSpPr txBox="1"/>
          <p:nvPr/>
        </p:nvSpPr>
        <p:spPr>
          <a:xfrm>
            <a:off x="4880825" y="1290357"/>
            <a:ext cx="4087952" cy="365760"/>
          </a:xfrm>
          <a:prstGeom prst="rect">
            <a:avLst/>
          </a:prstGeom>
          <a:noFill/>
        </p:spPr>
        <p:txBody>
          <a:bodyPr wrap="square" lIns="45720" tIns="27432" rIns="45720" bIns="27432" anchor="t">
            <a:spAutoFit/>
          </a:bodyPr>
          <a:lstStyle/>
          <a:p>
            <a:pPr algn="l"/>
            <a:r>
              <a:rPr lang="en-GB" sz="2000" b="1" i="0" noProof="0" dirty="0">
                <a:solidFill>
                  <a:srgbClr val="013EF5"/>
                </a:solidFill>
                <a:latin typeface="Aptos"/>
              </a:rPr>
              <a:t>0</a:t>
            </a:r>
          </a:p>
        </p:txBody>
      </p:sp>
      <p:sp>
        <p:nvSpPr>
          <p:cNvPr id="318" name="TextBox 22">
            <a:extLst>
              <a:ext uri="{FF2B5EF4-FFF2-40B4-BE49-F238E27FC236}">
                <a16:creationId xmlns:a16="http://schemas.microsoft.com/office/drawing/2014/main" id="{66400441-BD98-14B4-DF79-5611E8E0A851}"/>
              </a:ext>
            </a:extLst>
          </p:cNvPr>
          <p:cNvSpPr txBox="1"/>
          <p:nvPr/>
        </p:nvSpPr>
        <p:spPr>
          <a:xfrm>
            <a:off x="4880825" y="1637829"/>
            <a:ext cx="4087952" cy="310896"/>
          </a:xfrm>
          <a:prstGeom prst="rect">
            <a:avLst/>
          </a:prstGeom>
          <a:noFill/>
        </p:spPr>
        <p:txBody>
          <a:bodyPr wrap="square" lIns="45720" tIns="27432" rIns="45720" bIns="27432" anchor="t">
            <a:spAutoFit/>
          </a:bodyPr>
          <a:lstStyle/>
          <a:p>
            <a:pPr algn="l"/>
            <a:r>
              <a:rPr lang="en-GB" sz="750" b="0" i="0" noProof="0" dirty="0">
                <a:solidFill>
                  <a:srgbClr val="6B7280"/>
                </a:solidFill>
                <a:latin typeface="Aptos"/>
              </a:rPr>
              <a:t>Cum. Aug–Sep · target 0.79</a:t>
            </a:r>
            <a:br>
              <a:rPr lang="en-GB" sz="750" b="0" i="0" noProof="0" dirty="0">
                <a:solidFill>
                  <a:srgbClr val="6B7280"/>
                </a:solidFill>
                <a:latin typeface="Aptos"/>
              </a:rPr>
            </a:br>
            <a:r>
              <a:rPr lang="en-GB" sz="750" b="0" i="0" noProof="0" dirty="0">
                <a:solidFill>
                  <a:srgbClr val="FF0000"/>
                </a:solidFill>
                <a:latin typeface="Aptos"/>
              </a:rPr>
              <a:t>Oct-26 cum.: pending</a:t>
            </a:r>
          </a:p>
        </p:txBody>
      </p:sp>
      <p:sp>
        <p:nvSpPr>
          <p:cNvPr id="334" name="TextBox 42">
            <a:extLst>
              <a:ext uri="{FF2B5EF4-FFF2-40B4-BE49-F238E27FC236}">
                <a16:creationId xmlns:a16="http://schemas.microsoft.com/office/drawing/2014/main" id="{6ED1FBF3-0714-96CD-28B6-42ABA007D56E}"/>
              </a:ext>
            </a:extLst>
          </p:cNvPr>
          <p:cNvSpPr txBox="1"/>
          <p:nvPr/>
        </p:nvSpPr>
        <p:spPr>
          <a:xfrm>
            <a:off x="1468118" y="2046226"/>
            <a:ext cx="2145920" cy="164592"/>
          </a:xfrm>
          <a:prstGeom prst="rect">
            <a:avLst/>
          </a:prstGeom>
          <a:noFill/>
        </p:spPr>
        <p:txBody>
          <a:bodyPr wrap="square" lIns="45720" tIns="27432" rIns="45720" bIns="27432" anchor="t">
            <a:spAutoFit/>
          </a:bodyPr>
          <a:lstStyle/>
          <a:p>
            <a:pPr algn="ctr"/>
            <a:r>
              <a:rPr lang="en-GB" sz="800" b="1" i="0" noProof="0" dirty="0">
                <a:solidFill>
                  <a:srgbClr val="013EF5"/>
                </a:solidFill>
                <a:latin typeface="Aptos"/>
              </a:rPr>
              <a:t>Cum. Aug–Sep 2026</a:t>
            </a:r>
            <a:r>
              <a:rPr lang="en-GB" sz="800" b="1" i="0" noProof="0" dirty="0">
                <a:solidFill>
                  <a:srgbClr val="FF0000"/>
                </a:solidFill>
                <a:latin typeface="Aptos"/>
              </a:rPr>
              <a:t> · Oct pending</a:t>
            </a:r>
          </a:p>
        </p:txBody>
      </p:sp>
      <p:sp>
        <p:nvSpPr>
          <p:cNvPr id="335" name="TextBox 63">
            <a:extLst>
              <a:ext uri="{FF2B5EF4-FFF2-40B4-BE49-F238E27FC236}">
                <a16:creationId xmlns:a16="http://schemas.microsoft.com/office/drawing/2014/main" id="{A118BB3E-616F-ACE6-6BDA-5D3FC3962CA8}"/>
              </a:ext>
            </a:extLst>
          </p:cNvPr>
          <p:cNvSpPr txBox="1"/>
          <p:nvPr/>
        </p:nvSpPr>
        <p:spPr>
          <a:xfrm>
            <a:off x="5603785" y="2220478"/>
            <a:ext cx="2606040" cy="201168"/>
          </a:xfrm>
          <a:prstGeom prst="rect">
            <a:avLst/>
          </a:prstGeom>
          <a:noFill/>
        </p:spPr>
        <p:txBody>
          <a:bodyPr wrap="square" lIns="45720" tIns="27432" rIns="45720" bIns="27432" anchor="t">
            <a:spAutoFit/>
          </a:bodyPr>
          <a:lstStyle/>
          <a:p>
            <a:pPr algn="l"/>
            <a:r>
              <a:rPr lang="en-GB" sz="900" b="1" i="0" noProof="0" dirty="0">
                <a:solidFill>
                  <a:srgbClr val="013EF5"/>
                </a:solidFill>
                <a:latin typeface="Aptos"/>
              </a:rPr>
              <a:t>Other KPIs · October (cut-off Oct 27)</a:t>
            </a:r>
          </a:p>
        </p:txBody>
      </p:sp>
      <p:graphicFrame>
        <p:nvGraphicFramePr>
          <p:cNvPr id="336" name="Table 64">
            <a:extLst>
              <a:ext uri="{FF2B5EF4-FFF2-40B4-BE49-F238E27FC236}">
                <a16:creationId xmlns:a16="http://schemas.microsoft.com/office/drawing/2014/main" id="{BB9C8609-A565-9F3D-EF97-3EADB3BD7F73}"/>
              </a:ext>
            </a:extLst>
          </p:cNvPr>
          <p:cNvGraphicFramePr>
            <a:graphicFrameLocks noGrp="1"/>
          </p:cNvGraphicFramePr>
          <p:nvPr>
            <p:extLst>
              <p:ext uri="{D42A27DB-BD31-4B8C-83A1-F6EECF244321}">
                <p14:modId xmlns:p14="http://schemas.microsoft.com/office/powerpoint/2010/main" val="2011819814"/>
              </p:ext>
            </p:extLst>
          </p:nvPr>
        </p:nvGraphicFramePr>
        <p:xfrm>
          <a:off x="5603785" y="2439934"/>
          <a:ext cx="2606040" cy="1645920"/>
        </p:xfrm>
        <a:graphic>
          <a:graphicData uri="http://schemas.openxmlformats.org/drawingml/2006/table">
            <a:tbl>
              <a:tblPr>
                <a:tableStyleId>{2D5ABB26-0587-4C30-8999-92F81FD0307C}</a:tableStyleId>
              </a:tblPr>
              <a:tblGrid>
                <a:gridCol w="173736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tblGrid>
              <a:tr h="329184">
                <a:tc>
                  <a:txBody>
                    <a:bodyPr/>
                    <a:lstStyle/>
                    <a:p>
                      <a:pPr algn="l"/>
                      <a:r>
                        <a:rPr lang="en-GB" sz="800" b="1" i="0" noProof="0" dirty="0">
                          <a:solidFill>
                            <a:srgbClr val="FFFFFF"/>
                          </a:solidFill>
                          <a:latin typeface="Aptos"/>
                        </a:rPr>
                        <a:t>KPI</a:t>
                      </a:r>
                    </a:p>
                  </a:txBody>
                  <a:tcPr marL="45720" marR="45720" marT="18288" marB="18288" anchor="ctr">
                    <a:solidFill>
                      <a:srgbClr val="013EF5"/>
                    </a:solidFill>
                  </a:tcPr>
                </a:tc>
                <a:tc>
                  <a:txBody>
                    <a:bodyPr/>
                    <a:lstStyle/>
                    <a:p>
                      <a:pPr algn="ctr"/>
                      <a:r>
                        <a:rPr lang="en-GB" sz="800" b="1" i="0" noProof="0" dirty="0">
                          <a:solidFill>
                            <a:srgbClr val="FFFFFF"/>
                          </a:solidFill>
                          <a:latin typeface="Aptos"/>
                        </a:rPr>
                        <a:t>CP + Pipeline</a:t>
                      </a:r>
                    </a:p>
                  </a:txBody>
                  <a:tcPr marL="45720" marR="45720" marT="18288" marB="18288" anchor="ctr">
                    <a:solidFill>
                      <a:srgbClr val="013EF5"/>
                    </a:solidFill>
                  </a:tcPr>
                </a:tc>
                <a:extLst>
                  <a:ext uri="{0D108BD9-81ED-4DB2-BD59-A6C34878D82A}">
                    <a16:rowId xmlns:a16="http://schemas.microsoft.com/office/drawing/2014/main" val="10000"/>
                  </a:ext>
                </a:extLst>
              </a:tr>
              <a:tr h="329184">
                <a:tc>
                  <a:txBody>
                    <a:bodyPr/>
                    <a:lstStyle/>
                    <a:p>
                      <a:pPr algn="l"/>
                      <a:r>
                        <a:rPr lang="en-GB" sz="800" b="1" i="0" noProof="0" dirty="0">
                          <a:solidFill>
                            <a:srgbClr val="1F2533"/>
                          </a:solidFill>
                          <a:latin typeface="Aptos"/>
                        </a:rPr>
                        <a:t>DAFWCF (target 0)</a:t>
                      </a:r>
                    </a:p>
                  </a:txBody>
                  <a:tcPr marL="45720" marR="45720" marT="18288" marB="18288" anchor="ctr">
                    <a:noFill/>
                  </a:tcPr>
                </a:tc>
                <a:tc>
                  <a:txBody>
                    <a:bodyPr/>
                    <a:lstStyle/>
                    <a:p>
                      <a:pPr algn="ctr"/>
                      <a:r>
                        <a:rPr lang="en-GB" sz="800" b="0" i="0" noProof="0" dirty="0">
                          <a:solidFill>
                            <a:srgbClr val="FF0000"/>
                          </a:solidFill>
                          <a:latin typeface="Aptos"/>
                        </a:rPr>
                        <a:t>Pending</a:t>
                      </a:r>
                    </a:p>
                  </a:txBody>
                  <a:tcPr marL="45720" marR="45720" marT="18288" marB="18288" anchor="ctr">
                    <a:noFill/>
                  </a:tcPr>
                </a:tc>
                <a:extLst>
                  <a:ext uri="{0D108BD9-81ED-4DB2-BD59-A6C34878D82A}">
                    <a16:rowId xmlns:a16="http://schemas.microsoft.com/office/drawing/2014/main" val="10001"/>
                  </a:ext>
                </a:extLst>
              </a:tr>
              <a:tr h="329184">
                <a:tc>
                  <a:txBody>
                    <a:bodyPr/>
                    <a:lstStyle/>
                    <a:p>
                      <a:pPr algn="l"/>
                      <a:r>
                        <a:rPr lang="en-GB" sz="800" b="1" i="0" noProof="0" dirty="0">
                          <a:solidFill>
                            <a:srgbClr val="1F2533"/>
                          </a:solidFill>
                          <a:latin typeface="Aptos"/>
                        </a:rPr>
                        <a:t>TRICF (target 2.35 – 3)</a:t>
                      </a:r>
                    </a:p>
                  </a:txBody>
                  <a:tcPr marL="45720" marR="45720" marT="18288" marB="18288" anchor="ctr">
                    <a:solidFill>
                      <a:srgbClr val="F2F2F2"/>
                    </a:solidFill>
                  </a:tcPr>
                </a:tc>
                <a:tc>
                  <a:txBody>
                    <a:bodyPr/>
                    <a:lstStyle/>
                    <a:p>
                      <a:pPr algn="ctr"/>
                      <a:r>
                        <a:rPr lang="en-GB" sz="800" b="0" i="0" noProof="0" dirty="0">
                          <a:solidFill>
                            <a:srgbClr val="FF0000"/>
                          </a:solidFill>
                          <a:latin typeface="Aptos"/>
                        </a:rPr>
                        <a:t>Pending</a:t>
                      </a:r>
                    </a:p>
                  </a:txBody>
                  <a:tcPr marL="45720" marR="45720" marT="18288" marB="18288" anchor="ctr">
                    <a:solidFill>
                      <a:srgbClr val="F2F2F2"/>
                    </a:solidFill>
                  </a:tcPr>
                </a:tc>
                <a:extLst>
                  <a:ext uri="{0D108BD9-81ED-4DB2-BD59-A6C34878D82A}">
                    <a16:rowId xmlns:a16="http://schemas.microsoft.com/office/drawing/2014/main" val="262702639"/>
                  </a:ext>
                </a:extLst>
              </a:tr>
              <a:tr h="329184">
                <a:tc>
                  <a:txBody>
                    <a:bodyPr/>
                    <a:lstStyle/>
                    <a:p>
                      <a:pPr algn="l"/>
                      <a:r>
                        <a:rPr lang="en-GB" sz="800" b="1" i="0" noProof="0" dirty="0">
                          <a:solidFill>
                            <a:srgbClr val="1F2533"/>
                          </a:solidFill>
                          <a:latin typeface="Aptos"/>
                        </a:rPr>
                        <a:t>TVCR (Target 0.79 – 2)</a:t>
                      </a:r>
                    </a:p>
                  </a:txBody>
                  <a:tcPr marL="45720" marR="45720" marT="18288" marB="18288" anchor="ctr">
                    <a:solidFill>
                      <a:srgbClr val="F2F2F2"/>
                    </a:solidFill>
                  </a:tcPr>
                </a:tc>
                <a:tc>
                  <a:txBody>
                    <a:bodyPr/>
                    <a:lstStyle/>
                    <a:p>
                      <a:pPr algn="ctr"/>
                      <a:r>
                        <a:rPr lang="en-GB" sz="800" b="0" i="0" noProof="0" dirty="0">
                          <a:solidFill>
                            <a:srgbClr val="FF0000"/>
                          </a:solidFill>
                          <a:latin typeface="Aptos"/>
                        </a:rPr>
                        <a:t>Pending</a:t>
                      </a:r>
                    </a:p>
                  </a:txBody>
                  <a:tcPr marL="45720" marR="45720" marT="18288" marB="18288" anchor="ctr">
                    <a:solidFill>
                      <a:srgbClr val="F2F2F2"/>
                    </a:solidFill>
                  </a:tcPr>
                </a:tc>
                <a:extLst>
                  <a:ext uri="{0D108BD9-81ED-4DB2-BD59-A6C34878D82A}">
                    <a16:rowId xmlns:a16="http://schemas.microsoft.com/office/drawing/2014/main" val="3779602750"/>
                  </a:ext>
                </a:extLst>
              </a:tr>
              <a:tr h="329184">
                <a:tc>
                  <a:txBody>
                    <a:bodyPr/>
                    <a:lstStyle/>
                    <a:p>
                      <a:pPr algn="l"/>
                      <a:r>
                        <a:rPr lang="en-GB" sz="800" b="1" i="0" noProof="0" dirty="0">
                          <a:solidFill>
                            <a:srgbClr val="1F2533"/>
                          </a:solidFill>
                          <a:latin typeface="Aptos"/>
                        </a:rPr>
                        <a:t>FAC (reporting)</a:t>
                      </a:r>
                    </a:p>
                  </a:txBody>
                  <a:tcPr marL="45720" marR="45720" marT="18288" marB="18288" anchor="ctr">
                    <a:solidFill>
                      <a:srgbClr val="F2F2F2"/>
                    </a:solidFill>
                  </a:tcPr>
                </a:tc>
                <a:tc>
                  <a:txBody>
                    <a:bodyPr/>
                    <a:lstStyle/>
                    <a:p>
                      <a:pPr algn="ctr"/>
                      <a:r>
                        <a:rPr lang="en-GB" sz="800" b="0" i="0" noProof="0" dirty="0">
                          <a:solidFill>
                            <a:srgbClr val="FF0000"/>
                          </a:solidFill>
                          <a:latin typeface="Aptos"/>
                        </a:rPr>
                        <a:t>Pending</a:t>
                      </a:r>
                    </a:p>
                  </a:txBody>
                  <a:tcPr marL="45720" marR="45720" marT="18288" marB="18288" anchor="ctr">
                    <a:solidFill>
                      <a:srgbClr val="F2F2F2"/>
                    </a:solidFill>
                  </a:tcPr>
                </a:tc>
                <a:extLst>
                  <a:ext uri="{0D108BD9-81ED-4DB2-BD59-A6C34878D82A}">
                    <a16:rowId xmlns:a16="http://schemas.microsoft.com/office/drawing/2014/main" val="750315343"/>
                  </a:ext>
                </a:extLst>
              </a:tr>
            </a:tbl>
          </a:graphicData>
        </a:graphic>
      </p:graphicFrame>
      <p:sp>
        <p:nvSpPr>
          <p:cNvPr id="337" name="TextBox 65">
            <a:extLst>
              <a:ext uri="{FF2B5EF4-FFF2-40B4-BE49-F238E27FC236}">
                <a16:creationId xmlns:a16="http://schemas.microsoft.com/office/drawing/2014/main" id="{4B3C5755-964A-AF43-709D-ABD5ED2563F6}"/>
              </a:ext>
            </a:extLst>
          </p:cNvPr>
          <p:cNvSpPr txBox="1"/>
          <p:nvPr/>
        </p:nvSpPr>
        <p:spPr>
          <a:xfrm>
            <a:off x="362072" y="4485606"/>
            <a:ext cx="4206240" cy="228600"/>
          </a:xfrm>
          <a:prstGeom prst="rect">
            <a:avLst/>
          </a:prstGeom>
          <a:noFill/>
        </p:spPr>
        <p:txBody>
          <a:bodyPr wrap="square" lIns="45720" tIns="27432" rIns="45720" bIns="27432" anchor="t">
            <a:spAutoFit/>
          </a:bodyPr>
          <a:lstStyle/>
          <a:p>
            <a:pPr algn="ctr"/>
            <a:r>
              <a:rPr lang="en-GB" sz="1000" b="1" i="0" noProof="0" dirty="0">
                <a:solidFill>
                  <a:srgbClr val="013EF5"/>
                </a:solidFill>
                <a:latin typeface="Aptos"/>
              </a:rPr>
              <a:t>TRICF · cases and frequency × 10^6 /HHT</a:t>
            </a:r>
          </a:p>
        </p:txBody>
      </p:sp>
      <p:graphicFrame>
        <p:nvGraphicFramePr>
          <p:cNvPr id="338" name="Chart 66" descr="Native chart with editable data">
            <a:extLst>
              <a:ext uri="{FF2B5EF4-FFF2-40B4-BE49-F238E27FC236}">
                <a16:creationId xmlns:a16="http://schemas.microsoft.com/office/drawing/2014/main" id="{B032AC3C-22DB-210E-E533-444098BFC0DD}"/>
              </a:ext>
            </a:extLst>
          </p:cNvPr>
          <p:cNvGraphicFramePr>
            <a:graphicFrameLocks noGrp="1"/>
          </p:cNvGraphicFramePr>
          <p:nvPr>
            <p:extLst>
              <p:ext uri="{D42A27DB-BD31-4B8C-83A1-F6EECF244321}">
                <p14:modId xmlns:p14="http://schemas.microsoft.com/office/powerpoint/2010/main" val="137828998"/>
              </p:ext>
            </p:extLst>
          </p:nvPr>
        </p:nvGraphicFramePr>
        <p:xfrm>
          <a:off x="321366" y="4674884"/>
          <a:ext cx="4206240" cy="1508760"/>
        </p:xfrm>
        <a:graphic>
          <a:graphicData uri="http://schemas.openxmlformats.org/drawingml/2006/chart">
            <c:chart xmlns:c="http://schemas.openxmlformats.org/drawingml/2006/chart" xmlns:r="http://schemas.openxmlformats.org/officeDocument/2006/relationships" r:id="rId3"/>
          </a:graphicData>
        </a:graphic>
      </p:graphicFrame>
      <p:sp>
        <p:nvSpPr>
          <p:cNvPr id="339" name="TextBox 67">
            <a:extLst>
              <a:ext uri="{FF2B5EF4-FFF2-40B4-BE49-F238E27FC236}">
                <a16:creationId xmlns:a16="http://schemas.microsoft.com/office/drawing/2014/main" id="{82D3B747-DD21-081B-3CA9-B7764D5E64E6}"/>
              </a:ext>
            </a:extLst>
          </p:cNvPr>
          <p:cNvSpPr txBox="1"/>
          <p:nvPr/>
        </p:nvSpPr>
        <p:spPr>
          <a:xfrm>
            <a:off x="4806299" y="4467751"/>
            <a:ext cx="4206240" cy="209288"/>
          </a:xfrm>
          <a:prstGeom prst="rect">
            <a:avLst/>
          </a:prstGeom>
          <a:noFill/>
        </p:spPr>
        <p:txBody>
          <a:bodyPr wrap="square" lIns="45720" tIns="27432" rIns="45720" bIns="27432" anchor="t">
            <a:spAutoFit/>
          </a:bodyPr>
          <a:lstStyle/>
          <a:p>
            <a:pPr algn="ctr"/>
            <a:r>
              <a:rPr lang="en-GB" sz="1000" b="1" i="0" noProof="0" dirty="0">
                <a:solidFill>
                  <a:srgbClr val="013EF5"/>
                </a:solidFill>
                <a:latin typeface="Aptos"/>
              </a:rPr>
              <a:t>TVCR · cases and frequency × 10^6 /km travelled</a:t>
            </a:r>
          </a:p>
        </p:txBody>
      </p:sp>
      <p:graphicFrame>
        <p:nvGraphicFramePr>
          <p:cNvPr id="340" name="Chart 68" descr="Native chart with editable data">
            <a:extLst>
              <a:ext uri="{FF2B5EF4-FFF2-40B4-BE49-F238E27FC236}">
                <a16:creationId xmlns:a16="http://schemas.microsoft.com/office/drawing/2014/main" id="{B4C86B4E-0BD1-EFDC-BE11-CDDBC6770510}"/>
              </a:ext>
            </a:extLst>
          </p:cNvPr>
          <p:cNvGraphicFramePr>
            <a:graphicFrameLocks noGrp="1"/>
          </p:cNvGraphicFramePr>
          <p:nvPr>
            <p:extLst>
              <p:ext uri="{D42A27DB-BD31-4B8C-83A1-F6EECF244321}">
                <p14:modId xmlns:p14="http://schemas.microsoft.com/office/powerpoint/2010/main" val="1744624849"/>
              </p:ext>
            </p:extLst>
          </p:nvPr>
        </p:nvGraphicFramePr>
        <p:xfrm>
          <a:off x="4806299" y="4606705"/>
          <a:ext cx="4206240" cy="1508760"/>
        </p:xfrm>
        <a:graphic>
          <a:graphicData uri="http://schemas.openxmlformats.org/drawingml/2006/chart">
            <c:chart xmlns:c="http://schemas.openxmlformats.org/drawingml/2006/chart" xmlns:r="http://schemas.openxmlformats.org/officeDocument/2006/relationships" r:id="rId4"/>
          </a:graphicData>
        </a:graphic>
      </p:graphicFrame>
      <p:grpSp>
        <p:nvGrpSpPr>
          <p:cNvPr id="341" name="Grupo 340">
            <a:extLst>
              <a:ext uri="{FF2B5EF4-FFF2-40B4-BE49-F238E27FC236}">
                <a16:creationId xmlns:a16="http://schemas.microsoft.com/office/drawing/2014/main" id="{FD9CCFAD-26B8-CE4D-67CD-F35A3F121424}"/>
              </a:ext>
            </a:extLst>
          </p:cNvPr>
          <p:cNvGrpSpPr/>
          <p:nvPr/>
        </p:nvGrpSpPr>
        <p:grpSpPr>
          <a:xfrm>
            <a:off x="1335156" y="2151164"/>
            <a:ext cx="3354229" cy="2105012"/>
            <a:chOff x="549345" y="2101315"/>
            <a:chExt cx="3354229" cy="2105012"/>
          </a:xfrm>
        </p:grpSpPr>
        <p:pic>
          <p:nvPicPr>
            <p:cNvPr id="342" name="Imagen 341">
              <a:extLst>
                <a:ext uri="{FF2B5EF4-FFF2-40B4-BE49-F238E27FC236}">
                  <a16:creationId xmlns:a16="http://schemas.microsoft.com/office/drawing/2014/main" id="{9236B854-5177-8BC2-3878-0872187F253E}"/>
                </a:ext>
              </a:extLst>
            </p:cNvPr>
            <p:cNvPicPr>
              <a:picLocks noChangeAspect="1"/>
            </p:cNvPicPr>
            <p:nvPr/>
          </p:nvPicPr>
          <p:blipFill>
            <a:blip r:embed="rId5"/>
            <a:stretch>
              <a:fillRect/>
            </a:stretch>
          </p:blipFill>
          <p:spPr>
            <a:xfrm>
              <a:off x="549345" y="2101315"/>
              <a:ext cx="3354229" cy="2105012"/>
            </a:xfrm>
            <a:prstGeom prst="rect">
              <a:avLst/>
            </a:prstGeom>
          </p:spPr>
        </p:pic>
        <p:sp>
          <p:nvSpPr>
            <p:cNvPr id="343" name="Valor piramide 1">
              <a:extLst>
                <a:ext uri="{FF2B5EF4-FFF2-40B4-BE49-F238E27FC236}">
                  <a16:creationId xmlns:a16="http://schemas.microsoft.com/office/drawing/2014/main" id="{9E57BF01-7196-98FF-FD27-5F8BB24D0A92}"/>
                </a:ext>
              </a:extLst>
            </p:cNvPr>
            <p:cNvSpPr/>
            <p:nvPr/>
          </p:nvSpPr>
          <p:spPr>
            <a:xfrm>
              <a:off x="1550639" y="2235448"/>
              <a:ext cx="420624" cy="201168"/>
            </a:xfrm>
            <a:prstGeom prst="roundRect">
              <a:avLst>
                <a:gd name="adj" fmla="val 50000"/>
              </a:avLst>
            </a:prstGeom>
            <a:noFill/>
            <a:ln w="9525">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GB" sz="1000" b="1" noProof="0" dirty="0">
                  <a:solidFill>
                    <a:schemeClr val="bg1"/>
                  </a:solidFill>
                </a:rPr>
                <a:t>0</a:t>
              </a:r>
            </a:p>
          </p:txBody>
        </p:sp>
        <p:sp>
          <p:nvSpPr>
            <p:cNvPr id="344" name="Valor piramide 2">
              <a:extLst>
                <a:ext uri="{FF2B5EF4-FFF2-40B4-BE49-F238E27FC236}">
                  <a16:creationId xmlns:a16="http://schemas.microsoft.com/office/drawing/2014/main" id="{0670C830-A77D-B461-3C43-3A5B6A094F0A}"/>
                </a:ext>
              </a:extLst>
            </p:cNvPr>
            <p:cNvSpPr/>
            <p:nvPr/>
          </p:nvSpPr>
          <p:spPr>
            <a:xfrm>
              <a:off x="1550639" y="2537183"/>
              <a:ext cx="420624" cy="201168"/>
            </a:xfrm>
            <a:prstGeom prst="roundRect">
              <a:avLst>
                <a:gd name="adj" fmla="val 50000"/>
              </a:avLst>
            </a:prstGeom>
            <a:noFill/>
            <a:ln w="9525">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GB" sz="1000" b="1" noProof="0" dirty="0">
                  <a:solidFill>
                    <a:schemeClr val="bg1"/>
                  </a:solidFill>
                </a:rPr>
                <a:t>0</a:t>
              </a:r>
            </a:p>
          </p:txBody>
        </p:sp>
        <p:sp>
          <p:nvSpPr>
            <p:cNvPr id="345" name="Valor piramide 3">
              <a:extLst>
                <a:ext uri="{FF2B5EF4-FFF2-40B4-BE49-F238E27FC236}">
                  <a16:creationId xmlns:a16="http://schemas.microsoft.com/office/drawing/2014/main" id="{0C243396-8977-A389-A79E-BD4F2D396F8C}"/>
                </a:ext>
              </a:extLst>
            </p:cNvPr>
            <p:cNvSpPr/>
            <p:nvPr/>
          </p:nvSpPr>
          <p:spPr>
            <a:xfrm>
              <a:off x="1544289" y="2879477"/>
              <a:ext cx="420624" cy="201168"/>
            </a:xfrm>
            <a:prstGeom prst="roundRect">
              <a:avLst>
                <a:gd name="adj" fmla="val 50000"/>
              </a:avLst>
            </a:prstGeom>
            <a:noFill/>
            <a:ln w="9525">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GB" sz="1050" b="1" noProof="0" dirty="0">
                  <a:solidFill>
                    <a:schemeClr val="bg1"/>
                  </a:solidFill>
                </a:rPr>
                <a:t>0</a:t>
              </a:r>
            </a:p>
          </p:txBody>
        </p:sp>
        <p:sp>
          <p:nvSpPr>
            <p:cNvPr id="346" name="Valor piramide 4">
              <a:extLst>
                <a:ext uri="{FF2B5EF4-FFF2-40B4-BE49-F238E27FC236}">
                  <a16:creationId xmlns:a16="http://schemas.microsoft.com/office/drawing/2014/main" id="{4369CC2D-69F9-AC32-7DC0-990A1B9B6DFD}"/>
                </a:ext>
              </a:extLst>
            </p:cNvPr>
            <p:cNvSpPr/>
            <p:nvPr/>
          </p:nvSpPr>
          <p:spPr>
            <a:xfrm>
              <a:off x="1544955" y="3221771"/>
              <a:ext cx="420624" cy="201168"/>
            </a:xfrm>
            <a:prstGeom prst="roundRect">
              <a:avLst>
                <a:gd name="adj" fmla="val 50000"/>
              </a:avLst>
            </a:prstGeom>
            <a:noFill/>
            <a:ln w="9525">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GB" sz="1050" b="1" noProof="0" dirty="0">
                  <a:solidFill>
                    <a:schemeClr val="bg1"/>
                  </a:solidFill>
                </a:rPr>
                <a:t>0</a:t>
              </a:r>
            </a:p>
          </p:txBody>
        </p:sp>
        <p:sp>
          <p:nvSpPr>
            <p:cNvPr id="347" name="Valor piramide 4">
              <a:extLst>
                <a:ext uri="{FF2B5EF4-FFF2-40B4-BE49-F238E27FC236}">
                  <a16:creationId xmlns:a16="http://schemas.microsoft.com/office/drawing/2014/main" id="{7101EF34-A45D-F5B8-E7F8-6E8133B934AD}"/>
                </a:ext>
              </a:extLst>
            </p:cNvPr>
            <p:cNvSpPr/>
            <p:nvPr/>
          </p:nvSpPr>
          <p:spPr>
            <a:xfrm>
              <a:off x="1541114" y="3593592"/>
              <a:ext cx="420624" cy="201168"/>
            </a:xfrm>
            <a:prstGeom prst="roundRect">
              <a:avLst>
                <a:gd name="adj" fmla="val 50000"/>
              </a:avLst>
            </a:prstGeom>
            <a:noFill/>
            <a:ln w="9525">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GB" sz="1050" b="1" noProof="0" dirty="0">
                  <a:solidFill>
                    <a:schemeClr val="bg1"/>
                  </a:solidFill>
                </a:rPr>
                <a:t>0</a:t>
              </a:r>
            </a:p>
          </p:txBody>
        </p:sp>
        <p:sp>
          <p:nvSpPr>
            <p:cNvPr id="348" name="Valor piramide 4">
              <a:extLst>
                <a:ext uri="{FF2B5EF4-FFF2-40B4-BE49-F238E27FC236}">
                  <a16:creationId xmlns:a16="http://schemas.microsoft.com/office/drawing/2014/main" id="{E3B7BBED-EE76-14DF-9133-20F9C46E8B3F}"/>
                </a:ext>
              </a:extLst>
            </p:cNvPr>
            <p:cNvSpPr/>
            <p:nvPr/>
          </p:nvSpPr>
          <p:spPr>
            <a:xfrm>
              <a:off x="1538605" y="3935886"/>
              <a:ext cx="420624" cy="201168"/>
            </a:xfrm>
            <a:prstGeom prst="roundRect">
              <a:avLst>
                <a:gd name="adj" fmla="val 50000"/>
              </a:avLst>
            </a:prstGeom>
            <a:noFill/>
            <a:ln w="9525">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GB" sz="1050" b="1" noProof="0" dirty="0">
                  <a:solidFill>
                    <a:schemeClr val="bg1"/>
                  </a:solidFill>
                </a:rPr>
                <a:t>462</a:t>
              </a:r>
            </a:p>
          </p:txBody>
        </p:sp>
      </p:grpSp>
      <p:sp>
        <p:nvSpPr>
          <p:cNvPr id="349" name="TextBox 76">
            <a:extLst>
              <a:ext uri="{FF2B5EF4-FFF2-40B4-BE49-F238E27FC236}">
                <a16:creationId xmlns:a16="http://schemas.microsoft.com/office/drawing/2014/main" id="{2CBFD08D-6780-86AD-24F6-A6D8EB85B0BC}"/>
              </a:ext>
            </a:extLst>
          </p:cNvPr>
          <p:cNvSpPr txBox="1"/>
          <p:nvPr/>
        </p:nvSpPr>
        <p:spPr>
          <a:xfrm>
            <a:off x="227529" y="6225887"/>
            <a:ext cx="5467696" cy="470898"/>
          </a:xfrm>
          <a:prstGeom prst="rect">
            <a:avLst/>
          </a:prstGeom>
          <a:noFill/>
        </p:spPr>
        <p:txBody>
          <a:bodyPr wrap="square" lIns="45720" tIns="27432" rIns="45720" bIns="27432"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GB" sz="900" noProof="0" dirty="0">
                <a:solidFill>
                  <a:srgbClr val="6B7280"/>
                </a:solidFill>
                <a:latin typeface="Aptos"/>
              </a:rPr>
              <a:t>DAFWCF: lost-time cases × 10^6/ HHT</a:t>
            </a:r>
            <a:endParaRPr lang="en-GB" sz="900" b="0" i="0" noProof="0" dirty="0">
              <a:solidFill>
                <a:srgbClr val="6B7280"/>
              </a:solidFill>
              <a:latin typeface="Aptos"/>
            </a:endParaRPr>
          </a:p>
          <a:p>
            <a:pPr algn="l"/>
            <a:r>
              <a:rPr lang="en-GB" sz="900" b="0" i="0" noProof="0" dirty="0">
                <a:solidFill>
                  <a:srgbClr val="6B7280"/>
                </a:solidFill>
                <a:latin typeface="Aptos"/>
              </a:rPr>
              <a:t>TRICF: recordable cases (FAT + DAFWC + MTC + RWC) × 10^6 / HHT </a:t>
            </a:r>
            <a:endParaRPr lang="en-GB" sz="900" noProof="0" dirty="0">
              <a:solidFill>
                <a:srgbClr val="6B7280"/>
              </a:solidFill>
              <a:latin typeface="Aptos"/>
            </a:endParaRPr>
          </a:p>
          <a:p>
            <a:pPr algn="l"/>
            <a:r>
              <a:rPr lang="en-GB" sz="900" b="0" i="0" noProof="0" dirty="0">
                <a:solidFill>
                  <a:srgbClr val="6B7280"/>
                </a:solidFill>
                <a:latin typeface="Aptos"/>
              </a:rPr>
              <a:t>TVCR</a:t>
            </a:r>
            <a:r>
              <a:rPr lang="en-GB" sz="900" noProof="0" dirty="0">
                <a:solidFill>
                  <a:srgbClr val="6B7280"/>
                </a:solidFill>
                <a:latin typeface="Aptos"/>
              </a:rPr>
              <a:t>: </a:t>
            </a:r>
            <a:r>
              <a:rPr lang="en-GB" sz="900" b="0" i="0" noProof="0" dirty="0">
                <a:solidFill>
                  <a:srgbClr val="6B7280"/>
                </a:solidFill>
                <a:latin typeface="Aptos"/>
              </a:rPr>
              <a:t>Total Number of Work-Related Vehicle Accidents per Million Kilometres Travelled (× 10^6 / km travelled)</a:t>
            </a:r>
          </a:p>
        </p:txBody>
      </p:sp>
      <p:sp>
        <p:nvSpPr>
          <p:cNvPr id="350" name="TextBox 349"/>
          <p:cNvSpPr txBox="1"/>
          <p:nvPr/>
        </p:nvSpPr>
        <p:spPr>
          <a:xfrm>
            <a:off x="8595360" y="6556248"/>
            <a:ext cx="274320" cy="201168"/>
          </a:xfrm>
          <a:prstGeom prst="rect">
            <a:avLst/>
          </a:prstGeom>
          <a:noFill/>
        </p:spPr>
        <p:txBody>
          <a:bodyPr wrap="square" lIns="18288" rIns="18288" tIns="0" bIns="0">
            <a:spAutoFit/>
          </a:bodyPr>
          <a:lstStyle/>
          <a:p>
            <a:pPr algn="r">
              <a:spcAft>
                <a:spcPts val="500"/>
              </a:spcAft>
              <a:defRPr sz="800" b="0">
                <a:solidFill>
                  <a:srgbClr val="68717D"/>
                </a:solidFill>
                <a:latin typeface="DejaVu Sans"/>
              </a:defRPr>
            </a:pPr>
            <a:r>
              <a:t>3</a:t>
            </a:r>
          </a:p>
        </p:txBody>
      </p:sp>
    </p:spTree>
    <p:extLst>
      <p:ext uri="{BB962C8B-B14F-4D97-AF65-F5344CB8AC3E}">
        <p14:creationId xmlns:p14="http://schemas.microsoft.com/office/powerpoint/2010/main" val="39575924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D38ED5-2A35-C47E-F74B-7BE91112C7E3}"/>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E0F0ACF1-FB3B-891E-E4C9-CEDACE965B70}"/>
              </a:ext>
            </a:extLst>
          </p:cNvPr>
          <p:cNvSpPr/>
          <p:nvPr/>
        </p:nvSpPr>
        <p:spPr>
          <a:xfrm>
            <a:off x="0" y="0"/>
            <a:ext cx="9144000" cy="7065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9" name="Título 1">
            <a:extLst>
              <a:ext uri="{FF2B5EF4-FFF2-40B4-BE49-F238E27FC236}">
                <a16:creationId xmlns:a16="http://schemas.microsoft.com/office/drawing/2014/main" id="{2C399A2C-904E-A0D7-BF10-0536804170B1}"/>
              </a:ext>
            </a:extLst>
          </p:cNvPr>
          <p:cNvSpPr txBox="1">
            <a:spLocks/>
          </p:cNvSpPr>
          <p:nvPr/>
        </p:nvSpPr>
        <p:spPr>
          <a:xfrm>
            <a:off x="179509" y="142504"/>
            <a:ext cx="7364291" cy="79006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1800" b="1" noProof="0" dirty="0">
                <a:solidFill>
                  <a:srgbClr val="013EF5"/>
                </a:solidFill>
                <a:latin typeface="Aptos" panose="020B0004020202020204" pitchFamily="34" charset="0"/>
              </a:rPr>
              <a:t>1.</a:t>
            </a:r>
            <a:r>
              <a:rPr lang="en-GB" sz="1800" b="1" dirty="0">
                <a:solidFill>
                  <a:srgbClr val="013EF5"/>
                </a:solidFill>
                <a:latin typeface="Aptos" panose="020B0004020202020204" pitchFamily="34" charset="0"/>
              </a:rPr>
              <a:t>1</a:t>
            </a:r>
            <a:r>
              <a:rPr lang="en-GB" sz="1800" b="1" spc="100" noProof="0" dirty="0">
                <a:solidFill>
                  <a:srgbClr val="013EF5"/>
                </a:solidFill>
                <a:latin typeface="Aptos" panose="020B0004020202020204" pitchFamily="34" charset="0"/>
              </a:rPr>
              <a:t> &gt; DEDICATED GAS PIPELINE UPDATE </a:t>
            </a:r>
            <a:r>
              <a:rPr lang="en-GB" sz="1800" spc="100" noProof="0" dirty="0">
                <a:solidFill>
                  <a:srgbClr val="013EF5"/>
                </a:solidFill>
                <a:latin typeface="Aptos Light" panose="020B0004020202020204" pitchFamily="34" charset="0"/>
              </a:rPr>
              <a:t>&gt; HSE Indicators</a:t>
            </a:r>
          </a:p>
          <a:p>
            <a:pPr algn="l"/>
            <a:endParaRPr lang="en-GB" sz="2400" b="1" noProof="0" dirty="0">
              <a:solidFill>
                <a:srgbClr val="789AF8"/>
              </a:solidFill>
              <a:latin typeface="Calibri" pitchFamily="34" charset="0"/>
            </a:endParaRPr>
          </a:p>
        </p:txBody>
      </p:sp>
      <p:pic>
        <p:nvPicPr>
          <p:cNvPr id="11" name="Imagen 10">
            <a:extLst>
              <a:ext uri="{FF2B5EF4-FFF2-40B4-BE49-F238E27FC236}">
                <a16:creationId xmlns:a16="http://schemas.microsoft.com/office/drawing/2014/main" id="{B890EEC0-89A1-F0FA-6F0E-CA480F8EF46C}"/>
              </a:ext>
            </a:extLst>
          </p:cNvPr>
          <p:cNvPicPr>
            <a:picLocks noChangeAspect="1"/>
          </p:cNvPicPr>
          <p:nvPr/>
        </p:nvPicPr>
        <p:blipFill rotWithShape="1">
          <a:blip r:embed="rId2"/>
          <a:srcRect t="-1" r="54800" b="49955"/>
          <a:stretch/>
        </p:blipFill>
        <p:spPr>
          <a:xfrm>
            <a:off x="8549908" y="117682"/>
            <a:ext cx="274715" cy="232529"/>
          </a:xfrm>
          <a:prstGeom prst="rect">
            <a:avLst/>
          </a:prstGeom>
        </p:spPr>
      </p:pic>
      <p:sp>
        <p:nvSpPr>
          <p:cNvPr id="12" name="CuadroTexto 11">
            <a:extLst>
              <a:ext uri="{FF2B5EF4-FFF2-40B4-BE49-F238E27FC236}">
                <a16:creationId xmlns:a16="http://schemas.microsoft.com/office/drawing/2014/main" id="{8B51CD8C-DB5F-892A-4B92-E56F0244E354}"/>
              </a:ext>
            </a:extLst>
          </p:cNvPr>
          <p:cNvSpPr txBox="1"/>
          <p:nvPr/>
        </p:nvSpPr>
        <p:spPr>
          <a:xfrm>
            <a:off x="8231453" y="321314"/>
            <a:ext cx="1151431" cy="215444"/>
          </a:xfrm>
          <a:prstGeom prst="rect">
            <a:avLst/>
          </a:prstGeom>
          <a:noFill/>
        </p:spPr>
        <p:txBody>
          <a:bodyPr wrap="square" rtlCol="0">
            <a:spAutoFit/>
          </a:bodyPr>
          <a:lstStyle/>
          <a:p>
            <a:r>
              <a:rPr lang="en-GB" sz="800" spc="100" noProof="0" dirty="0">
                <a:solidFill>
                  <a:srgbClr val="FF0000"/>
                </a:solidFill>
                <a:latin typeface="Aptos Display" panose="020B0004020202020204" pitchFamily="34" charset="0"/>
              </a:rPr>
              <a:t>CONFIDENTIAL</a:t>
            </a:r>
          </a:p>
        </p:txBody>
      </p:sp>
      <p:sp>
        <p:nvSpPr>
          <p:cNvPr id="3" name="TextBox 12">
            <a:extLst>
              <a:ext uri="{FF2B5EF4-FFF2-40B4-BE49-F238E27FC236}">
                <a16:creationId xmlns:a16="http://schemas.microsoft.com/office/drawing/2014/main" id="{D331F57A-9A15-C454-D3CA-8567336261AB}"/>
              </a:ext>
            </a:extLst>
          </p:cNvPr>
          <p:cNvSpPr txBox="1"/>
          <p:nvPr/>
        </p:nvSpPr>
        <p:spPr>
          <a:xfrm>
            <a:off x="381000" y="794689"/>
            <a:ext cx="2788920" cy="274320"/>
          </a:xfrm>
          <a:prstGeom prst="rect">
            <a:avLst/>
          </a:prstGeom>
          <a:noFill/>
        </p:spPr>
        <p:txBody>
          <a:bodyPr wrap="square" lIns="45720" tIns="27432" rIns="45720" bIns="27432" anchor="t">
            <a:spAutoFit/>
          </a:bodyPr>
          <a:lstStyle/>
          <a:p>
            <a:pPr algn="ctr"/>
            <a:r>
              <a:rPr lang="en-GB" sz="1100" b="1" i="0" noProof="0" dirty="0">
                <a:solidFill>
                  <a:srgbClr val="013EF5"/>
                </a:solidFill>
                <a:latin typeface="Aptos"/>
              </a:rPr>
              <a:t>MANAGEMENT SAFETY WALKS</a:t>
            </a:r>
          </a:p>
        </p:txBody>
      </p:sp>
      <p:graphicFrame>
        <p:nvGraphicFramePr>
          <p:cNvPr id="5" name="Chart 13" descr="Native chart with editable data">
            <a:extLst>
              <a:ext uri="{FF2B5EF4-FFF2-40B4-BE49-F238E27FC236}">
                <a16:creationId xmlns:a16="http://schemas.microsoft.com/office/drawing/2014/main" id="{58695AB8-7231-6436-3DC9-A4E24AC3422D}"/>
              </a:ext>
            </a:extLst>
          </p:cNvPr>
          <p:cNvGraphicFramePr>
            <a:graphicFrameLocks noGrp="1"/>
          </p:cNvGraphicFramePr>
          <p:nvPr>
            <p:extLst>
              <p:ext uri="{D42A27DB-BD31-4B8C-83A1-F6EECF244321}">
                <p14:modId xmlns:p14="http://schemas.microsoft.com/office/powerpoint/2010/main" val="2515025762"/>
              </p:ext>
            </p:extLst>
          </p:nvPr>
        </p:nvGraphicFramePr>
        <p:xfrm>
          <a:off x="381000" y="1069009"/>
          <a:ext cx="2788920" cy="2377440"/>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Box 14">
            <a:extLst>
              <a:ext uri="{FF2B5EF4-FFF2-40B4-BE49-F238E27FC236}">
                <a16:creationId xmlns:a16="http://schemas.microsoft.com/office/drawing/2014/main" id="{4E51F267-2167-17BA-09B8-2867DB5CA5C9}"/>
              </a:ext>
            </a:extLst>
          </p:cNvPr>
          <p:cNvSpPr txBox="1"/>
          <p:nvPr/>
        </p:nvSpPr>
        <p:spPr>
          <a:xfrm>
            <a:off x="3307079" y="794689"/>
            <a:ext cx="2788920" cy="274320"/>
          </a:xfrm>
          <a:prstGeom prst="rect">
            <a:avLst/>
          </a:prstGeom>
          <a:noFill/>
        </p:spPr>
        <p:txBody>
          <a:bodyPr wrap="square" lIns="45720" tIns="27432" rIns="45720" bIns="27432" anchor="t">
            <a:spAutoFit/>
          </a:bodyPr>
          <a:lstStyle/>
          <a:p>
            <a:pPr algn="ctr"/>
            <a:r>
              <a:rPr lang="en-GB" sz="1100" b="1" i="0" noProof="0" dirty="0">
                <a:solidFill>
                  <a:srgbClr val="013EF5"/>
                </a:solidFill>
                <a:latin typeface="Aptos"/>
              </a:rPr>
              <a:t>SAFETY CAMPAIGNS</a:t>
            </a:r>
          </a:p>
        </p:txBody>
      </p:sp>
      <p:graphicFrame>
        <p:nvGraphicFramePr>
          <p:cNvPr id="14" name="Chart 15" descr="Native chart with editable data">
            <a:extLst>
              <a:ext uri="{FF2B5EF4-FFF2-40B4-BE49-F238E27FC236}">
                <a16:creationId xmlns:a16="http://schemas.microsoft.com/office/drawing/2014/main" id="{A2C96C3B-8CCB-D124-6DE7-9AAAFF435F4F}"/>
              </a:ext>
            </a:extLst>
          </p:cNvPr>
          <p:cNvGraphicFramePr>
            <a:graphicFrameLocks noGrp="1"/>
          </p:cNvGraphicFramePr>
          <p:nvPr>
            <p:extLst>
              <p:ext uri="{D42A27DB-BD31-4B8C-83A1-F6EECF244321}">
                <p14:modId xmlns:p14="http://schemas.microsoft.com/office/powerpoint/2010/main" val="2970168164"/>
              </p:ext>
            </p:extLst>
          </p:nvPr>
        </p:nvGraphicFramePr>
        <p:xfrm>
          <a:off x="3307079" y="1069009"/>
          <a:ext cx="2788920" cy="2377440"/>
        </p:xfrm>
        <a:graphic>
          <a:graphicData uri="http://schemas.openxmlformats.org/drawingml/2006/chart">
            <c:chart xmlns:c="http://schemas.openxmlformats.org/drawingml/2006/chart" xmlns:r="http://schemas.openxmlformats.org/officeDocument/2006/relationships" r:id="rId4"/>
          </a:graphicData>
        </a:graphic>
      </p:graphicFrame>
      <p:sp>
        <p:nvSpPr>
          <p:cNvPr id="16" name="TextBox 16">
            <a:extLst>
              <a:ext uri="{FF2B5EF4-FFF2-40B4-BE49-F238E27FC236}">
                <a16:creationId xmlns:a16="http://schemas.microsoft.com/office/drawing/2014/main" id="{EC91F0D6-1FA5-AF68-0011-D723FD9AA1E0}"/>
              </a:ext>
            </a:extLst>
          </p:cNvPr>
          <p:cNvSpPr txBox="1"/>
          <p:nvPr/>
        </p:nvSpPr>
        <p:spPr>
          <a:xfrm>
            <a:off x="6233159" y="794689"/>
            <a:ext cx="2788920" cy="274320"/>
          </a:xfrm>
          <a:prstGeom prst="rect">
            <a:avLst/>
          </a:prstGeom>
          <a:noFill/>
        </p:spPr>
        <p:txBody>
          <a:bodyPr wrap="square" lIns="45720" tIns="27432" rIns="45720" bIns="27432" anchor="t">
            <a:spAutoFit/>
          </a:bodyPr>
          <a:lstStyle/>
          <a:p>
            <a:pPr algn="ctr"/>
            <a:r>
              <a:rPr lang="en-GB" sz="1100" b="1" i="0" noProof="0" dirty="0">
                <a:solidFill>
                  <a:srgbClr val="013EF5"/>
                </a:solidFill>
                <a:latin typeface="Aptos"/>
              </a:rPr>
              <a:t>DRILLS · target 100%</a:t>
            </a:r>
          </a:p>
        </p:txBody>
      </p:sp>
      <p:graphicFrame>
        <p:nvGraphicFramePr>
          <p:cNvPr id="18" name="Chart 17" descr="Native chart with editable data">
            <a:extLst>
              <a:ext uri="{FF2B5EF4-FFF2-40B4-BE49-F238E27FC236}">
                <a16:creationId xmlns:a16="http://schemas.microsoft.com/office/drawing/2014/main" id="{7EB08AF2-ABD5-EE61-7AC8-436EB8ACDEB1}"/>
              </a:ext>
            </a:extLst>
          </p:cNvPr>
          <p:cNvGraphicFramePr>
            <a:graphicFrameLocks noGrp="1"/>
          </p:cNvGraphicFramePr>
          <p:nvPr>
            <p:extLst>
              <p:ext uri="{D42A27DB-BD31-4B8C-83A1-F6EECF244321}">
                <p14:modId xmlns:p14="http://schemas.microsoft.com/office/powerpoint/2010/main" val="488043886"/>
              </p:ext>
            </p:extLst>
          </p:nvPr>
        </p:nvGraphicFramePr>
        <p:xfrm>
          <a:off x="6233159" y="1069009"/>
          <a:ext cx="2788920" cy="2377440"/>
        </p:xfrm>
        <a:graphic>
          <a:graphicData uri="http://schemas.openxmlformats.org/drawingml/2006/chart">
            <c:chart xmlns:c="http://schemas.openxmlformats.org/drawingml/2006/chart" xmlns:r="http://schemas.openxmlformats.org/officeDocument/2006/relationships" r:id="rId5"/>
          </a:graphicData>
        </a:graphic>
      </p:graphicFrame>
      <p:sp>
        <p:nvSpPr>
          <p:cNvPr id="20" name="TextBox 18">
            <a:extLst>
              <a:ext uri="{FF2B5EF4-FFF2-40B4-BE49-F238E27FC236}">
                <a16:creationId xmlns:a16="http://schemas.microsoft.com/office/drawing/2014/main" id="{61D18694-D4DC-230D-C61D-8C54A37D213A}"/>
              </a:ext>
            </a:extLst>
          </p:cNvPr>
          <p:cNvSpPr txBox="1"/>
          <p:nvPr/>
        </p:nvSpPr>
        <p:spPr>
          <a:xfrm>
            <a:off x="381000" y="3537889"/>
            <a:ext cx="2788920" cy="274320"/>
          </a:xfrm>
          <a:prstGeom prst="rect">
            <a:avLst/>
          </a:prstGeom>
          <a:noFill/>
        </p:spPr>
        <p:txBody>
          <a:bodyPr wrap="square" lIns="45720" tIns="27432" rIns="45720" bIns="27432" anchor="t">
            <a:spAutoFit/>
          </a:bodyPr>
          <a:lstStyle/>
          <a:p>
            <a:pPr algn="ctr"/>
            <a:r>
              <a:rPr lang="en-GB" sz="1100" b="1" i="0" noProof="0" dirty="0">
                <a:solidFill>
                  <a:srgbClr val="013EF5"/>
                </a:solidFill>
                <a:latin typeface="Aptos"/>
              </a:rPr>
              <a:t>OBSERVATIONS (OCS)</a:t>
            </a:r>
          </a:p>
        </p:txBody>
      </p:sp>
      <p:graphicFrame>
        <p:nvGraphicFramePr>
          <p:cNvPr id="22" name="Chart 19" descr="Native chart with editable data">
            <a:extLst>
              <a:ext uri="{FF2B5EF4-FFF2-40B4-BE49-F238E27FC236}">
                <a16:creationId xmlns:a16="http://schemas.microsoft.com/office/drawing/2014/main" id="{2658C3DD-B27F-8480-D031-139285FA1F4B}"/>
              </a:ext>
            </a:extLst>
          </p:cNvPr>
          <p:cNvGraphicFramePr>
            <a:graphicFrameLocks noGrp="1"/>
          </p:cNvGraphicFramePr>
          <p:nvPr>
            <p:extLst>
              <p:ext uri="{D42A27DB-BD31-4B8C-83A1-F6EECF244321}">
                <p14:modId xmlns:p14="http://schemas.microsoft.com/office/powerpoint/2010/main" val="1923445622"/>
              </p:ext>
            </p:extLst>
          </p:nvPr>
        </p:nvGraphicFramePr>
        <p:xfrm>
          <a:off x="381000" y="3812209"/>
          <a:ext cx="2788920" cy="2377440"/>
        </p:xfrm>
        <a:graphic>
          <a:graphicData uri="http://schemas.openxmlformats.org/drawingml/2006/chart">
            <c:chart xmlns:c="http://schemas.openxmlformats.org/drawingml/2006/chart" xmlns:r="http://schemas.openxmlformats.org/officeDocument/2006/relationships" r:id="rId6"/>
          </a:graphicData>
        </a:graphic>
      </p:graphicFrame>
      <p:sp>
        <p:nvSpPr>
          <p:cNvPr id="24" name="TextBox 20">
            <a:extLst>
              <a:ext uri="{FF2B5EF4-FFF2-40B4-BE49-F238E27FC236}">
                <a16:creationId xmlns:a16="http://schemas.microsoft.com/office/drawing/2014/main" id="{0152E4B8-96E8-1C68-8836-B7FCFFCF783C}"/>
              </a:ext>
            </a:extLst>
          </p:cNvPr>
          <p:cNvSpPr txBox="1"/>
          <p:nvPr/>
        </p:nvSpPr>
        <p:spPr>
          <a:xfrm>
            <a:off x="3307079" y="3537889"/>
            <a:ext cx="2788920" cy="274320"/>
          </a:xfrm>
          <a:prstGeom prst="rect">
            <a:avLst/>
          </a:prstGeom>
          <a:noFill/>
        </p:spPr>
        <p:txBody>
          <a:bodyPr wrap="square" lIns="45720" tIns="27432" rIns="45720" bIns="27432" anchor="t">
            <a:spAutoFit/>
          </a:bodyPr>
          <a:lstStyle/>
          <a:p>
            <a:pPr algn="ctr"/>
            <a:r>
              <a:rPr lang="en-GB" sz="1100" b="1" i="0" noProof="0" dirty="0">
                <a:solidFill>
                  <a:srgbClr val="013EF5"/>
                </a:solidFill>
                <a:latin typeface="Aptos"/>
              </a:rPr>
              <a:t>TRAINING HOURS (HHS)</a:t>
            </a:r>
          </a:p>
        </p:txBody>
      </p:sp>
      <p:graphicFrame>
        <p:nvGraphicFramePr>
          <p:cNvPr id="26" name="Chart 21" descr="Native chart with editable data">
            <a:extLst>
              <a:ext uri="{FF2B5EF4-FFF2-40B4-BE49-F238E27FC236}">
                <a16:creationId xmlns:a16="http://schemas.microsoft.com/office/drawing/2014/main" id="{BCB62A62-0DB2-A0BC-09BE-6982A6BCC40D}"/>
              </a:ext>
            </a:extLst>
          </p:cNvPr>
          <p:cNvGraphicFramePr>
            <a:graphicFrameLocks noGrp="1"/>
          </p:cNvGraphicFramePr>
          <p:nvPr>
            <p:extLst>
              <p:ext uri="{D42A27DB-BD31-4B8C-83A1-F6EECF244321}">
                <p14:modId xmlns:p14="http://schemas.microsoft.com/office/powerpoint/2010/main" val="277859523"/>
              </p:ext>
            </p:extLst>
          </p:nvPr>
        </p:nvGraphicFramePr>
        <p:xfrm>
          <a:off x="3307079" y="3812209"/>
          <a:ext cx="2788920" cy="2377440"/>
        </p:xfrm>
        <a:graphic>
          <a:graphicData uri="http://schemas.openxmlformats.org/drawingml/2006/chart">
            <c:chart xmlns:c="http://schemas.openxmlformats.org/drawingml/2006/chart" xmlns:r="http://schemas.openxmlformats.org/officeDocument/2006/relationships" r:id="rId7"/>
          </a:graphicData>
        </a:graphic>
      </p:graphicFrame>
      <p:sp>
        <p:nvSpPr>
          <p:cNvPr id="28" name="TextBox 22">
            <a:extLst>
              <a:ext uri="{FF2B5EF4-FFF2-40B4-BE49-F238E27FC236}">
                <a16:creationId xmlns:a16="http://schemas.microsoft.com/office/drawing/2014/main" id="{C6961150-A039-40B7-E722-68CC2881593A}"/>
              </a:ext>
            </a:extLst>
          </p:cNvPr>
          <p:cNvSpPr txBox="1"/>
          <p:nvPr/>
        </p:nvSpPr>
        <p:spPr>
          <a:xfrm>
            <a:off x="6233159" y="3537889"/>
            <a:ext cx="2788920" cy="274320"/>
          </a:xfrm>
          <a:prstGeom prst="rect">
            <a:avLst/>
          </a:prstGeom>
          <a:noFill/>
        </p:spPr>
        <p:txBody>
          <a:bodyPr wrap="square" lIns="45720" tIns="27432" rIns="45720" bIns="27432" anchor="t">
            <a:spAutoFit/>
          </a:bodyPr>
          <a:lstStyle/>
          <a:p>
            <a:pPr algn="ctr"/>
            <a:r>
              <a:rPr lang="en-GB" sz="1100" b="1" i="0" noProof="0" dirty="0">
                <a:solidFill>
                  <a:srgbClr val="013EF5"/>
                </a:solidFill>
                <a:latin typeface="Aptos"/>
              </a:rPr>
              <a:t>TRAINING · OCTOBER</a:t>
            </a:r>
          </a:p>
        </p:txBody>
      </p:sp>
      <p:sp>
        <p:nvSpPr>
          <p:cNvPr id="30" name="Rectangle 23">
            <a:extLst>
              <a:ext uri="{FF2B5EF4-FFF2-40B4-BE49-F238E27FC236}">
                <a16:creationId xmlns:a16="http://schemas.microsoft.com/office/drawing/2014/main" id="{C37A13CB-74CB-D27A-FB82-99353280DAC7}"/>
              </a:ext>
            </a:extLst>
          </p:cNvPr>
          <p:cNvSpPr/>
          <p:nvPr/>
        </p:nvSpPr>
        <p:spPr>
          <a:xfrm>
            <a:off x="6233159" y="3949369"/>
            <a:ext cx="2788920" cy="105156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0" dirty="0"/>
          </a:p>
        </p:txBody>
      </p:sp>
      <p:sp>
        <p:nvSpPr>
          <p:cNvPr id="32" name="Rectangle 24">
            <a:extLst>
              <a:ext uri="{FF2B5EF4-FFF2-40B4-BE49-F238E27FC236}">
                <a16:creationId xmlns:a16="http://schemas.microsoft.com/office/drawing/2014/main" id="{F3BB9DD9-0402-2C9F-53F9-2AC98391C00E}"/>
              </a:ext>
            </a:extLst>
          </p:cNvPr>
          <p:cNvSpPr/>
          <p:nvPr/>
        </p:nvSpPr>
        <p:spPr>
          <a:xfrm>
            <a:off x="6233159" y="3949369"/>
            <a:ext cx="54864" cy="1051560"/>
          </a:xfrm>
          <a:prstGeom prst="rect">
            <a:avLst/>
          </a:prstGeom>
          <a:solidFill>
            <a:srgbClr val="013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0" dirty="0"/>
          </a:p>
        </p:txBody>
      </p:sp>
      <p:sp>
        <p:nvSpPr>
          <p:cNvPr id="34" name="TextBox 25">
            <a:extLst>
              <a:ext uri="{FF2B5EF4-FFF2-40B4-BE49-F238E27FC236}">
                <a16:creationId xmlns:a16="http://schemas.microsoft.com/office/drawing/2014/main" id="{1AF1B5D1-3AED-7700-77BB-1A8728F37FC4}"/>
              </a:ext>
            </a:extLst>
          </p:cNvPr>
          <p:cNvSpPr txBox="1"/>
          <p:nvPr/>
        </p:nvSpPr>
        <p:spPr>
          <a:xfrm>
            <a:off x="6324599" y="3976801"/>
            <a:ext cx="2651760" cy="228600"/>
          </a:xfrm>
          <a:prstGeom prst="rect">
            <a:avLst/>
          </a:prstGeom>
          <a:noFill/>
        </p:spPr>
        <p:txBody>
          <a:bodyPr wrap="square" lIns="45720" tIns="27432" rIns="45720" bIns="27432" anchor="t">
            <a:spAutoFit/>
          </a:bodyPr>
          <a:lstStyle/>
          <a:p>
            <a:pPr algn="l"/>
            <a:r>
              <a:rPr lang="en-GB" sz="900" b="1" i="0" noProof="0" dirty="0">
                <a:solidFill>
                  <a:srgbClr val="6B7280"/>
                </a:solidFill>
                <a:latin typeface="Aptos"/>
              </a:rPr>
              <a:t>Training % vs HHT</a:t>
            </a:r>
          </a:p>
        </p:txBody>
      </p:sp>
      <p:sp>
        <p:nvSpPr>
          <p:cNvPr id="36" name="TextBox 26">
            <a:extLst>
              <a:ext uri="{FF2B5EF4-FFF2-40B4-BE49-F238E27FC236}">
                <a16:creationId xmlns:a16="http://schemas.microsoft.com/office/drawing/2014/main" id="{9A268931-9A9F-7C40-6181-4C5A865CFCF7}"/>
              </a:ext>
            </a:extLst>
          </p:cNvPr>
          <p:cNvSpPr txBox="1"/>
          <p:nvPr/>
        </p:nvSpPr>
        <p:spPr>
          <a:xfrm>
            <a:off x="6324599" y="4196257"/>
            <a:ext cx="2651760" cy="457200"/>
          </a:xfrm>
          <a:prstGeom prst="rect">
            <a:avLst/>
          </a:prstGeom>
          <a:noFill/>
        </p:spPr>
        <p:txBody>
          <a:bodyPr wrap="square" lIns="45720" tIns="27432" rIns="45720" bIns="27432" anchor="t">
            <a:spAutoFit/>
          </a:bodyPr>
          <a:lstStyle/>
          <a:p>
            <a:pPr algn="l"/>
            <a:r>
              <a:rPr lang="en-GB" sz="2800" b="1" i="0" noProof="0" dirty="0">
                <a:solidFill>
                  <a:srgbClr val="FF0000"/>
                </a:solidFill>
                <a:latin typeface="Aptos"/>
              </a:rPr>
              <a:t>Pending</a:t>
            </a:r>
          </a:p>
        </p:txBody>
      </p:sp>
      <p:sp>
        <p:nvSpPr>
          <p:cNvPr id="38" name="TextBox 27">
            <a:extLst>
              <a:ext uri="{FF2B5EF4-FFF2-40B4-BE49-F238E27FC236}">
                <a16:creationId xmlns:a16="http://schemas.microsoft.com/office/drawing/2014/main" id="{82622D5F-AA6B-F48D-A8DA-9A5F4218E01E}"/>
              </a:ext>
            </a:extLst>
          </p:cNvPr>
          <p:cNvSpPr txBox="1"/>
          <p:nvPr/>
        </p:nvSpPr>
        <p:spPr>
          <a:xfrm>
            <a:off x="6324599" y="4635168"/>
            <a:ext cx="2651760" cy="347472"/>
          </a:xfrm>
          <a:prstGeom prst="rect">
            <a:avLst/>
          </a:prstGeom>
          <a:noFill/>
        </p:spPr>
        <p:txBody>
          <a:bodyPr wrap="square" lIns="45720" tIns="27432" rIns="45720" bIns="27432" anchor="t">
            <a:spAutoFit/>
          </a:bodyPr>
          <a:lstStyle/>
          <a:p>
            <a:pPr algn="l"/>
            <a:r>
              <a:rPr lang="en-GB" sz="800" b="0" i="0" noProof="0" dirty="0">
                <a:solidFill>
                  <a:srgbClr val="6B7280"/>
                </a:solidFill>
                <a:latin typeface="Aptos"/>
              </a:rPr>
              <a:t>HHS / HHT · CP + Pipeline · target ≥ 1%</a:t>
            </a:r>
          </a:p>
        </p:txBody>
      </p:sp>
      <p:sp>
        <p:nvSpPr>
          <p:cNvPr id="39" name="TextBox 38"/>
          <p:cNvSpPr txBox="1"/>
          <p:nvPr/>
        </p:nvSpPr>
        <p:spPr>
          <a:xfrm>
            <a:off x="3474720" y="6601968"/>
            <a:ext cx="4389120" cy="155448"/>
          </a:xfrm>
          <a:prstGeom prst="rect">
            <a:avLst/>
          </a:prstGeom>
          <a:noFill/>
        </p:spPr>
        <p:txBody>
          <a:bodyPr wrap="square" lIns="18288" rIns="18288" tIns="0" bIns="0">
            <a:spAutoFit/>
          </a:bodyPr>
          <a:lstStyle/>
          <a:p>
            <a:pPr>
              <a:spcAft>
                <a:spcPts val="500"/>
              </a:spcAft>
              <a:defRPr sz="650" b="0">
                <a:solidFill>
                  <a:srgbClr val="68717D"/>
                </a:solidFill>
                <a:latin typeface="DejaVu Sans"/>
              </a:defRPr>
            </a:pPr>
            <a:r>
              <a:t>WORKING DRAFT · October topics pending</a:t>
            </a:r>
          </a:p>
        </p:txBody>
      </p:sp>
      <p:sp>
        <p:nvSpPr>
          <p:cNvPr id="40" name="TextBox 39"/>
          <p:cNvSpPr txBox="1"/>
          <p:nvPr/>
        </p:nvSpPr>
        <p:spPr>
          <a:xfrm>
            <a:off x="8595360" y="6556248"/>
            <a:ext cx="274320" cy="201168"/>
          </a:xfrm>
          <a:prstGeom prst="rect">
            <a:avLst/>
          </a:prstGeom>
          <a:noFill/>
        </p:spPr>
        <p:txBody>
          <a:bodyPr wrap="square" lIns="18288" rIns="18288" tIns="0" bIns="0">
            <a:spAutoFit/>
          </a:bodyPr>
          <a:lstStyle/>
          <a:p>
            <a:pPr algn="r">
              <a:spcAft>
                <a:spcPts val="500"/>
              </a:spcAft>
              <a:defRPr sz="800" b="0">
                <a:solidFill>
                  <a:srgbClr val="68717D"/>
                </a:solidFill>
                <a:latin typeface="DejaVu Sans"/>
              </a:defRPr>
            </a:pPr>
            <a:r>
              <a:t>4</a:t>
            </a:r>
          </a:p>
        </p:txBody>
      </p:sp>
    </p:spTree>
    <p:extLst>
      <p:ext uri="{BB962C8B-B14F-4D97-AF65-F5344CB8AC3E}">
        <p14:creationId xmlns:p14="http://schemas.microsoft.com/office/powerpoint/2010/main" val="29715879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FE4C4-C439-3D4B-2810-5ED122F8B3EA}"/>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15A9C003-D100-0547-6B7A-5AA415611A58}"/>
              </a:ext>
            </a:extLst>
          </p:cNvPr>
          <p:cNvSpPr/>
          <p:nvPr/>
        </p:nvSpPr>
        <p:spPr>
          <a:xfrm>
            <a:off x="0" y="0"/>
            <a:ext cx="9144000" cy="7065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pic>
        <p:nvPicPr>
          <p:cNvPr id="11" name="Imagen 10">
            <a:extLst>
              <a:ext uri="{FF2B5EF4-FFF2-40B4-BE49-F238E27FC236}">
                <a16:creationId xmlns:a16="http://schemas.microsoft.com/office/drawing/2014/main" id="{F02F9B62-976C-B014-89B9-25FEB972B836}"/>
              </a:ext>
            </a:extLst>
          </p:cNvPr>
          <p:cNvPicPr>
            <a:picLocks noChangeAspect="1"/>
          </p:cNvPicPr>
          <p:nvPr/>
        </p:nvPicPr>
        <p:blipFill rotWithShape="1">
          <a:blip r:embed="rId2"/>
          <a:srcRect t="-1" r="54800" b="49955"/>
          <a:stretch/>
        </p:blipFill>
        <p:spPr>
          <a:xfrm>
            <a:off x="8549908" y="117682"/>
            <a:ext cx="274715" cy="232529"/>
          </a:xfrm>
          <a:prstGeom prst="rect">
            <a:avLst/>
          </a:prstGeom>
        </p:spPr>
      </p:pic>
      <p:sp>
        <p:nvSpPr>
          <p:cNvPr id="12" name="CuadroTexto 11">
            <a:extLst>
              <a:ext uri="{FF2B5EF4-FFF2-40B4-BE49-F238E27FC236}">
                <a16:creationId xmlns:a16="http://schemas.microsoft.com/office/drawing/2014/main" id="{8F84B6E9-B53A-F075-C423-0D04140F6B47}"/>
              </a:ext>
            </a:extLst>
          </p:cNvPr>
          <p:cNvSpPr txBox="1"/>
          <p:nvPr/>
        </p:nvSpPr>
        <p:spPr>
          <a:xfrm>
            <a:off x="8231453" y="321314"/>
            <a:ext cx="1151431" cy="215444"/>
          </a:xfrm>
          <a:prstGeom prst="rect">
            <a:avLst/>
          </a:prstGeom>
          <a:noFill/>
        </p:spPr>
        <p:txBody>
          <a:bodyPr wrap="square" rtlCol="0">
            <a:spAutoFit/>
          </a:bodyPr>
          <a:lstStyle/>
          <a:p>
            <a:r>
              <a:rPr lang="en-GB" sz="800" spc="100" noProof="0" dirty="0">
                <a:solidFill>
                  <a:srgbClr val="FF0000"/>
                </a:solidFill>
                <a:latin typeface="Aptos Display" panose="020B0004020202020204" pitchFamily="34" charset="0"/>
              </a:rPr>
              <a:t>CONFIDENTIAL</a:t>
            </a:r>
          </a:p>
        </p:txBody>
      </p:sp>
      <p:sp>
        <p:nvSpPr>
          <p:cNvPr id="3" name="Título 1">
            <a:extLst>
              <a:ext uri="{FF2B5EF4-FFF2-40B4-BE49-F238E27FC236}">
                <a16:creationId xmlns:a16="http://schemas.microsoft.com/office/drawing/2014/main" id="{77EE0D74-97B9-A6B2-82A2-11169427E4E5}"/>
              </a:ext>
            </a:extLst>
          </p:cNvPr>
          <p:cNvSpPr txBox="1">
            <a:spLocks/>
          </p:cNvSpPr>
          <p:nvPr/>
        </p:nvSpPr>
        <p:spPr>
          <a:xfrm>
            <a:off x="179509" y="142504"/>
            <a:ext cx="7364291" cy="79006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1800" b="1" noProof="0" dirty="0">
                <a:solidFill>
                  <a:srgbClr val="013EF5"/>
                </a:solidFill>
                <a:latin typeface="Aptos" panose="020B0004020202020204" pitchFamily="34" charset="0"/>
              </a:rPr>
              <a:t>3.0</a:t>
            </a:r>
            <a:r>
              <a:rPr lang="en-GB" sz="1800" b="1" spc="100" noProof="0" dirty="0">
                <a:solidFill>
                  <a:srgbClr val="013EF5"/>
                </a:solidFill>
                <a:latin typeface="Aptos" panose="020B0004020202020204" pitchFamily="34" charset="0"/>
              </a:rPr>
              <a:t> &gt; HELICOPTER SERVICE </a:t>
            </a:r>
            <a:r>
              <a:rPr lang="en-GB" sz="1800" spc="100" noProof="0" dirty="0">
                <a:solidFill>
                  <a:srgbClr val="013EF5"/>
                </a:solidFill>
                <a:latin typeface="Aptos Light" panose="020B0004020202020204" pitchFamily="34" charset="0"/>
              </a:rPr>
              <a:t>&gt; Proposal</a:t>
            </a:r>
          </a:p>
          <a:p>
            <a:pPr algn="l"/>
            <a:endParaRPr lang="en-GB" sz="2400" b="1" noProof="0" dirty="0">
              <a:solidFill>
                <a:srgbClr val="789AF8"/>
              </a:solidFill>
              <a:latin typeface="Calibri" pitchFamily="34" charset="0"/>
            </a:endParaRPr>
          </a:p>
        </p:txBody>
      </p:sp>
      <p:sp>
        <p:nvSpPr>
          <p:cNvPr id="2" name="7 CuadroTexto">
            <a:extLst>
              <a:ext uri="{FF2B5EF4-FFF2-40B4-BE49-F238E27FC236}">
                <a16:creationId xmlns:a16="http://schemas.microsoft.com/office/drawing/2014/main" id="{41DC0093-0619-195A-0939-F205290B900A}"/>
              </a:ext>
            </a:extLst>
          </p:cNvPr>
          <p:cNvSpPr txBox="1"/>
          <p:nvPr/>
        </p:nvSpPr>
        <p:spPr>
          <a:xfrm>
            <a:off x="438912" y="841248"/>
            <a:ext cx="8321040" cy="5532120"/>
          </a:xfrm>
          <a:prstGeom prst="rect">
            <a:avLst/>
          </a:prstGeom>
          <a:noFill/>
          <a:ln>
            <a:noFill/>
            <a:prstDash val="dash"/>
          </a:ln>
        </p:spPr>
        <p:txBody>
          <a:bodyPr wrap="square" rtlCol="0" anchor="t" tIns="0" bIns="0">
            <a:noAutofit/>
          </a:bodyPr>
          <a:lstStyle>
            <a:defPPr>
              <a:defRPr lang="en-US"/>
            </a:defPPr>
            <a:lvl1pPr marL="285750" indent="-285750">
              <a:lnSpc>
                <a:spcPct val="150000"/>
              </a:lnSpc>
              <a:buFont typeface="Arial" panose="020B0604020202020204" pitchFamily="34" charset="0"/>
              <a:buChar char="•"/>
              <a:defRPr sz="1600" b="1"/>
            </a:lvl1pPr>
            <a:lvl2pPr marL="742950" lvl="1" indent="-285750">
              <a:lnSpc>
                <a:spcPct val="150000"/>
              </a:lnSpc>
              <a:buFont typeface="Wingdings" panose="05000000000000000000" pitchFamily="2" charset="2"/>
              <a:buChar char="§"/>
              <a:defRPr sz="1400" b="1"/>
            </a:lvl2pPr>
            <a:lvl3pPr marL="1200150" lvl="2" indent="-285750">
              <a:lnSpc>
                <a:spcPct val="150000"/>
              </a:lnSpc>
              <a:buFont typeface="Wingdings" panose="05000000000000000000" pitchFamily="2" charset="2"/>
              <a:buChar char="ü"/>
              <a:defRPr sz="1400"/>
            </a:lvl3pPr>
          </a:lstStyle>
          <a:p>
            <a:pPr marL="190500" lvl="1" algn="just">
              <a:lnSpc>
                <a:spcPct val="100000"/>
              </a:lnSpc>
              <a:spcBef>
                <a:spcPts val="0"/>
              </a:spcBef>
              <a:spcAft>
                <a:spcPts val="100"/>
              </a:spcAft>
              <a:buClr>
                <a:srgbClr val="3709E1"/>
              </a:buClr>
              <a:buFont typeface="Arial" panose="020B0604020202020204" pitchFamily="34" charset="0"/>
              <a:buChar char="•"/>
              <a:defRPr/>
            </a:pPr>
            <a:r>
              <a:rPr lang="en-GB" sz="1040" noProof="0" dirty="0">
                <a:latin typeface="Aptos" panose="020B0004020202020204" pitchFamily="34" charset="0"/>
              </a:rPr>
              <a:t>Background: </a:t>
            </a:r>
          </a:p>
          <a:p>
            <a:pPr marL="647700" lvl="2" algn="just">
              <a:lnSpc>
                <a:spcPct val="100000"/>
              </a:lnSpc>
              <a:spcBef>
                <a:spcPts val="0"/>
              </a:spcBef>
              <a:spcAft>
                <a:spcPts val="100"/>
              </a:spcAft>
              <a:buClr>
                <a:srgbClr val="789AF8"/>
              </a:buClr>
              <a:buFont typeface="Courier New" panose="02070309020205020404" pitchFamily="49" charset="0"/>
              <a:buChar char="o"/>
            </a:pPr>
            <a:r>
              <a:rPr lang="en-GB" b="1" noProof="0" dirty="0" sz="1040">
                <a:latin typeface="Aptos" panose="020B0004020202020204" pitchFamily="34" charset="0"/>
              </a:rPr>
              <a:t>Vaca Muerta upstream major companies </a:t>
            </a:r>
            <a:r>
              <a:rPr lang="en-GB" noProof="0" dirty="0" sz="1040">
                <a:latin typeface="Aptos" panose="020B0004020202020204" pitchFamily="34" charset="0"/>
              </a:rPr>
              <a:t>(including PAE, YPF &amp; Pampa) have a contract with MODENA for the provision of its services which consists of having a helicopter available for use in the event of a medical emergency.</a:t>
            </a:r>
          </a:p>
          <a:p>
            <a:pPr marL="647700" lvl="2" algn="just">
              <a:lnSpc>
                <a:spcPct val="100000"/>
              </a:lnSpc>
              <a:spcBef>
                <a:spcPts val="0"/>
              </a:spcBef>
              <a:spcAft>
                <a:spcPts val="100"/>
              </a:spcAft>
              <a:buClr>
                <a:srgbClr val="789AF8"/>
              </a:buClr>
              <a:buFont typeface="Courier New" panose="02070309020205020404" pitchFamily="49" charset="0"/>
              <a:buChar char="o"/>
            </a:pPr>
            <a:r>
              <a:rPr lang="en-US" b="1" dirty="0" sz="1040">
                <a:latin typeface="Aptos" panose="020B0004020202020204" pitchFamily="34" charset="0"/>
              </a:rPr>
              <a:t>Vista</a:t>
            </a:r>
            <a:r>
              <a:rPr lang="en-US" dirty="0" sz="1040">
                <a:latin typeface="Aptos" panose="020B0004020202020204" pitchFamily="34" charset="0"/>
              </a:rPr>
              <a:t> holds and manages a contract with MODENA covering aeromedical evacuation services for operators in Neuquén.</a:t>
            </a:r>
          </a:p>
          <a:p>
            <a:pPr marL="647700" lvl="2" algn="just">
              <a:lnSpc>
                <a:spcPct val="100000"/>
              </a:lnSpc>
              <a:spcBef>
                <a:spcPts val="0"/>
              </a:spcBef>
              <a:spcAft>
                <a:spcPts val="100"/>
              </a:spcAft>
              <a:buClr>
                <a:srgbClr val="789AF8"/>
              </a:buClr>
              <a:buFont typeface="Courier New" panose="02070309020205020404" pitchFamily="49" charset="0"/>
              <a:buChar char="o"/>
            </a:pPr>
            <a:r>
              <a:rPr lang="en-GB" b="1" noProof="0" dirty="0" sz="1040">
                <a:latin typeface="Aptos" panose="020B0004020202020204" pitchFamily="34" charset="0"/>
              </a:rPr>
              <a:t>VMOS</a:t>
            </a:r>
            <a:r>
              <a:rPr lang="en-GB" noProof="0" dirty="0" sz="1040">
                <a:latin typeface="Aptos" panose="020B0004020202020204" pitchFamily="34" charset="0"/>
              </a:rPr>
              <a:t> has a contract in force with MODENA for such services. The service originated as an ad hoc decision by YPF following an Emergency Response Risk Analysis. </a:t>
            </a:r>
            <a:endParaRPr lang="en-GB" noProof="0" dirty="0">
              <a:highlight>
                <a:srgbClr val="FF0000"/>
              </a:highlight>
              <a:latin typeface="Aptos" panose="020B0004020202020204" pitchFamily="34" charset="0"/>
            </a:endParaRPr>
          </a:p>
          <a:p>
            <a:pPr marL="647700" lvl="2" algn="just">
              <a:lnSpc>
                <a:spcPct val="100000"/>
              </a:lnSpc>
              <a:spcBef>
                <a:spcPts val="0"/>
              </a:spcBef>
              <a:spcAft>
                <a:spcPts val="100"/>
              </a:spcAft>
              <a:buClr>
                <a:srgbClr val="789AF8"/>
              </a:buClr>
              <a:buFont typeface="Courier New" panose="02070309020205020404" pitchFamily="49" charset="0"/>
              <a:buChar char="o"/>
            </a:pPr>
            <a:endParaRPr lang="en-GB" sz="800" noProof="0" dirty="0">
              <a:highlight>
                <a:srgbClr val="FFFF00"/>
              </a:highlight>
              <a:latin typeface="Aptos" panose="020B0004020202020204" pitchFamily="34" charset="0"/>
            </a:endParaRPr>
          </a:p>
          <a:p>
            <a:pPr marL="190500" lvl="1" algn="just">
              <a:lnSpc>
                <a:spcPct val="100000"/>
              </a:lnSpc>
              <a:spcBef>
                <a:spcPts val="0"/>
              </a:spcBef>
              <a:spcAft>
                <a:spcPts val="100"/>
              </a:spcAft>
              <a:buClr>
                <a:srgbClr val="3709E1"/>
              </a:buClr>
              <a:buFont typeface="Arial" panose="020B0604020202020204" pitchFamily="34" charset="0"/>
              <a:buChar char="•"/>
              <a:defRPr/>
            </a:pPr>
            <a:r>
              <a:rPr lang="en-GB" sz="1040" noProof="0" dirty="0">
                <a:latin typeface="Aptos" panose="020B0004020202020204" pitchFamily="34" charset="0"/>
              </a:rPr>
              <a:t>Geographic Dispersion</a:t>
            </a:r>
          </a:p>
          <a:p>
            <a:pPr marL="647700" lvl="2" algn="just">
              <a:lnSpc>
                <a:spcPct val="100000"/>
              </a:lnSpc>
              <a:spcBef>
                <a:spcPts val="0"/>
              </a:spcBef>
              <a:spcAft>
                <a:spcPts val="100"/>
              </a:spcAft>
              <a:buClr>
                <a:srgbClr val="789AF8"/>
              </a:buClr>
              <a:buFont typeface="Courier New" panose="02070309020205020404" pitchFamily="49" charset="0"/>
              <a:buChar char="o"/>
              <a:defRPr/>
            </a:pPr>
            <a:r>
              <a:rPr lang="en-GB" b="1" noProof="0" dirty="0" sz="1040">
                <a:latin typeface="Aptos" panose="020B0004020202020204" pitchFamily="34" charset="0"/>
              </a:rPr>
              <a:t>SMP</a:t>
            </a:r>
            <a:r>
              <a:rPr lang="en-GB" noProof="0" dirty="0" sz="1040">
                <a:latin typeface="Aptos" panose="020B0004020202020204" pitchFamily="34" charset="0"/>
              </a:rPr>
              <a:t> pipeline route extends over 473 km along 2 provinces with sections located far away from high-complexity medical centres </a:t>
            </a:r>
            <a:r>
              <a:rPr lang="en-GB" noProof="0" dirty="0" sz="1040">
                <a:latin typeface="Aptos" panose="020B0004020202020204" pitchFamily="34" charset="0"/>
                <a:sym typeface="Wingdings" panose="05000000000000000000" pitchFamily="2" charset="2"/>
              </a:rPr>
              <a:t> </a:t>
            </a:r>
            <a:r>
              <a:rPr lang="en-GB" noProof="0" dirty="0" sz="1040">
                <a:latin typeface="Aptos" panose="020B0004020202020204" pitchFamily="34" charset="0"/>
              </a:rPr>
              <a:t>Ground transportation may compromise the critical response time window during an emergency.</a:t>
            </a:r>
          </a:p>
          <a:p>
            <a:pPr marL="647700" lvl="2" algn="just">
              <a:lnSpc>
                <a:spcPct val="100000"/>
              </a:lnSpc>
              <a:spcBef>
                <a:spcPts val="0"/>
              </a:spcBef>
              <a:spcAft>
                <a:spcPts val="100"/>
              </a:spcAft>
              <a:buClr>
                <a:srgbClr val="789AF8"/>
              </a:buClr>
              <a:buFont typeface="Courier New" panose="02070309020205020404" pitchFamily="49" charset="0"/>
              <a:buChar char="o"/>
              <a:defRPr/>
            </a:pPr>
            <a:endParaRPr lang="en-GB" sz="800" noProof="0" dirty="0">
              <a:latin typeface="Aptos" panose="020B0004020202020204" pitchFamily="34" charset="0"/>
            </a:endParaRPr>
          </a:p>
          <a:p>
            <a:pPr marL="190500" lvl="1" algn="just">
              <a:lnSpc>
                <a:spcPct val="100000"/>
              </a:lnSpc>
              <a:spcBef>
                <a:spcPts val="0"/>
              </a:spcBef>
              <a:spcAft>
                <a:spcPts val="100"/>
              </a:spcAft>
              <a:buClr>
                <a:srgbClr val="3709E1"/>
              </a:buClr>
              <a:buFont typeface="Arial" panose="020B0604020202020204" pitchFamily="34" charset="0"/>
              <a:buChar char="•"/>
              <a:defRPr/>
            </a:pPr>
            <a:r>
              <a:rPr lang="en-GB" sz="1040" noProof="0" dirty="0">
                <a:latin typeface="Aptos" panose="020B0004020202020204" pitchFamily="34" charset="0"/>
              </a:rPr>
              <a:t>Labour Context</a:t>
            </a:r>
          </a:p>
          <a:p>
            <a:pPr marL="647700" lvl="2" algn="just">
              <a:lnSpc>
                <a:spcPct val="100000"/>
              </a:lnSpc>
              <a:spcBef>
                <a:spcPts val="0"/>
              </a:spcBef>
              <a:spcAft>
                <a:spcPts val="100"/>
              </a:spcAft>
              <a:buClr>
                <a:srgbClr val="789AF8"/>
              </a:buClr>
              <a:buFont typeface="Courier New" panose="02070309020205020404" pitchFamily="49" charset="0"/>
              <a:buChar char="o"/>
              <a:defRPr/>
            </a:pPr>
            <a:r>
              <a:rPr lang="en-GB" noProof="0" dirty="0" sz="1040">
                <a:latin typeface="Aptos" panose="020B0004020202020204" pitchFamily="34" charset="0"/>
              </a:rPr>
              <a:t>Impact of the VMOS precedent in the event of an accident requiring this service </a:t>
            </a:r>
          </a:p>
          <a:p>
            <a:pPr marL="647700" lvl="2" algn="just">
              <a:lnSpc>
                <a:spcPct val="100000"/>
              </a:lnSpc>
              <a:spcBef>
                <a:spcPts val="0"/>
              </a:spcBef>
              <a:spcAft>
                <a:spcPts val="100"/>
              </a:spcAft>
              <a:buClr>
                <a:srgbClr val="789AF8"/>
              </a:buClr>
              <a:buFont typeface="Courier New" panose="02070309020205020404" pitchFamily="49" charset="0"/>
              <a:buChar char="o"/>
              <a:defRPr/>
            </a:pPr>
            <a:r>
              <a:rPr lang="en-GB" noProof="0" dirty="0" sz="1040">
                <a:latin typeface="Aptos" panose="020B0004020202020204" pitchFamily="34" charset="0"/>
              </a:rPr>
              <a:t>UOCRA agreement does not “explicitly” require this service for VMOS or SMP.</a:t>
            </a:r>
          </a:p>
          <a:p>
            <a:pPr marL="647700" lvl="2" algn="just">
              <a:lnSpc>
                <a:spcPct val="100000"/>
              </a:lnSpc>
              <a:spcBef>
                <a:spcPts val="0"/>
              </a:spcBef>
              <a:spcAft>
                <a:spcPts val="100"/>
              </a:spcAft>
              <a:buClr>
                <a:srgbClr val="789AF8"/>
              </a:buClr>
              <a:buFont typeface="Courier New" panose="02070309020205020404" pitchFamily="49" charset="0"/>
              <a:buChar char="o"/>
              <a:defRPr/>
            </a:pPr>
            <a:endParaRPr lang="en-GB" sz="800" noProof="0" dirty="0">
              <a:latin typeface="Aptos" panose="020B0004020202020204" pitchFamily="34" charset="0"/>
            </a:endParaRPr>
          </a:p>
          <a:p>
            <a:pPr marL="190500" lvl="1" algn="just">
              <a:lnSpc>
                <a:spcPct val="100000"/>
              </a:lnSpc>
              <a:spcBef>
                <a:spcPts val="0"/>
              </a:spcBef>
              <a:spcAft>
                <a:spcPts val="100"/>
              </a:spcAft>
              <a:buClr>
                <a:srgbClr val="3709E1"/>
              </a:buClr>
              <a:buFont typeface="Arial" panose="020B0604020202020204" pitchFamily="34" charset="0"/>
              <a:buChar char="•"/>
              <a:defRPr/>
            </a:pPr>
            <a:r>
              <a:rPr lang="en-GB" sz="1040" noProof="0" dirty="0">
                <a:latin typeface="Aptos" panose="020B0004020202020204" pitchFamily="34" charset="0"/>
              </a:rPr>
              <a:t>Actual Use, No Saturation</a:t>
            </a:r>
          </a:p>
          <a:p>
            <a:pPr marL="647700" lvl="2" algn="just">
              <a:lnSpc>
                <a:spcPct val="100000"/>
              </a:lnSpc>
              <a:spcBef>
                <a:spcPts val="0"/>
              </a:spcBef>
              <a:spcAft>
                <a:spcPts val="100"/>
              </a:spcAft>
              <a:buClr>
                <a:srgbClr val="789AF8"/>
              </a:buClr>
              <a:buFont typeface="Courier New" panose="02070309020205020404" pitchFamily="49" charset="0"/>
              <a:buChar char="o"/>
              <a:defRPr/>
            </a:pPr>
            <a:r>
              <a:rPr lang="en-GB" noProof="0" dirty="0" sz="1040">
                <a:latin typeface="Aptos" panose="020B0004020202020204" pitchFamily="34" charset="0"/>
              </a:rPr>
              <a:t>Existing regional contracts (Neuquén and VMOS) recorded 40 to 50 emergencies over 3 years (approximately 1 to 2 per month), indicating there is operational capacity to include the SMP route.</a:t>
            </a:r>
          </a:p>
          <a:p>
            <a:pPr marL="361950" lvl="2" indent="0" algn="just">
              <a:lnSpc>
                <a:spcPct val="100000"/>
              </a:lnSpc>
              <a:spcBef>
                <a:spcPts val="0"/>
              </a:spcBef>
              <a:spcAft>
                <a:spcPts val="100"/>
              </a:spcAft>
              <a:buClr>
                <a:srgbClr val="789AF8"/>
              </a:buClr>
              <a:buNone/>
              <a:defRPr/>
            </a:pPr>
            <a:endParaRPr lang="en-GB" sz="800" noProof="0" dirty="0">
              <a:highlight>
                <a:srgbClr val="FFFF00"/>
              </a:highlight>
              <a:latin typeface="Aptos" panose="020B0004020202020204" pitchFamily="34" charset="0"/>
            </a:endParaRPr>
          </a:p>
          <a:p>
            <a:pPr marL="190500" lvl="1" algn="just">
              <a:lnSpc>
                <a:spcPct val="100000"/>
              </a:lnSpc>
              <a:spcBef>
                <a:spcPts val="0"/>
              </a:spcBef>
              <a:spcAft>
                <a:spcPts val="100"/>
              </a:spcAft>
              <a:buClr>
                <a:srgbClr val="3709E1"/>
              </a:buClr>
              <a:buFont typeface="Arial" panose="020B0604020202020204" pitchFamily="34" charset="0"/>
              <a:buChar char="•"/>
              <a:defRPr/>
            </a:pPr>
            <a:r>
              <a:rPr lang="en-GB" sz="1040" noProof="0" dirty="0">
                <a:latin typeface="Aptos" panose="020B0004020202020204" pitchFamily="34" charset="0"/>
              </a:rPr>
              <a:t>Proposal to be discussed with Shareholders:</a:t>
            </a:r>
          </a:p>
          <a:p>
            <a:pPr marL="647700" lvl="2" algn="just">
              <a:lnSpc>
                <a:spcPct val="100000"/>
              </a:lnSpc>
              <a:spcBef>
                <a:spcPts val="0"/>
              </a:spcBef>
              <a:spcAft>
                <a:spcPts val="100"/>
              </a:spcAft>
              <a:buClr>
                <a:srgbClr val="789AF8"/>
              </a:buClr>
              <a:buFont typeface="Courier New" panose="02070309020205020404" pitchFamily="49" charset="0"/>
              <a:buChar char="o"/>
            </a:pPr>
            <a:r>
              <a:rPr lang="en-GB" noProof="0" dirty="0" sz="1040">
                <a:latin typeface="Aptos" panose="020B0004020202020204" pitchFamily="34" charset="0"/>
              </a:rPr>
              <a:t>Given the project’s extensive geographical footprint which includes remote areas with limited or no access to adequate medical infrastructure, it is recommended to have a helicopter available for emergency medical evacuation, particularly for incidents requiring medium- or high-complexity medical care.</a:t>
            </a:r>
          </a:p>
        </p:txBody>
      </p:sp>
      <p:sp>
        <p:nvSpPr>
          <p:cNvPr id="5" name="Shape 4">
            <a:extLst>
              <a:ext uri="{FF2B5EF4-FFF2-40B4-BE49-F238E27FC236}">
                <a16:creationId xmlns:a16="http://schemas.microsoft.com/office/drawing/2014/main" id="{2612E9D8-ADC6-C815-3D0E-C68BE0875757}"/>
              </a:ext>
            </a:extLst>
          </p:cNvPr>
          <p:cNvSpPr/>
          <p:nvPr/>
        </p:nvSpPr>
        <p:spPr>
          <a:xfrm>
            <a:off x="29816" y="672226"/>
            <a:ext cx="487018" cy="454950"/>
          </a:xfrm>
          <a:prstGeom prst="ellipse">
            <a:avLst/>
          </a:prstGeom>
          <a:solidFill>
            <a:srgbClr val="13315C"/>
          </a:solidFill>
          <a:ln/>
        </p:spPr>
        <p:txBody>
          <a:bodyPr/>
          <a:lstStyle/>
          <a:p>
            <a:endParaRPr lang="en-GB" noProof="0" dirty="0"/>
          </a:p>
        </p:txBody>
      </p:sp>
      <p:pic>
        <p:nvPicPr>
          <p:cNvPr id="7" name="Image 0" descr="/tmp/heli_deck/icon_heli.png">
            <a:extLst>
              <a:ext uri="{FF2B5EF4-FFF2-40B4-BE49-F238E27FC236}">
                <a16:creationId xmlns:a16="http://schemas.microsoft.com/office/drawing/2014/main" id="{E01FB193-CE5E-E39C-AAD6-8111C0867B12}"/>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37954" y="770425"/>
            <a:ext cx="267074" cy="267074"/>
          </a:xfrm>
          <a:prstGeom prst="rect">
            <a:avLst/>
          </a:prstGeom>
        </p:spPr>
      </p:pic>
      <p:sp>
        <p:nvSpPr>
          <p:cNvPr id="14" name="Shape 10">
            <a:extLst>
              <a:ext uri="{FF2B5EF4-FFF2-40B4-BE49-F238E27FC236}">
                <a16:creationId xmlns:a16="http://schemas.microsoft.com/office/drawing/2014/main" id="{A18077B8-A03F-6AF4-5C1A-CBB7DD8A209E}"/>
              </a:ext>
            </a:extLst>
          </p:cNvPr>
          <p:cNvSpPr/>
          <p:nvPr/>
        </p:nvSpPr>
        <p:spPr>
          <a:xfrm>
            <a:off x="29816" y="2591328"/>
            <a:ext cx="487018" cy="479861"/>
          </a:xfrm>
          <a:prstGeom prst="ellipse">
            <a:avLst/>
          </a:prstGeom>
          <a:solidFill>
            <a:srgbClr val="13315C"/>
          </a:solidFill>
          <a:ln/>
        </p:spPr>
        <p:txBody>
          <a:bodyPr/>
          <a:lstStyle/>
          <a:p>
            <a:endParaRPr lang="en-GB" noProof="0" dirty="0"/>
          </a:p>
        </p:txBody>
      </p:sp>
      <p:pic>
        <p:nvPicPr>
          <p:cNvPr id="15" name="Image 2" descr="/tmp/heli_deck/icon_route.png">
            <a:extLst>
              <a:ext uri="{FF2B5EF4-FFF2-40B4-BE49-F238E27FC236}">
                <a16:creationId xmlns:a16="http://schemas.microsoft.com/office/drawing/2014/main" id="{7DE1145F-9E95-64BB-17E5-2447B93D4950}"/>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37954" y="2679588"/>
            <a:ext cx="267074" cy="267074"/>
          </a:xfrm>
          <a:prstGeom prst="rect">
            <a:avLst/>
          </a:prstGeom>
        </p:spPr>
      </p:pic>
      <p:sp>
        <p:nvSpPr>
          <p:cNvPr id="16" name="TextBox 15"/>
          <p:cNvSpPr txBox="1"/>
          <p:nvPr/>
        </p:nvSpPr>
        <p:spPr>
          <a:xfrm>
            <a:off x="3474720" y="6601968"/>
            <a:ext cx="4389120" cy="155448"/>
          </a:xfrm>
          <a:prstGeom prst="rect">
            <a:avLst/>
          </a:prstGeom>
          <a:noFill/>
        </p:spPr>
        <p:txBody>
          <a:bodyPr wrap="square" lIns="18288" rIns="18288" tIns="0" bIns="0">
            <a:spAutoFit/>
          </a:bodyPr>
          <a:lstStyle/>
          <a:p>
            <a:pPr>
              <a:spcAft>
                <a:spcPts val="500"/>
              </a:spcAft>
              <a:defRPr sz="650" b="0">
                <a:solidFill>
                  <a:srgbClr val="68717D"/>
                </a:solidFill>
                <a:latin typeface="DejaVu Sans"/>
              </a:defRPr>
            </a:pPr>
            <a:r>
              <a:t>WORKING DRAFT · October topics pending</a:t>
            </a:r>
          </a:p>
        </p:txBody>
      </p:sp>
      <p:sp>
        <p:nvSpPr>
          <p:cNvPr id="17" name="TextBox 16"/>
          <p:cNvSpPr txBox="1"/>
          <p:nvPr/>
        </p:nvSpPr>
        <p:spPr>
          <a:xfrm>
            <a:off x="8595360" y="6556248"/>
            <a:ext cx="274320" cy="201168"/>
          </a:xfrm>
          <a:prstGeom prst="rect">
            <a:avLst/>
          </a:prstGeom>
          <a:noFill/>
        </p:spPr>
        <p:txBody>
          <a:bodyPr wrap="square" lIns="18288" rIns="18288" tIns="0" bIns="0">
            <a:spAutoFit/>
          </a:bodyPr>
          <a:lstStyle/>
          <a:p>
            <a:pPr algn="r">
              <a:spcAft>
                <a:spcPts val="500"/>
              </a:spcAft>
              <a:defRPr sz="800" b="0">
                <a:solidFill>
                  <a:srgbClr val="68717D"/>
                </a:solidFill>
                <a:latin typeface="DejaVu Sans"/>
              </a:defRPr>
            </a:pPr>
            <a:r>
              <a:t>8</a:t>
            </a:r>
          </a:p>
        </p:txBody>
      </p:sp>
    </p:spTree>
    <p:extLst>
      <p:ext uri="{BB962C8B-B14F-4D97-AF65-F5344CB8AC3E}">
        <p14:creationId xmlns:p14="http://schemas.microsoft.com/office/powerpoint/2010/main" val="40691717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FE4C4-C439-3D4B-2810-5ED122F8B3EA}"/>
            </a:ext>
          </a:extLst>
        </p:cNvPr>
        <p:cNvGrpSpPr/>
        <p:nvPr/>
      </p:nvGrpSpPr>
      <p:grpSpPr>
        <a:xfrm>
          <a:off x="0" y="0"/>
          <a:ext cx="0" cy="0"/>
          <a:chOff x="0" y="0"/>
          <a:chExt cx="0" cy="0"/>
        </a:xfrm>
      </p:grpSpPr>
      <p:sp>
        <p:nvSpPr>
          <p:cNvPr id="100" name="Card 100"/>
          <p:cNvSpPr/>
          <p:nvPr/>
        </p:nvSpPr>
        <p:spPr>
          <a:xfrm>
            <a:off x="457200" y="1100000"/>
            <a:ext cx="8229600" cy="1500000"/>
          </a:xfrm>
          <a:prstGeom prst="roundRect">
            <a:avLst>
              <a:gd name="adj" fmla="val 6000"/>
            </a:avLst>
          </a:prstGeom>
          <a:solidFill>
            <a:srgbClr val="F3F4F6"/>
          </a:solidFill>
          <a:ln>
            <a:noFill/>
          </a:ln>
        </p:spPr>
        <p:txBody>
          <a:bodyPr wrap="square" lIns="182880" tIns="91440" rIns="182880" bIns="91440" anchor="ctr">
            <a:noAutofit/>
          </a:bodyPr>
          <a:lstStyle/>
          <a:p>
            <a:pPr algn="l">
              <a:spcAft>
                <a:spcPts val="600"/>
              </a:spcAft>
            </a:pPr>
            <a:r>
              <a:rPr lang="en-GB" sz="1600" b="1" dirty="0">
                <a:solidFill>
                  <a:srgbClr val="013EF5"/>
                </a:solidFill>
                <a:latin typeface="Aptos"/>
              </a:rPr>
              <a:t>Progress to date (cut-off Oct 27)</a:t>
            </a:r>
          </a:p>
          <a:p>
            <a:pPr algn="l"/>
            <a:r>
              <a:rPr lang="en-GB" sz="1400" b="0" dirty="0">
                <a:solidFill>
                  <a:srgbClr val="FF0000"/>
                </a:solidFill>
                <a:latin typeface="Aptos"/>
              </a:rPr>
              <a:t>[Pending · YPF to provide status, milestones reached and dates]</a:t>
            </a:r>
          </a:p>
        </p:txBody>
      </p:sp>
      <p:sp>
        <p:nvSpPr>
          <p:cNvPr id="101" name="Card 101"/>
          <p:cNvSpPr/>
          <p:nvPr/>
        </p:nvSpPr>
        <p:spPr>
          <a:xfrm>
            <a:off x="457200" y="2850000"/>
            <a:ext cx="8229600" cy="1500000"/>
          </a:xfrm>
          <a:prstGeom prst="roundRect">
            <a:avLst>
              <a:gd name="adj" fmla="val 6000"/>
            </a:avLst>
          </a:prstGeom>
          <a:solidFill>
            <a:srgbClr val="F3F4F6"/>
          </a:solidFill>
          <a:ln>
            <a:noFill/>
          </a:ln>
        </p:spPr>
        <p:txBody>
          <a:bodyPr wrap="square" lIns="182880" tIns="91440" rIns="182880" bIns="91440" anchor="ctr">
            <a:noAutofit/>
          </a:bodyPr>
          <a:lstStyle/>
          <a:p>
            <a:pPr algn="l">
              <a:spcAft>
                <a:spcPts val="600"/>
              </a:spcAft>
            </a:pPr>
            <a:r>
              <a:rPr lang="en-GB" sz="1600" b="1" dirty="0">
                <a:solidFill>
                  <a:srgbClr val="013EF5"/>
                </a:solidFill>
                <a:latin typeface="Aptos"/>
              </a:rPr>
              <a:t>Company auditing the service</a:t>
            </a:r>
          </a:p>
          <a:p>
            <a:pPr algn="l"/>
            <a:r>
              <a:rPr lang="en-GB" sz="1400" b="0" dirty="0">
                <a:solidFill>
                  <a:srgbClr val="FF0000"/>
                </a:solidFill>
                <a:latin typeface="Aptos"/>
              </a:rPr>
              <a:t>[Pending · YPF to name the company that audits the service]</a:t>
            </a:r>
          </a:p>
        </p:txBody>
      </p:sp>
      <p:sp>
        <p:nvSpPr>
          <p:cNvPr id="102" name="Card 102"/>
          <p:cNvSpPr/>
          <p:nvPr/>
        </p:nvSpPr>
        <p:spPr>
          <a:xfrm>
            <a:off x="457200" y="4600000"/>
            <a:ext cx="8229600" cy="1500000"/>
          </a:xfrm>
          <a:prstGeom prst="roundRect">
            <a:avLst>
              <a:gd name="adj" fmla="val 6000"/>
            </a:avLst>
          </a:prstGeom>
          <a:solidFill>
            <a:srgbClr val="F3F4F6"/>
          </a:solidFill>
          <a:ln>
            <a:noFill/>
          </a:ln>
        </p:spPr>
        <p:txBody>
          <a:bodyPr wrap="square" lIns="182880" tIns="91440" rIns="182880" bIns="91440" anchor="ctr">
            <a:noAutofit/>
          </a:bodyPr>
          <a:lstStyle/>
          <a:p>
            <a:pPr algn="l">
              <a:spcAft>
                <a:spcPts val="600"/>
              </a:spcAft>
            </a:pPr>
            <a:r>
              <a:rPr lang="en-GB" sz="1600" b="1" dirty="0">
                <a:solidFill>
                  <a:srgbClr val="013EF5"/>
                </a:solidFill>
                <a:latin typeface="Aptos"/>
              </a:rPr>
              <a:t>Option to add SESA</a:t>
            </a:r>
          </a:p>
          <a:p>
            <a:pPr algn="l"/>
            <a:r>
              <a:rPr lang="en-GB" sz="1400" b="0" dirty="0">
                <a:solidFill>
                  <a:srgbClr val="FF0000"/>
                </a:solidFill>
                <a:latin typeface="Aptos"/>
              </a:rPr>
              <a:t>[Pending · YPF to confirm whether SESA can be added to the service]</a:t>
            </a:r>
          </a:p>
        </p:txBody>
      </p:sp>
      <p:sp>
        <p:nvSpPr>
          <p:cNvPr id="8" name="Rectángulo 7">
            <a:extLst>
              <a:ext uri="{FF2B5EF4-FFF2-40B4-BE49-F238E27FC236}">
                <a16:creationId xmlns:a16="http://schemas.microsoft.com/office/drawing/2014/main" id="{15A9C003-D100-0547-6B7A-5AA415611A58}"/>
              </a:ext>
            </a:extLst>
          </p:cNvPr>
          <p:cNvSpPr/>
          <p:nvPr/>
        </p:nvSpPr>
        <p:spPr>
          <a:xfrm>
            <a:off x="0" y="0"/>
            <a:ext cx="9144000" cy="7065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pic>
        <p:nvPicPr>
          <p:cNvPr id="11" name="Imagen 10">
            <a:extLst>
              <a:ext uri="{FF2B5EF4-FFF2-40B4-BE49-F238E27FC236}">
                <a16:creationId xmlns:a16="http://schemas.microsoft.com/office/drawing/2014/main" id="{F02F9B62-976C-B014-89B9-25FEB972B836}"/>
              </a:ext>
            </a:extLst>
          </p:cNvPr>
          <p:cNvPicPr>
            <a:picLocks noChangeAspect="1"/>
          </p:cNvPicPr>
          <p:nvPr/>
        </p:nvPicPr>
        <p:blipFill rotWithShape="1">
          <a:blip r:embed="rId2"/>
          <a:srcRect t="-1" r="54800" b="49955"/>
          <a:stretch/>
        </p:blipFill>
        <p:spPr>
          <a:xfrm>
            <a:off x="8549908" y="117682"/>
            <a:ext cx="274715" cy="232529"/>
          </a:xfrm>
          <a:prstGeom prst="rect">
            <a:avLst/>
          </a:prstGeom>
        </p:spPr>
      </p:pic>
      <p:sp>
        <p:nvSpPr>
          <p:cNvPr id="12" name="CuadroTexto 11">
            <a:extLst>
              <a:ext uri="{FF2B5EF4-FFF2-40B4-BE49-F238E27FC236}">
                <a16:creationId xmlns:a16="http://schemas.microsoft.com/office/drawing/2014/main" id="{8F84B6E9-B53A-F075-C423-0D04140F6B47}"/>
              </a:ext>
            </a:extLst>
          </p:cNvPr>
          <p:cNvSpPr txBox="1"/>
          <p:nvPr/>
        </p:nvSpPr>
        <p:spPr>
          <a:xfrm>
            <a:off x="8231453" y="321314"/>
            <a:ext cx="1151431" cy="215444"/>
          </a:xfrm>
          <a:prstGeom prst="rect">
            <a:avLst/>
          </a:prstGeom>
          <a:noFill/>
        </p:spPr>
        <p:txBody>
          <a:bodyPr wrap="square" rtlCol="0">
            <a:spAutoFit/>
          </a:bodyPr>
          <a:lstStyle/>
          <a:p>
            <a:r>
              <a:rPr lang="en-GB" sz="800" spc="100" noProof="0" dirty="0">
                <a:solidFill>
                  <a:srgbClr val="FF0000"/>
                </a:solidFill>
                <a:latin typeface="Aptos Display" panose="020B0004020202020204" pitchFamily="34" charset="0"/>
              </a:rPr>
              <a:t>CONFIDENTIAL</a:t>
            </a:r>
          </a:p>
        </p:txBody>
      </p:sp>
      <p:sp>
        <p:nvSpPr>
          <p:cNvPr id="3" name="Título 1">
            <a:extLst>
              <a:ext uri="{FF2B5EF4-FFF2-40B4-BE49-F238E27FC236}">
                <a16:creationId xmlns:a16="http://schemas.microsoft.com/office/drawing/2014/main" id="{77EE0D74-97B9-A6B2-82A2-11169427E4E5}"/>
              </a:ext>
            </a:extLst>
          </p:cNvPr>
          <p:cNvSpPr txBox="1">
            <a:spLocks/>
          </p:cNvSpPr>
          <p:nvPr/>
        </p:nvSpPr>
        <p:spPr>
          <a:xfrm>
            <a:off x="179509" y="142504"/>
            <a:ext cx="7364291" cy="79006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1800" b="1" noProof="0" dirty="0">
                <a:solidFill>
                  <a:srgbClr val="013EF5"/>
                </a:solidFill>
                <a:latin typeface="Aptos" panose="020B0004020202020204" pitchFamily="34" charset="0"/>
              </a:rPr>
              <a:t>3.0 &gt; HELICOPTER SERVICE &gt; </a:t>
            </a:r>
            <a:r>
              <a:rPr lang="en-GB" sz="1800" b="1" spc="100" noProof="0" dirty="0">
                <a:solidFill>
                  <a:srgbClr val="013EF5"/>
                </a:solidFill>
                <a:latin typeface="Aptos" panose="020B0004020202020204" pitchFamily="34" charset="0"/>
              </a:rPr>
              <a:t>Progress update</a:t>
            </a:r>
            <a:r>
              <a:rPr lang="en-GB" sz="1800" spc="100" noProof="0" dirty="0">
                <a:solidFill>
                  <a:srgbClr val="013EF5"/>
                </a:solidFill>
                <a:latin typeface="Aptos Light" panose="020B0004020202020204" pitchFamily="34" charset="0"/>
              </a:rPr>
              <a:t/>
            </a:r>
          </a:p>
          <a:p>
            <a:pPr algn="l"/>
            <a:endParaRPr lang="en-GB" sz="2400" b="1" noProof="0" dirty="0">
              <a:solidFill>
                <a:srgbClr val="789AF8"/>
              </a:solidFill>
              <a:latin typeface="Calibri" pitchFamily="34" charset="0"/>
            </a:endParaRPr>
          </a:p>
        </p:txBody>
      </p:sp>
      <p:sp>
        <p:nvSpPr>
          <p:cNvPr id="103" name="TextBox 102"/>
          <p:cNvSpPr txBox="1"/>
          <p:nvPr/>
        </p:nvSpPr>
        <p:spPr>
          <a:xfrm>
            <a:off x="3474720" y="6601968"/>
            <a:ext cx="4389120" cy="155448"/>
          </a:xfrm>
          <a:prstGeom prst="rect">
            <a:avLst/>
          </a:prstGeom>
          <a:noFill/>
        </p:spPr>
        <p:txBody>
          <a:bodyPr wrap="square" lIns="18288" rIns="18288" tIns="0" bIns="0">
            <a:spAutoFit/>
          </a:bodyPr>
          <a:lstStyle/>
          <a:p>
            <a:pPr>
              <a:spcAft>
                <a:spcPts val="500"/>
              </a:spcAft>
              <a:defRPr sz="650" b="0">
                <a:solidFill>
                  <a:srgbClr val="68717D"/>
                </a:solidFill>
                <a:latin typeface="DejaVu Sans"/>
              </a:defRPr>
            </a:pPr>
            <a:r>
              <a:t>WORKING DRAFT · October topics pending</a:t>
            </a:r>
          </a:p>
        </p:txBody>
      </p:sp>
      <p:sp>
        <p:nvSpPr>
          <p:cNvPr id="104" name="TextBox 103"/>
          <p:cNvSpPr txBox="1"/>
          <p:nvPr/>
        </p:nvSpPr>
        <p:spPr>
          <a:xfrm>
            <a:off x="8595360" y="6556248"/>
            <a:ext cx="274320" cy="201168"/>
          </a:xfrm>
          <a:prstGeom prst="rect">
            <a:avLst/>
          </a:prstGeom>
          <a:noFill/>
        </p:spPr>
        <p:txBody>
          <a:bodyPr wrap="square" lIns="18288" rIns="18288" tIns="0" bIns="0">
            <a:spAutoFit/>
          </a:bodyPr>
          <a:lstStyle/>
          <a:p>
            <a:pPr algn="r">
              <a:spcAft>
                <a:spcPts val="500"/>
              </a:spcAft>
              <a:defRPr sz="800" b="0">
                <a:solidFill>
                  <a:srgbClr val="68717D"/>
                </a:solidFill>
                <a:latin typeface="DejaVu Sans"/>
              </a:defRPr>
            </a:pPr>
            <a:r>
              <a:t>9</a:t>
            </a:r>
          </a:p>
        </p:txBody>
      </p:sp>
    </p:spTree>
    <p:extLst>
      <p:ext uri="{BB962C8B-B14F-4D97-AF65-F5344CB8AC3E}">
        <p14:creationId xmlns:p14="http://schemas.microsoft.com/office/powerpoint/2010/main" val="4069171775"/>
      </p:ext>
    </p:extLst>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 name="Rectángulo 7">
            <a:extLst>
              <a:ext uri="{FF2B5EF4-FFF2-40B4-BE49-F238E27FC236}">
                <a16:creationId xmlns:a16="http://schemas.microsoft.com/office/drawing/2014/main" id="{E0F0ACF1-FB3B-891E-E4C9-CEDACE965B70}"/>
              </a:ext>
            </a:extLst>
          </p:cNvPr>
          <p:cNvSpPr/>
          <p:nvPr/>
        </p:nvSpPr>
        <p:spPr>
          <a:xfrm>
            <a:off x="0" y="0"/>
            <a:ext cx="9144000" cy="7065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9" name="Título 1">
            <a:extLst>
              <a:ext uri="{FF2B5EF4-FFF2-40B4-BE49-F238E27FC236}">
                <a16:creationId xmlns:a16="http://schemas.microsoft.com/office/drawing/2014/main" id="{2C399A2C-904E-A0D7-BF10-0536804170B1}"/>
              </a:ext>
            </a:extLst>
          </p:cNvPr>
          <p:cNvSpPr txBox="1">
            <a:spLocks/>
          </p:cNvSpPr>
          <p:nvPr/>
        </p:nvSpPr>
        <p:spPr>
          <a:xfrm>
            <a:off x="179509" y="142504"/>
            <a:ext cx="7863840" cy="475488"/>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sz="1400" b="1">
                <a:solidFill>
                  <a:srgbClr val="013EF5"/>
                </a:solidFill>
                <a:latin typeface="DejaVu Sans"/>
              </a:rPr>
              <a:t>1.1 &gt; DEDICATED GAS PIPELINE UPDATE &gt; Safety | October Highlights</a:t>
            </a:r>
          </a:p>
        </p:txBody>
      </p:sp>
      <p:pic>
        <p:nvPicPr>
          <p:cNvPr id="11" name="Imagen 10">
            <a:extLst>
              <a:ext uri="{FF2B5EF4-FFF2-40B4-BE49-F238E27FC236}">
                <a16:creationId xmlns:a16="http://schemas.microsoft.com/office/drawing/2014/main" id="{B890EEC0-89A1-F0FA-6F0E-CA480F8EF46C}"/>
              </a:ext>
            </a:extLst>
          </p:cNvPr>
          <p:cNvPicPr>
            <a:picLocks noChangeAspect="1"/>
          </p:cNvPicPr>
          <p:nvPr/>
        </p:nvPicPr>
        <p:blipFill rotWithShape="1">
          <a:blip r:embed="rId2"/>
          <a:srcRect t="-1" r="54800" b="49955"/>
          <a:stretch/>
        </p:blipFill>
        <p:spPr>
          <a:xfrm>
            <a:off x="8549908" y="117682"/>
            <a:ext cx="274715" cy="232529"/>
          </a:xfrm>
          <a:prstGeom prst="rect">
            <a:avLst/>
          </a:prstGeom>
        </p:spPr>
      </p:pic>
      <p:sp>
        <p:nvSpPr>
          <p:cNvPr id="12" name="CuadroTexto 11">
            <a:extLst>
              <a:ext uri="{FF2B5EF4-FFF2-40B4-BE49-F238E27FC236}">
                <a16:creationId xmlns:a16="http://schemas.microsoft.com/office/drawing/2014/main" id="{8B51CD8C-DB5F-892A-4B92-E56F0244E354}"/>
              </a:ext>
            </a:extLst>
          </p:cNvPr>
          <p:cNvSpPr txBox="1"/>
          <p:nvPr/>
        </p:nvSpPr>
        <p:spPr>
          <a:xfrm>
            <a:off x="8231453" y="321314"/>
            <a:ext cx="1151431" cy="215444"/>
          </a:xfrm>
          <a:prstGeom prst="rect">
            <a:avLst/>
          </a:prstGeom>
          <a:noFill/>
        </p:spPr>
        <p:txBody>
          <a:bodyPr wrap="square" rtlCol="0">
            <a:spAutoFit/>
          </a:bodyPr>
          <a:lstStyle/>
          <a:p>
            <a:r>
              <a:rPr lang="en-GB" sz="800" spc="100" noProof="0" dirty="0">
                <a:solidFill>
                  <a:srgbClr val="FF0000"/>
                </a:solidFill>
                <a:latin typeface="Aptos Display" panose="020B0004020202020204" pitchFamily="34" charset="0"/>
              </a:rPr>
              <a:t>CONFIDENTIAL</a:t>
            </a:r>
          </a:p>
        </p:txBody>
      </p:sp>
      <p:sp>
        <p:nvSpPr>
          <p:cNvPr id="13" name="TextBox 12"/>
          <p:cNvSpPr txBox="1"/>
          <p:nvPr/>
        </p:nvSpPr>
        <p:spPr>
          <a:xfrm>
            <a:off x="411480" y="850392"/>
            <a:ext cx="8321040" cy="320040"/>
          </a:xfrm>
          <a:prstGeom prst="rect">
            <a:avLst/>
          </a:prstGeom>
          <a:noFill/>
        </p:spPr>
        <p:txBody>
          <a:bodyPr wrap="square" lIns="18288" rIns="18288" tIns="0" bIns="0">
            <a:spAutoFit/>
          </a:bodyPr>
          <a:lstStyle/>
          <a:p>
            <a:pPr>
              <a:spcAft>
                <a:spcPts val="500"/>
              </a:spcAft>
              <a:defRPr sz="1100" b="1">
                <a:solidFill>
                  <a:srgbClr val="013EF5"/>
                </a:solidFill>
                <a:latin typeface="DejaVu Sans"/>
              </a:defRPr>
            </a:pPr>
            <a:r>
              <a:t>OCTOBER 2026 · PHOTOS &amp; RELEVANT HIGHLIGHTS · cut-off 27 Oct</a:t>
            </a:r>
          </a:p>
        </p:txBody>
      </p:sp>
      <p:sp>
        <p:nvSpPr>
          <p:cNvPr id="14" name="Rectangle 13"/>
          <p:cNvSpPr/>
          <p:nvPr/>
        </p:nvSpPr>
        <p:spPr>
          <a:xfrm>
            <a:off x="411480" y="1417320"/>
            <a:ext cx="4023360" cy="2331720"/>
          </a:xfrm>
          <a:prstGeom prst="rect">
            <a:avLst/>
          </a:prstGeom>
          <a:solidFill>
            <a:srgbClr val="F2F3F5"/>
          </a:solidFill>
          <a:ln>
            <a:solidFill>
              <a:srgbClr val="CD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2148840"/>
            <a:ext cx="3749039" cy="640080"/>
          </a:xfrm>
          <a:prstGeom prst="rect">
            <a:avLst/>
          </a:prstGeom>
          <a:noFill/>
        </p:spPr>
        <p:txBody>
          <a:bodyPr wrap="square" lIns="18288" rIns="18288" tIns="0" bIns="0">
            <a:spAutoFit/>
          </a:bodyPr>
          <a:lstStyle/>
          <a:p>
            <a:pPr algn="ctr">
              <a:spcAft>
                <a:spcPts val="500"/>
              </a:spcAft>
              <a:defRPr sz="1500" b="0">
                <a:solidFill>
                  <a:srgbClr val="68717D"/>
                </a:solidFill>
                <a:latin typeface="DejaVu Sans"/>
              </a:defRPr>
            </a:pPr>
            <a:r>
              <a:t>OCTOBER PHOTO 1</a:t>
            </a:r>
          </a:p>
          <a:p>
            <a:pPr algn="ctr">
              <a:spcAft>
                <a:spcPts val="500"/>
              </a:spcAft>
              <a:defRPr sz="1500" b="0">
                <a:solidFill>
                  <a:srgbClr val="68717D"/>
                </a:solidFill>
                <a:latin typeface="DejaVu Sans"/>
              </a:defRPr>
            </a:pPr>
            <a:r>
              <a:t>Pending actual photo</a:t>
            </a:r>
          </a:p>
        </p:txBody>
      </p:sp>
      <p:sp>
        <p:nvSpPr>
          <p:cNvPr id="16" name="TextBox 15"/>
          <p:cNvSpPr txBox="1"/>
          <p:nvPr/>
        </p:nvSpPr>
        <p:spPr>
          <a:xfrm>
            <a:off x="411480" y="3867912"/>
            <a:ext cx="4023360" cy="502920"/>
          </a:xfrm>
          <a:prstGeom prst="rect">
            <a:avLst/>
          </a:prstGeom>
          <a:noFill/>
        </p:spPr>
        <p:txBody>
          <a:bodyPr wrap="square" lIns="18288" rIns="18288" tIns="0" bIns="0">
            <a:spAutoFit/>
          </a:bodyPr>
          <a:lstStyle/>
          <a:p>
            <a:pPr>
              <a:spcAft>
                <a:spcPts val="500"/>
              </a:spcAft>
              <a:defRPr sz="950" b="0">
                <a:solidFill>
                  <a:srgbClr val="68717D"/>
                </a:solidFill>
                <a:latin typeface="DejaVu Sans"/>
              </a:defRPr>
            </a:pPr>
            <a:r>
              <a:t>Date / location / activity: pending confirmation</a:t>
            </a:r>
          </a:p>
        </p:txBody>
      </p:sp>
      <p:sp>
        <p:nvSpPr>
          <p:cNvPr id="17" name="Rectangle 16"/>
          <p:cNvSpPr/>
          <p:nvPr/>
        </p:nvSpPr>
        <p:spPr>
          <a:xfrm>
            <a:off x="4681728" y="1417320"/>
            <a:ext cx="4023360" cy="2331720"/>
          </a:xfrm>
          <a:prstGeom prst="rect">
            <a:avLst/>
          </a:prstGeom>
          <a:solidFill>
            <a:srgbClr val="F2F3F5"/>
          </a:solidFill>
          <a:ln>
            <a:solidFill>
              <a:srgbClr val="CD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818888" y="2148840"/>
            <a:ext cx="3749039" cy="640080"/>
          </a:xfrm>
          <a:prstGeom prst="rect">
            <a:avLst/>
          </a:prstGeom>
          <a:noFill/>
        </p:spPr>
        <p:txBody>
          <a:bodyPr wrap="square" lIns="18288" rIns="18288" tIns="0" bIns="0">
            <a:spAutoFit/>
          </a:bodyPr>
          <a:lstStyle/>
          <a:p>
            <a:pPr algn="ctr">
              <a:spcAft>
                <a:spcPts val="500"/>
              </a:spcAft>
              <a:defRPr sz="1500" b="0">
                <a:solidFill>
                  <a:srgbClr val="68717D"/>
                </a:solidFill>
                <a:latin typeface="DejaVu Sans"/>
              </a:defRPr>
            </a:pPr>
            <a:r>
              <a:t>OCTOBER PHOTO 2</a:t>
            </a:r>
          </a:p>
          <a:p>
            <a:pPr algn="ctr">
              <a:spcAft>
                <a:spcPts val="500"/>
              </a:spcAft>
              <a:defRPr sz="1500" b="0">
                <a:solidFill>
                  <a:srgbClr val="68717D"/>
                </a:solidFill>
                <a:latin typeface="DejaVu Sans"/>
              </a:defRPr>
            </a:pPr>
            <a:r>
              <a:t>Pending actual photo</a:t>
            </a:r>
          </a:p>
        </p:txBody>
      </p:sp>
      <p:sp>
        <p:nvSpPr>
          <p:cNvPr id="19" name="TextBox 18"/>
          <p:cNvSpPr txBox="1"/>
          <p:nvPr/>
        </p:nvSpPr>
        <p:spPr>
          <a:xfrm>
            <a:off x="4681728" y="3867912"/>
            <a:ext cx="4023360" cy="502920"/>
          </a:xfrm>
          <a:prstGeom prst="rect">
            <a:avLst/>
          </a:prstGeom>
          <a:noFill/>
        </p:spPr>
        <p:txBody>
          <a:bodyPr wrap="square" lIns="18288" rIns="18288" tIns="0" bIns="0">
            <a:spAutoFit/>
          </a:bodyPr>
          <a:lstStyle/>
          <a:p>
            <a:pPr>
              <a:spcAft>
                <a:spcPts val="500"/>
              </a:spcAft>
              <a:defRPr sz="950" b="0">
                <a:solidFill>
                  <a:srgbClr val="68717D"/>
                </a:solidFill>
                <a:latin typeface="DejaVu Sans"/>
              </a:defRPr>
            </a:pPr>
            <a:r>
              <a:t>Date / location / activity: pending confirmation</a:t>
            </a:r>
          </a:p>
        </p:txBody>
      </p:sp>
      <p:sp>
        <p:nvSpPr>
          <p:cNvPr id="20" name="Rectangle 19"/>
          <p:cNvSpPr/>
          <p:nvPr/>
        </p:nvSpPr>
        <p:spPr>
          <a:xfrm>
            <a:off x="411480" y="4590288"/>
            <a:ext cx="8293608" cy="1554480"/>
          </a:xfrm>
          <a:prstGeom prst="rect">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 y="4727448"/>
            <a:ext cx="8001000" cy="274320"/>
          </a:xfrm>
          <a:prstGeom prst="rect">
            <a:avLst/>
          </a:prstGeom>
          <a:noFill/>
        </p:spPr>
        <p:txBody>
          <a:bodyPr wrap="square" lIns="18288" rIns="18288" tIns="0" bIns="0">
            <a:spAutoFit/>
          </a:bodyPr>
          <a:lstStyle/>
          <a:p>
            <a:pPr>
              <a:spcAft>
                <a:spcPts val="500"/>
              </a:spcAft>
              <a:defRPr sz="1200" b="1">
                <a:solidFill>
                  <a:srgbClr val="013EF5"/>
                </a:solidFill>
                <a:latin typeface="DejaVu Sans"/>
              </a:defRPr>
            </a:pPr>
            <a:r>
              <a:t>SAFETY — RELEVANT OCTOBER TOPICS</a:t>
            </a:r>
          </a:p>
        </p:txBody>
      </p:sp>
      <p:sp>
        <p:nvSpPr>
          <p:cNvPr id="22" name="TextBox 21"/>
          <p:cNvSpPr txBox="1"/>
          <p:nvPr/>
        </p:nvSpPr>
        <p:spPr>
          <a:xfrm>
            <a:off x="566928" y="5184648"/>
            <a:ext cx="7863840" cy="749808"/>
          </a:xfrm>
          <a:prstGeom prst="rect">
            <a:avLst/>
          </a:prstGeom>
          <a:noFill/>
        </p:spPr>
        <p:txBody>
          <a:bodyPr wrap="square" lIns="18288" rIns="18288" tIns="0" bIns="0">
            <a:spAutoFit/>
          </a:bodyPr>
          <a:lstStyle/>
          <a:p>
            <a:pPr>
              <a:spcAft>
                <a:spcPts val="500"/>
              </a:spcAft>
              <a:defRPr sz="1200" b="0">
                <a:solidFill>
                  <a:srgbClr val="27364A"/>
                </a:solidFill>
                <a:latin typeface="DejaVu Sans"/>
              </a:defRPr>
            </a:pPr>
            <a:r>
              <a:t>[Pending topics from Leandro Doglio]</a:t>
            </a:r>
          </a:p>
          <a:p>
            <a:pPr>
              <a:spcAft>
                <a:spcPts val="500"/>
              </a:spcAft>
              <a:defRPr sz="1200" b="0">
                <a:solidFill>
                  <a:srgbClr val="27364A"/>
                </a:solidFill>
                <a:latin typeface="DejaVu Sans"/>
              </a:defRPr>
            </a:pPr>
            <a:r>
              <a:t>Confirmed development · relevance · next step</a:t>
            </a:r>
          </a:p>
        </p:txBody>
      </p:sp>
      <p:sp>
        <p:nvSpPr>
          <p:cNvPr id="23" name="TextBox 22"/>
          <p:cNvSpPr txBox="1"/>
          <p:nvPr/>
        </p:nvSpPr>
        <p:spPr>
          <a:xfrm>
            <a:off x="3474720" y="6601968"/>
            <a:ext cx="4389120" cy="155448"/>
          </a:xfrm>
          <a:prstGeom prst="rect">
            <a:avLst/>
          </a:prstGeom>
          <a:noFill/>
        </p:spPr>
        <p:txBody>
          <a:bodyPr wrap="square" lIns="18288" rIns="18288" tIns="0" bIns="0">
            <a:spAutoFit/>
          </a:bodyPr>
          <a:lstStyle/>
          <a:p>
            <a:pPr>
              <a:spcAft>
                <a:spcPts val="500"/>
              </a:spcAft>
              <a:defRPr sz="650" b="0">
                <a:solidFill>
                  <a:srgbClr val="68717D"/>
                </a:solidFill>
                <a:latin typeface="DejaVu Sans"/>
              </a:defRPr>
            </a:pPr>
            <a:r>
              <a:t>WORKING DRAFT · October topics pending</a:t>
            </a:r>
          </a:p>
        </p:txBody>
      </p:sp>
      <p:sp>
        <p:nvSpPr>
          <p:cNvPr id="24" name="TextBox 23"/>
          <p:cNvSpPr txBox="1"/>
          <p:nvPr/>
        </p:nvSpPr>
        <p:spPr>
          <a:xfrm>
            <a:off x="8595360" y="6556248"/>
            <a:ext cx="274320" cy="201168"/>
          </a:xfrm>
          <a:prstGeom prst="rect">
            <a:avLst/>
          </a:prstGeom>
          <a:noFill/>
        </p:spPr>
        <p:txBody>
          <a:bodyPr wrap="square" lIns="18288" rIns="18288" tIns="0" bIns="0">
            <a:spAutoFit/>
          </a:bodyPr>
          <a:lstStyle/>
          <a:p>
            <a:pPr algn="r">
              <a:spcAft>
                <a:spcPts val="500"/>
              </a:spcAft>
              <a:defRPr sz="800" b="0">
                <a:solidFill>
                  <a:srgbClr val="68717D"/>
                </a:solidFill>
                <a:latin typeface="DejaVu Sans"/>
              </a:defRPr>
            </a:pPr>
            <a:r>
              <a:t>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 name="Rectángulo 7">
            <a:extLst>
              <a:ext uri="{FF2B5EF4-FFF2-40B4-BE49-F238E27FC236}">
                <a16:creationId xmlns:a16="http://schemas.microsoft.com/office/drawing/2014/main" id="{E0F0ACF1-FB3B-891E-E4C9-CEDACE965B70}"/>
              </a:ext>
            </a:extLst>
          </p:cNvPr>
          <p:cNvSpPr/>
          <p:nvPr/>
        </p:nvSpPr>
        <p:spPr>
          <a:xfrm>
            <a:off x="0" y="0"/>
            <a:ext cx="9144000" cy="7065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9" name="Título 1">
            <a:extLst>
              <a:ext uri="{FF2B5EF4-FFF2-40B4-BE49-F238E27FC236}">
                <a16:creationId xmlns:a16="http://schemas.microsoft.com/office/drawing/2014/main" id="{2C399A2C-904E-A0D7-BF10-0536804170B1}"/>
              </a:ext>
            </a:extLst>
          </p:cNvPr>
          <p:cNvSpPr txBox="1">
            <a:spLocks/>
          </p:cNvSpPr>
          <p:nvPr/>
        </p:nvSpPr>
        <p:spPr>
          <a:xfrm>
            <a:off x="179509" y="142504"/>
            <a:ext cx="7863840" cy="475488"/>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sz="1400" b="1">
                <a:solidFill>
                  <a:srgbClr val="013EF5"/>
                </a:solidFill>
                <a:latin typeface="DejaVu Sans"/>
              </a:rPr>
              <a:t>1.3 &gt; DEDICATED GAS PIPELINE UPDATE &gt; Environmental Performance Indicators</a:t>
            </a:r>
          </a:p>
        </p:txBody>
      </p:sp>
      <p:pic>
        <p:nvPicPr>
          <p:cNvPr id="11" name="Imagen 10">
            <a:extLst>
              <a:ext uri="{FF2B5EF4-FFF2-40B4-BE49-F238E27FC236}">
                <a16:creationId xmlns:a16="http://schemas.microsoft.com/office/drawing/2014/main" id="{B890EEC0-89A1-F0FA-6F0E-CA480F8EF46C}"/>
              </a:ext>
            </a:extLst>
          </p:cNvPr>
          <p:cNvPicPr>
            <a:picLocks noChangeAspect="1"/>
          </p:cNvPicPr>
          <p:nvPr/>
        </p:nvPicPr>
        <p:blipFill rotWithShape="1">
          <a:blip r:embed="rId2"/>
          <a:srcRect t="-1" r="54800" b="49955"/>
          <a:stretch/>
        </p:blipFill>
        <p:spPr>
          <a:xfrm>
            <a:off x="8549908" y="117682"/>
            <a:ext cx="274715" cy="232529"/>
          </a:xfrm>
          <a:prstGeom prst="rect">
            <a:avLst/>
          </a:prstGeom>
        </p:spPr>
      </p:pic>
      <p:sp>
        <p:nvSpPr>
          <p:cNvPr id="12" name="CuadroTexto 11">
            <a:extLst>
              <a:ext uri="{FF2B5EF4-FFF2-40B4-BE49-F238E27FC236}">
                <a16:creationId xmlns:a16="http://schemas.microsoft.com/office/drawing/2014/main" id="{8B51CD8C-DB5F-892A-4B92-E56F0244E354}"/>
              </a:ext>
            </a:extLst>
          </p:cNvPr>
          <p:cNvSpPr txBox="1"/>
          <p:nvPr/>
        </p:nvSpPr>
        <p:spPr>
          <a:xfrm>
            <a:off x="8231453" y="321314"/>
            <a:ext cx="1151431" cy="215444"/>
          </a:xfrm>
          <a:prstGeom prst="rect">
            <a:avLst/>
          </a:prstGeom>
          <a:noFill/>
        </p:spPr>
        <p:txBody>
          <a:bodyPr wrap="square" rtlCol="0">
            <a:spAutoFit/>
          </a:bodyPr>
          <a:lstStyle/>
          <a:p>
            <a:r>
              <a:rPr lang="en-GB" sz="800" spc="100" noProof="0" dirty="0">
                <a:solidFill>
                  <a:srgbClr val="FF0000"/>
                </a:solidFill>
                <a:latin typeface="Aptos Display" panose="020B0004020202020204" pitchFamily="34" charset="0"/>
              </a:rPr>
              <a:t>CONFIDENTIAL</a:t>
            </a:r>
          </a:p>
        </p:txBody>
      </p:sp>
      <p:sp>
        <p:nvSpPr>
          <p:cNvPr id="13" name="TextBox 12"/>
          <p:cNvSpPr txBox="1"/>
          <p:nvPr/>
        </p:nvSpPr>
        <p:spPr>
          <a:xfrm>
            <a:off x="438912" y="832104"/>
            <a:ext cx="8321040" cy="237744"/>
          </a:xfrm>
          <a:prstGeom prst="rect">
            <a:avLst/>
          </a:prstGeom>
          <a:noFill/>
        </p:spPr>
        <p:txBody>
          <a:bodyPr wrap="square" lIns="18288" rIns="18288" tIns="0" bIns="0">
            <a:spAutoFit/>
          </a:bodyPr>
          <a:lstStyle/>
          <a:p>
            <a:pPr>
              <a:spcAft>
                <a:spcPts val="500"/>
              </a:spcAft>
              <a:defRPr sz="900" b="0">
                <a:solidFill>
                  <a:srgbClr val="68717D"/>
                </a:solidFill>
                <a:latin typeface="DejaVu Sans"/>
              </a:defRPr>
            </a:pPr>
            <a:r>
              <a:t>August–September historical data</a:t>
            </a:r>
          </a:p>
        </p:txBody>
      </p:sp>
      <p:sp>
        <p:nvSpPr>
          <p:cNvPr id="14" name="TextBox 13"/>
          <p:cNvSpPr txBox="1"/>
          <p:nvPr/>
        </p:nvSpPr>
        <p:spPr>
          <a:xfrm>
            <a:off x="484632" y="1207008"/>
            <a:ext cx="4023360" cy="274320"/>
          </a:xfrm>
          <a:prstGeom prst="rect">
            <a:avLst/>
          </a:prstGeom>
          <a:noFill/>
        </p:spPr>
        <p:txBody>
          <a:bodyPr wrap="square" lIns="18288" rIns="18288" tIns="0" bIns="0">
            <a:spAutoFit/>
          </a:bodyPr>
          <a:lstStyle/>
          <a:p>
            <a:pPr>
              <a:spcAft>
                <a:spcPts val="500"/>
              </a:spcAft>
              <a:defRPr sz="1100" b="1">
                <a:solidFill>
                  <a:srgbClr val="013EF5"/>
                </a:solidFill>
                <a:latin typeface="DejaVu Sans"/>
              </a:defRPr>
            </a:pPr>
            <a:r>
              <a:t>TOTAL WASTE GENERATION (kg/month)</a:t>
            </a:r>
          </a:p>
        </p:txBody>
      </p:sp>
      <p:graphicFrame>
        <p:nvGraphicFramePr>
          <p:cNvPr id="15" name="Chart 14"/>
          <p:cNvGraphicFramePr>
            <a:graphicFrameLocks noGrp="1"/>
          </p:cNvGraphicFramePr>
          <p:nvPr/>
        </p:nvGraphicFramePr>
        <p:xfrm>
          <a:off x="457200" y="1572768"/>
          <a:ext cx="3063240" cy="2121408"/>
        </p:xfrm>
        <a:graphic>
          <a:graphicData uri="http://schemas.openxmlformats.org/drawingml/2006/chart">
            <c:chart xmlns:c="http://schemas.openxmlformats.org/drawingml/2006/chart" r:id="rId3"/>
          </a:graphicData>
        </a:graphic>
      </p:graphicFrame>
      <p:sp>
        <p:nvSpPr>
          <p:cNvPr id="16" name="Rectangle 15"/>
          <p:cNvSpPr/>
          <p:nvPr/>
        </p:nvSpPr>
        <p:spPr>
          <a:xfrm>
            <a:off x="4114800" y="1901952"/>
            <a:ext cx="2240280" cy="1024128"/>
          </a:xfrm>
          <a:prstGeom prst="rect">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114800" y="1901952"/>
            <a:ext cx="50292" cy="1024128"/>
          </a:xfrm>
          <a:prstGeom prst="rect">
            <a:avLst/>
          </a:prstGeom>
          <a:solidFill>
            <a:srgbClr val="013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224528" y="1984248"/>
            <a:ext cx="2057400" cy="320040"/>
          </a:xfrm>
          <a:prstGeom prst="rect">
            <a:avLst/>
          </a:prstGeom>
          <a:noFill/>
        </p:spPr>
        <p:txBody>
          <a:bodyPr wrap="square" lIns="18288" rIns="18288" tIns="0" bIns="0">
            <a:spAutoFit/>
          </a:bodyPr>
          <a:lstStyle/>
          <a:p>
            <a:pPr>
              <a:spcAft>
                <a:spcPts val="500"/>
              </a:spcAft>
              <a:defRPr sz="850" b="1">
                <a:solidFill>
                  <a:srgbClr val="68717D"/>
                </a:solidFill>
                <a:latin typeface="DejaVu Sans"/>
              </a:defRPr>
            </a:pPr>
            <a:r>
              <a:t>% Waste recovery</a:t>
            </a:r>
          </a:p>
        </p:txBody>
      </p:sp>
      <p:sp>
        <p:nvSpPr>
          <p:cNvPr id="19" name="TextBox 18"/>
          <p:cNvSpPr txBox="1"/>
          <p:nvPr/>
        </p:nvSpPr>
        <p:spPr>
          <a:xfrm>
            <a:off x="4224528" y="2359152"/>
            <a:ext cx="2011680" cy="475488"/>
          </a:xfrm>
          <a:prstGeom prst="rect">
            <a:avLst/>
          </a:prstGeom>
          <a:noFill/>
        </p:spPr>
        <p:txBody>
          <a:bodyPr wrap="square" lIns="18288" rIns="18288" tIns="0" bIns="0">
            <a:spAutoFit/>
          </a:bodyPr>
          <a:lstStyle/>
          <a:p>
            <a:pPr>
              <a:spcAft>
                <a:spcPts val="500"/>
              </a:spcAft>
              <a:defRPr sz="2800" b="1">
                <a:solidFill>
                  <a:srgbClr val="013EF5"/>
                </a:solidFill>
                <a:latin typeface="DejaVu Sans"/>
              </a:defRPr>
            </a:pPr>
            <a:r>
              <a:t>0%</a:t>
            </a:r>
          </a:p>
        </p:txBody>
      </p:sp>
      <p:sp>
        <p:nvSpPr>
          <p:cNvPr id="20" name="Rectangle 19"/>
          <p:cNvSpPr/>
          <p:nvPr/>
        </p:nvSpPr>
        <p:spPr>
          <a:xfrm>
            <a:off x="6446520" y="1901952"/>
            <a:ext cx="2240280" cy="1024128"/>
          </a:xfrm>
          <a:prstGeom prst="rect">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446520" y="1901952"/>
            <a:ext cx="50292" cy="1024128"/>
          </a:xfrm>
          <a:prstGeom prst="rect">
            <a:avLst/>
          </a:prstGeom>
          <a:solidFill>
            <a:srgbClr val="013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56248" y="1984248"/>
            <a:ext cx="2057400" cy="320040"/>
          </a:xfrm>
          <a:prstGeom prst="rect">
            <a:avLst/>
          </a:prstGeom>
          <a:noFill/>
        </p:spPr>
        <p:txBody>
          <a:bodyPr wrap="square" lIns="18288" rIns="18288" tIns="0" bIns="0">
            <a:spAutoFit/>
          </a:bodyPr>
          <a:lstStyle/>
          <a:p>
            <a:pPr>
              <a:spcAft>
                <a:spcPts val="500"/>
              </a:spcAft>
              <a:defRPr sz="850" b="1">
                <a:solidFill>
                  <a:srgbClr val="68717D"/>
                </a:solidFill>
                <a:latin typeface="DejaVu Sans"/>
              </a:defRPr>
            </a:pPr>
            <a:r>
              <a:t>% Waste final disposal / incinerated</a:t>
            </a:r>
          </a:p>
        </p:txBody>
      </p:sp>
      <p:sp>
        <p:nvSpPr>
          <p:cNvPr id="23" name="TextBox 22"/>
          <p:cNvSpPr txBox="1"/>
          <p:nvPr/>
        </p:nvSpPr>
        <p:spPr>
          <a:xfrm>
            <a:off x="6556248" y="2359152"/>
            <a:ext cx="2011680" cy="475488"/>
          </a:xfrm>
          <a:prstGeom prst="rect">
            <a:avLst/>
          </a:prstGeom>
          <a:noFill/>
        </p:spPr>
        <p:txBody>
          <a:bodyPr wrap="square" lIns="18288" rIns="18288" tIns="0" bIns="0">
            <a:spAutoFit/>
          </a:bodyPr>
          <a:lstStyle/>
          <a:p>
            <a:pPr>
              <a:spcAft>
                <a:spcPts val="500"/>
              </a:spcAft>
              <a:defRPr sz="2800" b="1">
                <a:solidFill>
                  <a:srgbClr val="013EF5"/>
                </a:solidFill>
                <a:latin typeface="DejaVu Sans"/>
              </a:defRPr>
            </a:pPr>
            <a:r>
              <a:t>100%</a:t>
            </a:r>
          </a:p>
        </p:txBody>
      </p:sp>
      <p:sp>
        <p:nvSpPr>
          <p:cNvPr id="24" name="TextBox 23"/>
          <p:cNvSpPr txBox="1"/>
          <p:nvPr/>
        </p:nvSpPr>
        <p:spPr>
          <a:xfrm>
            <a:off x="484632" y="4023360"/>
            <a:ext cx="4846320" cy="274320"/>
          </a:xfrm>
          <a:prstGeom prst="rect">
            <a:avLst/>
          </a:prstGeom>
          <a:noFill/>
        </p:spPr>
        <p:txBody>
          <a:bodyPr wrap="square" lIns="18288" rIns="18288" tIns="0" bIns="0">
            <a:spAutoFit/>
          </a:bodyPr>
          <a:lstStyle/>
          <a:p>
            <a:pPr>
              <a:spcAft>
                <a:spcPts val="500"/>
              </a:spcAft>
              <a:defRPr sz="1100" b="1">
                <a:solidFill>
                  <a:srgbClr val="013EF5"/>
                </a:solidFill>
                <a:latin typeface="DejaVu Sans"/>
              </a:defRPr>
            </a:pPr>
            <a:r>
              <a:t>FRESHWATER CONSUMPTION (m³/month)</a:t>
            </a:r>
          </a:p>
        </p:txBody>
      </p:sp>
      <p:graphicFrame>
        <p:nvGraphicFramePr>
          <p:cNvPr id="25" name="Chart 24"/>
          <p:cNvGraphicFramePr>
            <a:graphicFrameLocks noGrp="1"/>
          </p:cNvGraphicFramePr>
          <p:nvPr/>
        </p:nvGraphicFramePr>
        <p:xfrm>
          <a:off x="457200" y="4370832"/>
          <a:ext cx="3063240" cy="1947672"/>
        </p:xfrm>
        <a:graphic>
          <a:graphicData uri="http://schemas.openxmlformats.org/drawingml/2006/chart">
            <c:chart xmlns:c="http://schemas.openxmlformats.org/drawingml/2006/chart" r:id="rId4"/>
          </a:graphicData>
        </a:graphic>
      </p:graphicFrame>
      <p:sp>
        <p:nvSpPr>
          <p:cNvPr id="26" name="TextBox 25"/>
          <p:cNvSpPr txBox="1"/>
          <p:nvPr/>
        </p:nvSpPr>
        <p:spPr>
          <a:xfrm>
            <a:off x="3474720" y="6601968"/>
            <a:ext cx="4389120" cy="155448"/>
          </a:xfrm>
          <a:prstGeom prst="rect">
            <a:avLst/>
          </a:prstGeom>
          <a:noFill/>
        </p:spPr>
        <p:txBody>
          <a:bodyPr wrap="square" lIns="18288" rIns="18288" tIns="0" bIns="0">
            <a:spAutoFit/>
          </a:bodyPr>
          <a:lstStyle/>
          <a:p>
            <a:pPr>
              <a:spcAft>
                <a:spcPts val="500"/>
              </a:spcAft>
              <a:defRPr sz="650" b="0">
                <a:solidFill>
                  <a:srgbClr val="68717D"/>
                </a:solidFill>
                <a:latin typeface="DejaVu Sans"/>
              </a:defRPr>
            </a:pPr>
            <a:r>
              <a:t>WORKING DRAFT · October topics pending</a:t>
            </a:r>
          </a:p>
        </p:txBody>
      </p:sp>
      <p:sp>
        <p:nvSpPr>
          <p:cNvPr id="27" name="TextBox 26"/>
          <p:cNvSpPr txBox="1"/>
          <p:nvPr/>
        </p:nvSpPr>
        <p:spPr>
          <a:xfrm>
            <a:off x="8595360" y="6556248"/>
            <a:ext cx="274320" cy="201168"/>
          </a:xfrm>
          <a:prstGeom prst="rect">
            <a:avLst/>
          </a:prstGeom>
          <a:noFill/>
        </p:spPr>
        <p:txBody>
          <a:bodyPr wrap="square" lIns="18288" rIns="18288" tIns="0" bIns="0">
            <a:spAutoFit/>
          </a:bodyPr>
          <a:lstStyle/>
          <a:p>
            <a:pPr algn="r">
              <a:spcAft>
                <a:spcPts val="500"/>
              </a:spcAft>
              <a:defRPr sz="800" b="0">
                <a:solidFill>
                  <a:srgbClr val="68717D"/>
                </a:solidFill>
                <a:latin typeface="DejaVu Sans"/>
              </a:defRPr>
            </a:pPr>
            <a:r>
              <a:t>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 name="Rectángulo 7">
            <a:extLst>
              <a:ext uri="{FF2B5EF4-FFF2-40B4-BE49-F238E27FC236}">
                <a16:creationId xmlns:a16="http://schemas.microsoft.com/office/drawing/2014/main" id="{E0F0ACF1-FB3B-891E-E4C9-CEDACE965B70}"/>
              </a:ext>
            </a:extLst>
          </p:cNvPr>
          <p:cNvSpPr/>
          <p:nvPr/>
        </p:nvSpPr>
        <p:spPr>
          <a:xfrm>
            <a:off x="0" y="0"/>
            <a:ext cx="9144000" cy="7065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9" name="Título 1">
            <a:extLst>
              <a:ext uri="{FF2B5EF4-FFF2-40B4-BE49-F238E27FC236}">
                <a16:creationId xmlns:a16="http://schemas.microsoft.com/office/drawing/2014/main" id="{2C399A2C-904E-A0D7-BF10-0536804170B1}"/>
              </a:ext>
            </a:extLst>
          </p:cNvPr>
          <p:cNvSpPr txBox="1">
            <a:spLocks/>
          </p:cNvSpPr>
          <p:nvPr/>
        </p:nvSpPr>
        <p:spPr>
          <a:xfrm>
            <a:off x="179509" y="142504"/>
            <a:ext cx="7863840" cy="475488"/>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sz="1400" b="1">
                <a:solidFill>
                  <a:srgbClr val="013EF5"/>
                </a:solidFill>
                <a:latin typeface="DejaVu Sans"/>
              </a:rPr>
              <a:t>1.3 &gt; DEDICATED GAS PIPELINE UPDATE &gt; Environment | October Highlights</a:t>
            </a:r>
          </a:p>
        </p:txBody>
      </p:sp>
      <p:pic>
        <p:nvPicPr>
          <p:cNvPr id="11" name="Imagen 10">
            <a:extLst>
              <a:ext uri="{FF2B5EF4-FFF2-40B4-BE49-F238E27FC236}">
                <a16:creationId xmlns:a16="http://schemas.microsoft.com/office/drawing/2014/main" id="{B890EEC0-89A1-F0FA-6F0E-CA480F8EF46C}"/>
              </a:ext>
            </a:extLst>
          </p:cNvPr>
          <p:cNvPicPr>
            <a:picLocks noChangeAspect="1"/>
          </p:cNvPicPr>
          <p:nvPr/>
        </p:nvPicPr>
        <p:blipFill rotWithShape="1">
          <a:blip r:embed="rId2"/>
          <a:srcRect t="-1" r="54800" b="49955"/>
          <a:stretch/>
        </p:blipFill>
        <p:spPr>
          <a:xfrm>
            <a:off x="8549908" y="117682"/>
            <a:ext cx="274715" cy="232529"/>
          </a:xfrm>
          <a:prstGeom prst="rect">
            <a:avLst/>
          </a:prstGeom>
        </p:spPr>
      </p:pic>
      <p:sp>
        <p:nvSpPr>
          <p:cNvPr id="12" name="CuadroTexto 11">
            <a:extLst>
              <a:ext uri="{FF2B5EF4-FFF2-40B4-BE49-F238E27FC236}">
                <a16:creationId xmlns:a16="http://schemas.microsoft.com/office/drawing/2014/main" id="{8B51CD8C-DB5F-892A-4B92-E56F0244E354}"/>
              </a:ext>
            </a:extLst>
          </p:cNvPr>
          <p:cNvSpPr txBox="1"/>
          <p:nvPr/>
        </p:nvSpPr>
        <p:spPr>
          <a:xfrm>
            <a:off x="8231453" y="321314"/>
            <a:ext cx="1151431" cy="215444"/>
          </a:xfrm>
          <a:prstGeom prst="rect">
            <a:avLst/>
          </a:prstGeom>
          <a:noFill/>
        </p:spPr>
        <p:txBody>
          <a:bodyPr wrap="square" rtlCol="0">
            <a:spAutoFit/>
          </a:bodyPr>
          <a:lstStyle/>
          <a:p>
            <a:r>
              <a:rPr lang="en-GB" sz="800" spc="100" noProof="0" dirty="0">
                <a:solidFill>
                  <a:srgbClr val="FF0000"/>
                </a:solidFill>
                <a:latin typeface="Aptos Display" panose="020B0004020202020204" pitchFamily="34" charset="0"/>
              </a:rPr>
              <a:t>CONFIDENTIAL</a:t>
            </a:r>
          </a:p>
        </p:txBody>
      </p:sp>
      <p:sp>
        <p:nvSpPr>
          <p:cNvPr id="13" name="TextBox 12"/>
          <p:cNvSpPr txBox="1"/>
          <p:nvPr/>
        </p:nvSpPr>
        <p:spPr>
          <a:xfrm>
            <a:off x="411480" y="850392"/>
            <a:ext cx="8321040" cy="320040"/>
          </a:xfrm>
          <a:prstGeom prst="rect">
            <a:avLst/>
          </a:prstGeom>
          <a:noFill/>
        </p:spPr>
        <p:txBody>
          <a:bodyPr wrap="square" lIns="18288" rIns="18288" tIns="0" bIns="0">
            <a:spAutoFit/>
          </a:bodyPr>
          <a:lstStyle/>
          <a:p>
            <a:pPr>
              <a:spcAft>
                <a:spcPts val="500"/>
              </a:spcAft>
              <a:defRPr sz="1100" b="1">
                <a:solidFill>
                  <a:srgbClr val="013EF5"/>
                </a:solidFill>
                <a:latin typeface="DejaVu Sans"/>
              </a:defRPr>
            </a:pPr>
            <a:r>
              <a:t>OCTOBER 2026 · PHOTOS &amp; RELEVANT HIGHLIGHTS · cut-off 27 Oct</a:t>
            </a:r>
          </a:p>
        </p:txBody>
      </p:sp>
      <p:sp>
        <p:nvSpPr>
          <p:cNvPr id="14" name="Rectangle 13"/>
          <p:cNvSpPr/>
          <p:nvPr/>
        </p:nvSpPr>
        <p:spPr>
          <a:xfrm>
            <a:off x="411480" y="1417320"/>
            <a:ext cx="4023360" cy="2331720"/>
          </a:xfrm>
          <a:prstGeom prst="rect">
            <a:avLst/>
          </a:prstGeom>
          <a:solidFill>
            <a:srgbClr val="F2F3F5"/>
          </a:solidFill>
          <a:ln>
            <a:solidFill>
              <a:srgbClr val="CD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2148840"/>
            <a:ext cx="3749039" cy="640080"/>
          </a:xfrm>
          <a:prstGeom prst="rect">
            <a:avLst/>
          </a:prstGeom>
          <a:noFill/>
        </p:spPr>
        <p:txBody>
          <a:bodyPr wrap="square" lIns="18288" rIns="18288" tIns="0" bIns="0">
            <a:spAutoFit/>
          </a:bodyPr>
          <a:lstStyle/>
          <a:p>
            <a:pPr algn="ctr">
              <a:spcAft>
                <a:spcPts val="500"/>
              </a:spcAft>
              <a:defRPr sz="1500" b="0">
                <a:solidFill>
                  <a:srgbClr val="68717D"/>
                </a:solidFill>
                <a:latin typeface="DejaVu Sans"/>
              </a:defRPr>
            </a:pPr>
            <a:r>
              <a:t>OCTOBER PHOTO 1</a:t>
            </a:r>
          </a:p>
          <a:p>
            <a:pPr algn="ctr">
              <a:spcAft>
                <a:spcPts val="500"/>
              </a:spcAft>
              <a:defRPr sz="1500" b="0">
                <a:solidFill>
                  <a:srgbClr val="68717D"/>
                </a:solidFill>
                <a:latin typeface="DejaVu Sans"/>
              </a:defRPr>
            </a:pPr>
            <a:r>
              <a:t>Pending actual photo</a:t>
            </a:r>
          </a:p>
        </p:txBody>
      </p:sp>
      <p:sp>
        <p:nvSpPr>
          <p:cNvPr id="16" name="TextBox 15"/>
          <p:cNvSpPr txBox="1"/>
          <p:nvPr/>
        </p:nvSpPr>
        <p:spPr>
          <a:xfrm>
            <a:off x="411480" y="3867912"/>
            <a:ext cx="4023360" cy="502920"/>
          </a:xfrm>
          <a:prstGeom prst="rect">
            <a:avLst/>
          </a:prstGeom>
          <a:noFill/>
        </p:spPr>
        <p:txBody>
          <a:bodyPr wrap="square" lIns="18288" rIns="18288" tIns="0" bIns="0">
            <a:spAutoFit/>
          </a:bodyPr>
          <a:lstStyle/>
          <a:p>
            <a:pPr>
              <a:spcAft>
                <a:spcPts val="500"/>
              </a:spcAft>
              <a:defRPr sz="950" b="0">
                <a:solidFill>
                  <a:srgbClr val="68717D"/>
                </a:solidFill>
                <a:latin typeface="DejaVu Sans"/>
              </a:defRPr>
            </a:pPr>
            <a:r>
              <a:t>Date / location / activity: pending confirmation</a:t>
            </a:r>
          </a:p>
        </p:txBody>
      </p:sp>
      <p:sp>
        <p:nvSpPr>
          <p:cNvPr id="17" name="Rectangle 16"/>
          <p:cNvSpPr/>
          <p:nvPr/>
        </p:nvSpPr>
        <p:spPr>
          <a:xfrm>
            <a:off x="4681728" y="1417320"/>
            <a:ext cx="4023360" cy="2331720"/>
          </a:xfrm>
          <a:prstGeom prst="rect">
            <a:avLst/>
          </a:prstGeom>
          <a:solidFill>
            <a:srgbClr val="F2F3F5"/>
          </a:solidFill>
          <a:ln>
            <a:solidFill>
              <a:srgbClr val="CD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818888" y="2148840"/>
            <a:ext cx="3749039" cy="640080"/>
          </a:xfrm>
          <a:prstGeom prst="rect">
            <a:avLst/>
          </a:prstGeom>
          <a:noFill/>
        </p:spPr>
        <p:txBody>
          <a:bodyPr wrap="square" lIns="18288" rIns="18288" tIns="0" bIns="0">
            <a:spAutoFit/>
          </a:bodyPr>
          <a:lstStyle/>
          <a:p>
            <a:pPr algn="ctr">
              <a:spcAft>
                <a:spcPts val="500"/>
              </a:spcAft>
              <a:defRPr sz="1500" b="0">
                <a:solidFill>
                  <a:srgbClr val="68717D"/>
                </a:solidFill>
                <a:latin typeface="DejaVu Sans"/>
              </a:defRPr>
            </a:pPr>
            <a:r>
              <a:t>OCTOBER PHOTO 2</a:t>
            </a:r>
          </a:p>
          <a:p>
            <a:pPr algn="ctr">
              <a:spcAft>
                <a:spcPts val="500"/>
              </a:spcAft>
              <a:defRPr sz="1500" b="0">
                <a:solidFill>
                  <a:srgbClr val="68717D"/>
                </a:solidFill>
                <a:latin typeface="DejaVu Sans"/>
              </a:defRPr>
            </a:pPr>
            <a:r>
              <a:t>Pending actual photo</a:t>
            </a:r>
          </a:p>
        </p:txBody>
      </p:sp>
      <p:sp>
        <p:nvSpPr>
          <p:cNvPr id="19" name="TextBox 18"/>
          <p:cNvSpPr txBox="1"/>
          <p:nvPr/>
        </p:nvSpPr>
        <p:spPr>
          <a:xfrm>
            <a:off x="4681728" y="3867912"/>
            <a:ext cx="4023360" cy="502920"/>
          </a:xfrm>
          <a:prstGeom prst="rect">
            <a:avLst/>
          </a:prstGeom>
          <a:noFill/>
        </p:spPr>
        <p:txBody>
          <a:bodyPr wrap="square" lIns="18288" rIns="18288" tIns="0" bIns="0">
            <a:spAutoFit/>
          </a:bodyPr>
          <a:lstStyle/>
          <a:p>
            <a:pPr>
              <a:spcAft>
                <a:spcPts val="500"/>
              </a:spcAft>
              <a:defRPr sz="950" b="0">
                <a:solidFill>
                  <a:srgbClr val="68717D"/>
                </a:solidFill>
                <a:latin typeface="DejaVu Sans"/>
              </a:defRPr>
            </a:pPr>
            <a:r>
              <a:t>Date / location / activity: pending confirmation</a:t>
            </a:r>
          </a:p>
        </p:txBody>
      </p:sp>
      <p:sp>
        <p:nvSpPr>
          <p:cNvPr id="20" name="Rectangle 19"/>
          <p:cNvSpPr/>
          <p:nvPr/>
        </p:nvSpPr>
        <p:spPr>
          <a:xfrm>
            <a:off x="411480" y="4590288"/>
            <a:ext cx="8293608" cy="1554480"/>
          </a:xfrm>
          <a:prstGeom prst="rect">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 y="4727448"/>
            <a:ext cx="8001000" cy="274320"/>
          </a:xfrm>
          <a:prstGeom prst="rect">
            <a:avLst/>
          </a:prstGeom>
          <a:noFill/>
        </p:spPr>
        <p:txBody>
          <a:bodyPr wrap="square" lIns="18288" rIns="18288" tIns="0" bIns="0">
            <a:spAutoFit/>
          </a:bodyPr>
          <a:lstStyle/>
          <a:p>
            <a:pPr>
              <a:spcAft>
                <a:spcPts val="500"/>
              </a:spcAft>
              <a:defRPr sz="1200" b="1">
                <a:solidFill>
                  <a:srgbClr val="013EF5"/>
                </a:solidFill>
                <a:latin typeface="DejaVu Sans"/>
              </a:defRPr>
            </a:pPr>
            <a:r>
              <a:t>ENVIRONMENT — RELEVANT OCTOBER TOPICS</a:t>
            </a:r>
          </a:p>
        </p:txBody>
      </p:sp>
      <p:sp>
        <p:nvSpPr>
          <p:cNvPr id="22" name="TextBox 21"/>
          <p:cNvSpPr txBox="1"/>
          <p:nvPr/>
        </p:nvSpPr>
        <p:spPr>
          <a:xfrm>
            <a:off x="566928" y="5184648"/>
            <a:ext cx="7863840" cy="749808"/>
          </a:xfrm>
          <a:prstGeom prst="rect">
            <a:avLst/>
          </a:prstGeom>
          <a:noFill/>
        </p:spPr>
        <p:txBody>
          <a:bodyPr wrap="square" lIns="18288" rIns="18288" tIns="0" bIns="0">
            <a:spAutoFit/>
          </a:bodyPr>
          <a:lstStyle/>
          <a:p>
            <a:pPr>
              <a:spcAft>
                <a:spcPts val="500"/>
              </a:spcAft>
              <a:defRPr sz="1200" b="0">
                <a:solidFill>
                  <a:srgbClr val="27364A"/>
                </a:solidFill>
                <a:latin typeface="DejaVu Sans"/>
              </a:defRPr>
            </a:pPr>
            <a:r>
              <a:t>[Pending topics from Leandro Doglio]</a:t>
            </a:r>
          </a:p>
          <a:p>
            <a:pPr>
              <a:spcAft>
                <a:spcPts val="500"/>
              </a:spcAft>
              <a:defRPr sz="1200" b="0">
                <a:solidFill>
                  <a:srgbClr val="27364A"/>
                </a:solidFill>
                <a:latin typeface="DejaVu Sans"/>
              </a:defRPr>
            </a:pPr>
            <a:r>
              <a:t>Confirmed development · relevance · next step</a:t>
            </a:r>
          </a:p>
        </p:txBody>
      </p:sp>
      <p:sp>
        <p:nvSpPr>
          <p:cNvPr id="23" name="TextBox 22"/>
          <p:cNvSpPr txBox="1"/>
          <p:nvPr/>
        </p:nvSpPr>
        <p:spPr>
          <a:xfrm>
            <a:off x="3474720" y="6601968"/>
            <a:ext cx="4389120" cy="155448"/>
          </a:xfrm>
          <a:prstGeom prst="rect">
            <a:avLst/>
          </a:prstGeom>
          <a:noFill/>
        </p:spPr>
        <p:txBody>
          <a:bodyPr wrap="square" lIns="18288" rIns="18288" tIns="0" bIns="0">
            <a:spAutoFit/>
          </a:bodyPr>
          <a:lstStyle/>
          <a:p>
            <a:pPr>
              <a:spcAft>
                <a:spcPts val="500"/>
              </a:spcAft>
              <a:defRPr sz="650" b="0">
                <a:solidFill>
                  <a:srgbClr val="68717D"/>
                </a:solidFill>
                <a:latin typeface="DejaVu Sans"/>
              </a:defRPr>
            </a:pPr>
            <a:r>
              <a:t>WORKING DRAFT · October topics pending</a:t>
            </a:r>
          </a:p>
        </p:txBody>
      </p:sp>
      <p:sp>
        <p:nvSpPr>
          <p:cNvPr id="24" name="TextBox 23"/>
          <p:cNvSpPr txBox="1"/>
          <p:nvPr/>
        </p:nvSpPr>
        <p:spPr>
          <a:xfrm>
            <a:off x="8595360" y="6556248"/>
            <a:ext cx="274320" cy="201168"/>
          </a:xfrm>
          <a:prstGeom prst="rect">
            <a:avLst/>
          </a:prstGeom>
          <a:noFill/>
        </p:spPr>
        <p:txBody>
          <a:bodyPr wrap="square" lIns="18288" rIns="18288" tIns="0" bIns="0">
            <a:spAutoFit/>
          </a:bodyPr>
          <a:lstStyle/>
          <a:p>
            <a:pPr algn="r">
              <a:spcAft>
                <a:spcPts val="500"/>
              </a:spcAft>
              <a:defRPr sz="800" b="0">
                <a:solidFill>
                  <a:srgbClr val="68717D"/>
                </a:solidFill>
                <a:latin typeface="DejaVu Sans"/>
              </a:defRPr>
            </a:pPr>
            <a:r>
              <a:t>7</a:t>
            </a:r>
          </a:p>
        </p:txBody>
      </p:sp>
    </p:spTree>
  </p:cSld>
  <p:clrMapOvr>
    <a:masterClrMapping/>
  </p:clrMapOvr>
</p:sld>
</file>

<file path=ppt/theme/theme1.xml><?xml version="1.0" encoding="utf-8"?>
<a:theme xmlns:a="http://schemas.openxmlformats.org/drawingml/2006/main" name="Office 2013 - Tema de 2022">
  <a:themeElements>
    <a:clrScheme name="Tema d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ma d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6158</TotalTime>
  <Words>624</Words>
  <Application>Microsoft Office PowerPoint</Application>
  <PresentationFormat>Presentación en pantalla (4:3)</PresentationFormat>
  <Paragraphs>96</Paragraphs>
  <Slides>6</Slides>
  <Notes>0</Notes>
  <HiddenSlides>0</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6</vt:i4>
      </vt:variant>
    </vt:vector>
  </HeadingPairs>
  <TitlesOfParts>
    <vt:vector size="15" baseType="lpstr">
      <vt:lpstr>Aptos</vt:lpstr>
      <vt:lpstr>Aptos Display</vt:lpstr>
      <vt:lpstr>Aptos ExtraBold</vt:lpstr>
      <vt:lpstr>Aptos Light</vt:lpstr>
      <vt:lpstr>Arial</vt:lpstr>
      <vt:lpstr>Calibri</vt:lpstr>
      <vt:lpstr>Calibri Light</vt:lpstr>
      <vt:lpstr>Courier New</vt:lpstr>
      <vt:lpstr>Office 2013 - Tema de 2022</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SMP October 2026 | Original charts + October highlights | v02 draft</dc:title>
  <dc:creator>Agustina Briceño</dc:creator>
  <cp:lastModifiedBy>DE GIROLAMO, ADRIAN LEANDRO</cp:lastModifiedBy>
  <cp:revision>192</cp:revision>
  <dcterms:created xsi:type="dcterms:W3CDTF">2026-03-04T19:10:22Z</dcterms:created>
  <dcterms:modified xsi:type="dcterms:W3CDTF">2026-10-26T17:30:23Z</dcterms:modified>
  <dc:subject>Data unchanged; safety and environment photo/highlight slides inserted</dc:subject>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b622c24-5861-4880-bcaa-37216e265fb3_Enabled">
    <vt:lpwstr>true</vt:lpwstr>
  </property>
  <property fmtid="{D5CDD505-2E9C-101B-9397-08002B2CF9AE}" pid="3" name="MSIP_Label_fb622c24-5861-4880-bcaa-37216e265fb3_SetDate">
    <vt:lpwstr>2026-10-26T17:29:30Z</vt:lpwstr>
  </property>
  <property fmtid="{D5CDD505-2E9C-101B-9397-08002B2CF9AE}" pid="4" name="MSIP_Label_fb622c24-5861-4880-bcaa-37216e265fb3_Method">
    <vt:lpwstr>Privileged</vt:lpwstr>
  </property>
  <property fmtid="{D5CDD505-2E9C-101B-9397-08002B2CF9AE}" pid="5" name="MSIP_Label_fb622c24-5861-4880-bcaa-37216e265fb3_Name">
    <vt:lpwstr>YPF - Publica</vt:lpwstr>
  </property>
  <property fmtid="{D5CDD505-2E9C-101B-9397-08002B2CF9AE}" pid="6" name="MSIP_Label_fb622c24-5861-4880-bcaa-37216e265fb3_SiteId">
    <vt:lpwstr>038018c3-616c-4b46-ad9b-aa9007f701b5</vt:lpwstr>
  </property>
  <property fmtid="{D5CDD505-2E9C-101B-9397-08002B2CF9AE}" pid="7" name="MSIP_Label_fb622c24-5861-4880-bcaa-37216e265fb3_ActionId">
    <vt:lpwstr>feabad59-8485-480b-aae4-35bb52f52600</vt:lpwstr>
  </property>
  <property fmtid="{D5CDD505-2E9C-101B-9397-08002B2CF9AE}" pid="8" name="MSIP_Label_fb622c24-5861-4880-bcaa-37216e265fb3_ContentBits">
    <vt:lpwstr>3</vt:lpwstr>
  </property>
  <property fmtid="{D5CDD505-2E9C-101B-9397-08002B2CF9AE}" pid="9" name="MSIP_Label_fb622c24-5861-4880-bcaa-37216e265fb3_Tag">
    <vt:lpwstr>10, 0, 1, 1</vt:lpwstr>
  </property>
  <property fmtid="{D5CDD505-2E9C-101B-9397-08002B2CF9AE}" pid="10" name="ClassificationContentMarkingFooterLocations">
    <vt:lpwstr>Office 2013 - Tema de 2022:10</vt:lpwstr>
  </property>
  <property fmtid="{D5CDD505-2E9C-101B-9397-08002B2CF9AE}" pid="11" name="ClassificationContentMarkingFooterText">
    <vt:lpwstr>Documento: YPF-Público</vt:lpwstr>
  </property>
  <property fmtid="{D5CDD505-2E9C-101B-9397-08002B2CF9AE}" pid="12" name="ClassificationContentMarkingHeaderLocations">
    <vt:lpwstr>Office 2013 - Tema de 2022:9</vt:lpwstr>
  </property>
  <property fmtid="{D5CDD505-2E9C-101B-9397-08002B2CF9AE}" pid="13" name="ClassificationContentMarkingHeaderText">
    <vt:lpwstr>Documento: YPF-Público</vt:lpwstr>
  </property>
</Properties>
</file>