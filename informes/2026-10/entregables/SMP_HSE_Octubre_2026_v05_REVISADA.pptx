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440" r:id="rId2"/>
    <p:sldId id="2146850441" r:id="rId3"/>
    <p:sldId id="2146850420" r:id="rId4"/>
    <p:sldId id="2146850547" r:id="rId5"/>
    <p:sldId id="2146850549" r:id="rId7"/>
    <p:sldId id="2146850550" r:id="rId6"/>
    <p:sldId id="2146850551" r:id="rId8"/>
    <p:sldId id="2146850482" r:id="rId9"/>
    <p:sldId id="214685054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99</c:v>
                </c:pt>
                <c:pt idx="1">
                  <c:v>93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0EC-407E-838F-29F239337853}"/>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99</c:v>
                </c:pt>
                <c:pt idx="1">
                  <c:v>192</c:v>
                </c:pt>
              </c:numCache>
            </c:numRef>
          </c:val>
          <c:smooth val="1"/>
          <c:extLst>
            <c:ext xmlns:c16="http://schemas.microsoft.com/office/drawing/2014/chart" uri="{C3380CC4-5D6E-409C-BE32-E72D297353CC}">
              <c16:uniqueId val="{00000001-30EC-407E-838F-29F239337853}"/>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25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695</c:v>
                </c:pt>
                <c:pt idx="1">
                  <c:v>2182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7A2-4435-8125-F5364098E951}"/>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695</c:v>
                </c:pt>
                <c:pt idx="1">
                  <c:v>2877</c:v>
                </c:pt>
              </c:numCache>
            </c:numRef>
          </c:val>
          <c:smooth val="1"/>
          <c:extLst>
            <c:ext xmlns:c16="http://schemas.microsoft.com/office/drawing/2014/chart" uri="{C3380CC4-5D6E-409C-BE32-E72D297353CC}">
              <c16:uniqueId val="{00000001-27A2-4435-8125-F5364098E951}"/>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350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tercer pantallazo aportado por el usuario, no lámina presente en la PPTX inicial. Reconstrucción editable de sus datos, sin actualización de valores. Residuos agosto 99 kg, septiembre 93 kg, acumulado agosto 99 y septiembre 192 kg. Agua agosto 695 m³, septiembre 2182 m³, acumulado agosto 695 y septiembre 2877 m³. Recuperación 0,00% se muestra como 0%; disposición final/incineración 100,00% como 100%. La captura muestra agosto y septiembre; no hay dato de octubre, por eso no se añade cero ni una barra de octubre. Los números de los gráficos se muestran como enteros sin separadores para evitar confusión entre miles y decimales. No se aportó denominador, alcance ni meta aprobada para los porcentajes; conservar como valores históricos de la captura. Año contextual del informe: 2026, no expresado en el gráfico de la captura. Inmediatamente después se coloca la nueva lámina de novedades relevantes de ambiente.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CRITERIO Y FUENTES DE LA LÁMINA AMBIENTAL.</a:t>
            </a:r>
          </a:p>
          <a:p>
            <a:r>
              <a:t>Adrián Leandro de Girolamo, jefe identificado por el usuario, indica en su reenvío del 26/10/2026: «Temas relevantes de ambiente para poner en un slide debajo de los datos estadisticos, estos ultimos deben quedar como se los mande».</a:t>
            </a:r>
          </a:p>
          <a:p>
            <a:r>
              <a:t>La síntesis ambiental queda después de los gráficos ambientales. Los recuadros PHOTO / SUPPORTING DOCUMENT eran una sugerencia opcional del asistente; no un requerimiento de Adrián. Se eliminaron. No hace falta pedir fotos para explicar estos dos trámites/hitos. Si se desea apoyo adicional, coordinar con Nicolás Auriemma, sin convertirlo en requisito de cierre.</a:t>
            </a:r>
          </a:p>
          <a:p>
            <a:r>
              <a:t>Fuente de los temas: correo de Nicolás Auriemma de 26/10/2026 reenviado por Adrián. (1) Aprobación de la Adenda Actualización Planta Compresora Allen; pendiente Stack Frío: presentar comparación antorcha vs venteo frío para discutir ante la autoridad. (2) Gestión pendiente con Serman para presentar ante SsRH las observaciones del Estudio de Riesgo Hídrico para obtener el permiso hídrico del tramo neuquino.</a:t>
            </a:r>
          </a:p>
          <a:p>
            <a:r>
              <a:t>Fecha 21/10/2026 y Resolución 962/2026: captura previa de la lámina de permisos, no documento original revisado. No afirmar que el venteo frío o el permiso hídrico estén aprobados.</a:t>
            </a:r>
          </a:p>
          <a:p>
            <a:r>
              <a:t>La cadena de Paula pide indicadores al 30/09 y novedades de octubre. Los datos estadísticos se conservan. El cierre de indicadores ambientales de octubre ocurre a principios de noviembre, según Nicolás. No inferir ausencia de incidentes a partir de ese comentario.</a:t>
            </a:r>
          </a:p>
          <a:p>
            <a:r>
              <a:t>La lámina completa de permisos ya está en el comité que tiene SESA; esta síntesis responde al pedido adicional de Adrián. No se contactó a nadie ni se envió correo.</a:t>
            </a:r>
          </a:p>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 Id="rId4" Type="http://schemas.openxmlformats.org/officeDocument/2006/relationships/chart" Target="../charts/chart8.xml"/><Relationship Id="rId5" Type="http://schemas.openxmlformats.org/officeDocument/2006/relationships/chart" Target="../charts/char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8717D"/>
                </a:solidFill>
                <a:latin typeface="Aptos"/>
              </a:rPr>
              <a:t>Statistics through 30 Sep 2026 · CP + Pipeline · October highlights reported separately</a:t>
            </a:r>
            <a:r>
              <a:rPr lang="en-GB" sz="900" b="0" i="0" noProof="0" dirty="0">
                <a:solidFill>
                  <a:srgbClr val="68717D"/>
                </a:solidFill>
                <a:latin typeface="Aptos"/>
              </a:rPr>
              <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2.35_x000B_Through 30 Sep 2026</a:t>
            </a:r>
            <a:br>
              <a:rPr lang="en-GB" sz="750" b="0" i="0" noProof="0" dirty="0">
                <a:solidFill>
                  <a:srgbClr val="6B7280"/>
                </a:solidFill>
                <a:latin typeface="Aptos"/>
              </a:rPr>
            </a:br>
            <a:r>
              <a:rPr lang="en-GB" sz="750" b="0" i="0" noProof="0" dirty="0">
                <a:solidFill>
                  <a:srgbClr val="FF0000"/>
                </a:solidFill>
                <a:latin typeface="Aptos"/>
              </a:rPr>
              <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0.79_x000B_Through 30 Sep 2026</a:t>
            </a:r>
            <a:br>
              <a:rPr lang="en-GB" sz="750" b="0" i="0" noProof="0" dirty="0">
                <a:solidFill>
                  <a:srgbClr val="6B7280"/>
                </a:solidFill>
                <a:latin typeface="Aptos"/>
              </a:rPr>
            </a:br>
            <a:r>
              <a:rPr lang="en-GB" sz="750" b="0" i="0" noProof="0" dirty="0">
                <a:solidFill>
                  <a:srgbClr val="FF0000"/>
                </a:solidFill>
                <a:latin typeface="Aptos"/>
              </a:rPr>
              <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r>
              <a:rPr lang="en-GB" sz="800" b="1" i="0" noProof="0" dirty="0">
                <a:solidFill>
                  <a:srgbClr val="FF0000"/>
                </a:solidFill>
                <a:latin typeface="Aptos"/>
              </a:rPr>
              <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October KPIs · figures not provided</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Environmental Performance Indicators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38912" y="832104"/>
            <a:ext cx="8321040" cy="237744"/>
          </a:xfrm>
          <a:prstGeom prst="rect">
            <a:avLst/>
          </a:prstGeom>
          <a:noFill/>
        </p:spPr>
        <p:txBody>
          <a:bodyPr wrap="square" lIns="18288" tIns="0" rIns="18288" bIns="0">
            <a:spAutoFit/>
          </a:bodyPr>
          <a:lstStyle/>
          <a:p>
            <a:pPr>
              <a:spcAft>
                <a:spcPts val="500"/>
              </a:spcAft>
              <a:defRPr sz="900" b="0">
                <a:solidFill>
                  <a:srgbClr val="68717D"/>
                </a:solidFill>
                <a:latin typeface="DejaVu Sans"/>
              </a:defRPr>
            </a:pPr>
            <a:r>
              <a:t>Statistics through 30 September 2026 · values unchanged</a:t>
            </a:r>
          </a:p>
        </p:txBody>
      </p:sp>
      <p:sp>
        <p:nvSpPr>
          <p:cNvPr id="14" name="TextBox 13"/>
          <p:cNvSpPr txBox="1"/>
          <p:nvPr/>
        </p:nvSpPr>
        <p:spPr>
          <a:xfrm>
            <a:off x="484632" y="1207008"/>
            <a:ext cx="402336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TOTAL WASTE GENERATION (kg/month)</a:t>
            </a:r>
          </a:p>
        </p:txBody>
      </p:sp>
      <p:graphicFrame>
        <p:nvGraphicFramePr>
          <p:cNvPr id="15" name="Chart 14"/>
          <p:cNvGraphicFramePr>
            <a:graphicFrameLocks noGrp="1"/>
          </p:cNvGraphicFramePr>
          <p:nvPr/>
        </p:nvGraphicFramePr>
        <p:xfrm>
          <a:off x="457200" y="1572768"/>
          <a:ext cx="3063240" cy="2121408"/>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411480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1480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2452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recovery</a:t>
            </a:r>
          </a:p>
        </p:txBody>
      </p:sp>
      <p:sp>
        <p:nvSpPr>
          <p:cNvPr id="19" name="TextBox 18"/>
          <p:cNvSpPr txBox="1"/>
          <p:nvPr/>
        </p:nvSpPr>
        <p:spPr>
          <a:xfrm>
            <a:off x="422452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0%</a:t>
            </a:r>
          </a:p>
        </p:txBody>
      </p:sp>
      <p:sp>
        <p:nvSpPr>
          <p:cNvPr id="20" name="Rectangle 19"/>
          <p:cNvSpPr/>
          <p:nvPr/>
        </p:nvSpPr>
        <p:spPr>
          <a:xfrm>
            <a:off x="644652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4652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5624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final disposal / incinerated</a:t>
            </a:r>
          </a:p>
        </p:txBody>
      </p:sp>
      <p:sp>
        <p:nvSpPr>
          <p:cNvPr id="23" name="TextBox 22"/>
          <p:cNvSpPr txBox="1"/>
          <p:nvPr/>
        </p:nvSpPr>
        <p:spPr>
          <a:xfrm>
            <a:off x="655624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100%</a:t>
            </a:r>
          </a:p>
        </p:txBody>
      </p:sp>
      <p:sp>
        <p:nvSpPr>
          <p:cNvPr id="24" name="TextBox 23"/>
          <p:cNvSpPr txBox="1"/>
          <p:nvPr/>
        </p:nvSpPr>
        <p:spPr>
          <a:xfrm>
            <a:off x="484632" y="4023360"/>
            <a:ext cx="484632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FRESHWATER CONSUMPTION (m³/month)</a:t>
            </a:r>
          </a:p>
        </p:txBody>
      </p:sp>
      <p:graphicFrame>
        <p:nvGraphicFramePr>
          <p:cNvPr id="25" name="Chart 24"/>
          <p:cNvGraphicFramePr>
            <a:graphicFrameLocks noGrp="1"/>
          </p:cNvGraphicFramePr>
          <p:nvPr/>
        </p:nvGraphicFramePr>
        <p:xfrm>
          <a:off x="457200" y="4370832"/>
          <a:ext cx="3063240" cy="1947672"/>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Box 2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7" name="TextBox 2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18888"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727448"/>
            <a:ext cx="8001000" cy="274320"/>
          </a:xfrm>
          <a:prstGeom prst="rect">
            <a:avLst/>
          </a:prstGeom>
          <a:noFill/>
        </p:spPr>
        <p:txBody>
          <a:bodyPr wrap="square" lIns="18288" tIns="0" rIns="18288" bIns="0">
            <a:spAutoFit/>
          </a:bodyPr>
          <a:lstStyle/>
          <a:p>
            <a:pPr>
              <a:spcAft>
                <a:spcPts val="500"/>
              </a:spcAft>
              <a:defRPr sz="1200" b="1">
                <a:solidFill>
                  <a:srgbClr val="013EF5"/>
                </a:solidFill>
                <a:latin typeface="DejaVu Sans"/>
              </a:defRPr>
            </a:pPr>
            <a:r>
              <a:t>SAFETY — RELEVANT OCTOBER TOPICS</a:t>
            </a:r>
          </a:p>
        </p:txBody>
      </p:sp>
      <p:sp>
        <p:nvSpPr>
          <p:cNvPr id="22" name="TextBox 21"/>
          <p:cNvSpPr txBox="1"/>
          <p:nvPr/>
        </p:nvSpPr>
        <p:spPr>
          <a:xfrm>
            <a:off x="566928" y="5184648"/>
            <a:ext cx="7863840" cy="749808"/>
          </a:xfrm>
          <a:prstGeom prst="rect">
            <a:avLst/>
          </a:prstGeom>
          <a:noFill/>
        </p:spPr>
        <p:txBody>
          <a:bodyPr wrap="square" lIns="18288" tIns="0" rIns="18288"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20624" y="886968"/>
            <a:ext cx="8275320" cy="338328"/>
          </a:xfrm>
          <a:prstGeom prst="rect">
            <a:avLst/>
          </a:prstGeom>
          <a:noFill/>
        </p:spPr>
        <p:txBody>
          <a:bodyPr wrap="square" lIns="18288" rIns="18288" tIns="0" bIns="0">
            <a:spAutoFit/>
          </a:bodyPr>
          <a:lstStyle/>
          <a:p>
            <a:pPr>
              <a:spcAft>
                <a:spcPts val="800"/>
              </a:spcAft>
              <a:defRPr sz="1080" b="1">
                <a:solidFill>
                  <a:srgbClr val="013EF5"/>
                </a:solidFill>
                <a:latin typeface="DejaVu Sans"/>
              </a:defRPr>
            </a:pPr>
            <a:r>
              <a:t>OCTOBER 2026 · RELEVANT ENVIRONMENTAL TOPICS · reported 26 Oct</a:t>
            </a:r>
          </a:p>
        </p:txBody>
      </p:sp>
      <p:sp>
        <p:nvSpPr>
          <p:cNvPr id="14" name="Rectangle 13"/>
          <p:cNvSpPr/>
          <p:nvPr/>
        </p:nvSpPr>
        <p:spPr>
          <a:xfrm>
            <a:off x="420624" y="1499616"/>
            <a:ext cx="8284464" cy="190195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682496"/>
            <a:ext cx="7909560" cy="347472"/>
          </a:xfrm>
          <a:prstGeom prst="rect">
            <a:avLst/>
          </a:prstGeom>
          <a:noFill/>
        </p:spPr>
        <p:txBody>
          <a:bodyPr wrap="square" lIns="18288" rIns="18288" tIns="0" bIns="0">
            <a:spAutoFit/>
          </a:bodyPr>
          <a:lstStyle/>
          <a:p>
            <a:pPr>
              <a:spcAft>
                <a:spcPts val="800"/>
              </a:spcAft>
              <a:defRPr sz="1300" b="1">
                <a:solidFill>
                  <a:srgbClr val="013EF5"/>
                </a:solidFill>
                <a:latin typeface="DejaVu Sans"/>
              </a:defRPr>
            </a:pPr>
            <a:r>
              <a:t>ALLEN COMPRESSOR PLANT — EIA ADDENDUM APPROVED</a:t>
            </a:r>
          </a:p>
        </p:txBody>
      </p:sp>
      <p:sp>
        <p:nvSpPr>
          <p:cNvPr id="16" name="TextBox 15"/>
          <p:cNvSpPr txBox="1"/>
          <p:nvPr/>
        </p:nvSpPr>
        <p:spPr>
          <a:xfrm>
            <a:off x="603504" y="2185416"/>
            <a:ext cx="7909560" cy="1024128"/>
          </a:xfrm>
          <a:prstGeom prst="rect">
            <a:avLst/>
          </a:prstGeom>
          <a:noFill/>
        </p:spPr>
        <p:txBody>
          <a:bodyPr wrap="square" lIns="18288" rIns="18288" tIns="0" bIns="0">
            <a:spAutoFit/>
          </a:bodyPr>
          <a:lstStyle/>
          <a:p>
            <a:pPr>
              <a:spcAft>
                <a:spcPts val="800"/>
              </a:spcAft>
              <a:defRPr sz="1230" b="0">
                <a:solidFill>
                  <a:srgbClr val="27364A"/>
                </a:solidFill>
                <a:latin typeface="DejaVu Sans"/>
              </a:defRPr>
            </a:pPr>
            <a:r>
              <a:t>“Allen Compressor Plant Update” addendum approved on 21 October 2026 (Resolution 962/2026).</a:t>
            </a:r>
          </a:p>
          <a:p>
            <a:pPr>
              <a:spcAft>
                <a:spcPts val="800"/>
              </a:spcAft>
              <a:defRPr sz="1230" b="0">
                <a:solidFill>
                  <a:srgbClr val="27364A"/>
                </a:solidFill>
                <a:latin typeface="DejaVu Sans"/>
              </a:defRPr>
            </a:pPr>
            <a:r>
              <a:t>Open item: SMP to submit a flaring vs cold-venting comparison for discussion with the environmental authority.</a:t>
            </a:r>
          </a:p>
        </p:txBody>
      </p:sp>
      <p:sp>
        <p:nvSpPr>
          <p:cNvPr id="17" name="Rectangle 16"/>
          <p:cNvSpPr/>
          <p:nvPr/>
        </p:nvSpPr>
        <p:spPr>
          <a:xfrm>
            <a:off x="420624" y="3758184"/>
            <a:ext cx="8284464" cy="190195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3941063"/>
            <a:ext cx="7909560" cy="347472"/>
          </a:xfrm>
          <a:prstGeom prst="rect">
            <a:avLst/>
          </a:prstGeom>
          <a:noFill/>
        </p:spPr>
        <p:txBody>
          <a:bodyPr wrap="square" lIns="18288" rIns="18288" tIns="0" bIns="0">
            <a:spAutoFit/>
          </a:bodyPr>
          <a:lstStyle/>
          <a:p>
            <a:pPr>
              <a:spcAft>
                <a:spcPts val="800"/>
              </a:spcAft>
              <a:defRPr sz="1300" b="1">
                <a:solidFill>
                  <a:srgbClr val="013EF5"/>
                </a:solidFill>
                <a:latin typeface="DejaVu Sans"/>
              </a:defRPr>
            </a:pPr>
            <a:r>
              <a:t>NEUQUÉN SECTION — WATER PERMIT PENDING</a:t>
            </a:r>
          </a:p>
        </p:txBody>
      </p:sp>
      <p:sp>
        <p:nvSpPr>
          <p:cNvPr id="19" name="TextBox 18"/>
          <p:cNvSpPr txBox="1"/>
          <p:nvPr/>
        </p:nvSpPr>
        <p:spPr>
          <a:xfrm>
            <a:off x="603504" y="4462272"/>
            <a:ext cx="7909560" cy="1024128"/>
          </a:xfrm>
          <a:prstGeom prst="rect">
            <a:avLst/>
          </a:prstGeom>
          <a:noFill/>
        </p:spPr>
        <p:txBody>
          <a:bodyPr wrap="square" lIns="18288" rIns="18288" tIns="0" bIns="0">
            <a:spAutoFit/>
          </a:bodyPr>
          <a:lstStyle/>
          <a:p>
            <a:pPr>
              <a:spcAft>
                <a:spcPts val="800"/>
              </a:spcAft>
              <a:defRPr sz="1230" b="0">
                <a:solidFill>
                  <a:srgbClr val="27364A"/>
                </a:solidFill>
                <a:latin typeface="DejaVu Sans"/>
              </a:defRPr>
            </a:pPr>
            <a:r>
              <a:t>Pending action with Serman: address comments on the Water Risk Study and submit the response to SSRH.</a:t>
            </a:r>
          </a:p>
          <a:p>
            <a:pPr>
              <a:spcAft>
                <a:spcPts val="800"/>
              </a:spcAft>
              <a:defRPr sz="1230" b="0">
                <a:solidFill>
                  <a:srgbClr val="27364A"/>
                </a:solidFill>
                <a:latin typeface="DejaVu Sans"/>
              </a:defRPr>
            </a:pPr>
            <a:r>
              <a:t>Purpose: obtain the water permit for the Neuquén section.</a:t>
            </a:r>
          </a:p>
        </p:txBody>
      </p:sp>
      <p:sp>
        <p:nvSpPr>
          <p:cNvPr id="20" name="TextBox 19"/>
          <p:cNvSpPr txBox="1"/>
          <p:nvPr/>
        </p:nvSpPr>
        <p:spPr>
          <a:xfrm>
            <a:off x="438912" y="6007608"/>
            <a:ext cx="8229600" cy="310896"/>
          </a:xfrm>
          <a:prstGeom prst="rect">
            <a:avLst/>
          </a:prstGeom>
          <a:noFill/>
        </p:spPr>
        <p:txBody>
          <a:bodyPr wrap="square" lIns="18288" rIns="18288" tIns="0" bIns="0">
            <a:spAutoFit/>
          </a:bodyPr>
          <a:lstStyle/>
          <a:p>
            <a:pPr>
              <a:spcAft>
                <a:spcPts val="800"/>
              </a:spcAft>
              <a:defRPr sz="950" b="0">
                <a:solidFill>
                  <a:srgbClr val="68717D"/>
                </a:solidFill>
                <a:latin typeface="DejaVu Sans"/>
              </a:defRPr>
            </a:pPr>
            <a:r>
              <a:t>Statistical indicators remain as supplied, through 30 September 2026.</a:t>
            </a:r>
          </a:p>
        </p:txBody>
      </p:sp>
      <p:sp>
        <p:nvSpPr>
          <p:cNvPr id="21" name="TextBox 20"/>
          <p:cNvSpPr txBox="1"/>
          <p:nvPr/>
        </p:nvSpPr>
        <p:spPr>
          <a:xfrm>
            <a:off x="8595360" y="6556248"/>
            <a:ext cx="274320" cy="201168"/>
          </a:xfrm>
          <a:prstGeom prst="rect">
            <a:avLst/>
          </a:prstGeom>
          <a:noFill/>
        </p:spPr>
        <p:txBody>
          <a:bodyPr wrap="square" lIns="18288" rIns="18288" tIns="0" bIns="0">
            <a:spAutoFit/>
          </a:bodyPr>
          <a:lstStyle/>
          <a:p>
            <a:pPr>
              <a:spcAft>
                <a:spcPts val="800"/>
              </a:spcAft>
              <a:defRPr sz="800" b="0">
                <a:solidFill>
                  <a:srgbClr val="68717D"/>
                </a:solidFill>
                <a:latin typeface="DejaVu San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8</a:t>
            </a:r>
          </a:p>
        </p:txBody>
      </p:sp>
    </p:spTree>
    <p:extLst>
      <p:ext uri="{BB962C8B-B14F-4D97-AF65-F5344CB8AC3E}">
        <p14:creationId xmlns:p14="http://schemas.microsoft.com/office/powerpoint/2010/main" val="406917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04" name="TextBox 10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9</a:t>
            </a:r>
          </a:p>
        </p:txBody>
      </p:sp>
    </p:spTree>
    <p:extLst>
      <p:ext uri="{BB962C8B-B14F-4D97-AF65-F5344CB8AC3E}">
        <p14:creationId xmlns:p14="http://schemas.microsoft.com/office/powerpoint/2010/main" val="4069171775"/>
      </p:ext>
    </p:extLst>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v05 reviewed | Environment highlights without photo placeholders</dc:title>
  <dc:subject>Data unchanged; safety and environment photo/highlight slides inserted</dc:subject>
  <dc:creator>Agustina Briceño</dc:creator>
  <cp:lastModifiedBy>William Saenz santamaria</cp:lastModifiedBy>
  <cp:revision>5</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